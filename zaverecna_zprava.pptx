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676" r:id="rId5"/>
    <p:sldMasterId id="2147483662" r:id="rId6"/>
  </p:sldMasterIdLst>
  <p:sldIdLst>
    <p:sldId id="263" r:id="rId7"/>
    <p:sldId id="284" r:id="rId8"/>
    <p:sldId id="271" r:id="rId9"/>
    <p:sldId id="319" r:id="rId10"/>
    <p:sldId id="279" r:id="rId11"/>
    <p:sldId id="277" r:id="rId12"/>
    <p:sldId id="283" r:id="rId13"/>
    <p:sldId id="280" r:id="rId14"/>
    <p:sldId id="281" r:id="rId15"/>
    <p:sldId id="285" r:id="rId16"/>
    <p:sldId id="286" r:id="rId17"/>
    <p:sldId id="305" r:id="rId18"/>
    <p:sldId id="288" r:id="rId19"/>
    <p:sldId id="287" r:id="rId20"/>
    <p:sldId id="289" r:id="rId21"/>
    <p:sldId id="290" r:id="rId22"/>
    <p:sldId id="310" r:id="rId23"/>
    <p:sldId id="291" r:id="rId24"/>
    <p:sldId id="292" r:id="rId25"/>
    <p:sldId id="306" r:id="rId26"/>
    <p:sldId id="307" r:id="rId27"/>
    <p:sldId id="308" r:id="rId28"/>
    <p:sldId id="302" r:id="rId29"/>
    <p:sldId id="304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20" r:id="rId39"/>
    <p:sldId id="321" r:id="rId40"/>
    <p:sldId id="322" r:id="rId41"/>
    <p:sldId id="323" r:id="rId42"/>
    <p:sldId id="324" r:id="rId43"/>
    <p:sldId id="325" r:id="rId44"/>
    <p:sldId id="326" r:id="rId45"/>
    <p:sldId id="327" r:id="rId46"/>
    <p:sldId id="328" r:id="rId47"/>
    <p:sldId id="329" r:id="rId48"/>
    <p:sldId id="330" r:id="rId49"/>
    <p:sldId id="331" r:id="rId50"/>
    <p:sldId id="332" r:id="rId51"/>
    <p:sldId id="333" r:id="rId52"/>
    <p:sldId id="334" r:id="rId53"/>
    <p:sldId id="335" r:id="rId54"/>
    <p:sldId id="336" r:id="rId55"/>
    <p:sldId id="337" r:id="rId56"/>
    <p:sldId id="338" r:id="rId57"/>
    <p:sldId id="339" r:id="rId58"/>
    <p:sldId id="340" r:id="rId59"/>
    <p:sldId id="341" r:id="rId60"/>
    <p:sldId id="342" r:id="rId61"/>
    <p:sldId id="343" r:id="rId62"/>
    <p:sldId id="344" r:id="rId63"/>
    <p:sldId id="345" r:id="rId64"/>
    <p:sldId id="346" r:id="rId65"/>
    <p:sldId id="347" r:id="rId66"/>
    <p:sldId id="349" r:id="rId67"/>
    <p:sldId id="350" r:id="rId68"/>
    <p:sldId id="351" r:id="rId69"/>
    <p:sldId id="352" r:id="rId70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E9F6E1-0CCD-A329-5A98-6923FCA298F6}" name="Josef Gajda" initials="JG" userId="S::gajj02@vse.cz::62354765-72cf-499b-b531-3c23b95cf57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81"/>
    <a:srgbClr val="B5EAE0"/>
    <a:srgbClr val="89F7E2"/>
    <a:srgbClr val="9AE8F4"/>
    <a:srgbClr val="00659B"/>
    <a:srgbClr val="BDE7FF"/>
    <a:srgbClr val="EB6608"/>
    <a:srgbClr val="FDE2CF"/>
    <a:srgbClr val="D6C2D6"/>
    <a:srgbClr val="F0C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6AAF7-310D-B767-A149-3B846C5DC394}" v="937" dt="2026-01-22T02:30:06.654"/>
    <p1510:client id="{EAE51034-64F6-58B3-2B51-BAE150F01311}" v="2449" dt="2026-01-23T17:06:05.1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větlý sty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03447BB-5D67-496B-8E87-E561075AD55C}" styleName="Tmavý styl 1 – zvýraznění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Střední sty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Tmavý sty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Světlý sty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Střední sty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Střední styl 3 – zvýraznění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Světlý sty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8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microsoft.com/office/2018/10/relationships/authors" Target="authors.xml"/><Relationship Id="rId7" Type="http://schemas.openxmlformats.org/officeDocument/2006/relationships/slide" Target="slides/slide1.xml"/><Relationship Id="rId71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6.7578487579540367E-2"/>
          <c:y val="3.06571884324651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009EE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8-46D1-B2F1-B76DBFE9E6A2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B1006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8-46D1-B2F1-B76DBFE9E6A2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EB660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8-46D1-B2F1-B76DBFE9E6A2}"/>
            </c:ext>
          </c:extLst>
        </c:ser>
        <c:ser>
          <c:idx val="3"/>
          <c:order val="3"/>
          <c:tx>
            <c:strRef>
              <c:f>List1!$E$1</c:f>
              <c:strCache>
                <c:ptCount val="1"/>
                <c:pt idx="0">
                  <c:v>Řada 4</c:v>
                </c:pt>
              </c:strCache>
            </c:strRef>
          </c:tx>
          <c:spPr>
            <a:solidFill>
              <a:srgbClr val="00659B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67-4343-BFC8-39C31FD3D7F6}"/>
            </c:ext>
          </c:extLst>
        </c:ser>
        <c:ser>
          <c:idx val="4"/>
          <c:order val="4"/>
          <c:tx>
            <c:strRef>
              <c:f>List1!$F$1</c:f>
              <c:strCache>
                <c:ptCount val="1"/>
                <c:pt idx="0">
                  <c:v>Řada 5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67-4343-BFC8-39C31FD3D7F6}"/>
            </c:ext>
          </c:extLst>
        </c:ser>
        <c:ser>
          <c:idx val="5"/>
          <c:order val="5"/>
          <c:tx>
            <c:strRef>
              <c:f>List1!$G$1</c:f>
              <c:strCache>
                <c:ptCount val="1"/>
                <c:pt idx="0">
                  <c:v>Řada 6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List1!$G$2:$G$5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67-4343-BFC8-39C31FD3D7F6}"/>
            </c:ext>
          </c:extLst>
        </c:ser>
        <c:ser>
          <c:idx val="6"/>
          <c:order val="6"/>
          <c:tx>
            <c:strRef>
              <c:f>List1!$H$1</c:f>
              <c:strCache>
                <c:ptCount val="1"/>
                <c:pt idx="0">
                  <c:v>Řada 13</c:v>
                </c:pt>
              </c:strCache>
            </c:strRef>
          </c:tx>
          <c:spPr>
            <a:solidFill>
              <a:srgbClr val="E7308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List1!$H$2:$H$5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67-4343-BFC8-39C31FD3D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6283247"/>
        <c:axId val="336943279"/>
      </c:barChart>
      <c:catAx>
        <c:axId val="336283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943279"/>
        <c:crosses val="autoZero"/>
        <c:auto val="1"/>
        <c:lblAlgn val="ctr"/>
        <c:lblOffset val="100"/>
        <c:noMultiLvlLbl val="0"/>
      </c:catAx>
      <c:valAx>
        <c:axId val="33694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283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0D9D26-4121-438D-BD0B-6AA3444E36DF}" type="doc">
      <dgm:prSet loTypeId="urn:microsoft.com/office/officeart/2008/layout/LinedList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30B3EF7-E56D-44F7-A10D-6C62B0543AC6}">
      <dgm:prSet/>
      <dgm:spPr/>
      <dgm:t>
        <a:bodyPr/>
        <a:lstStyle/>
        <a:p>
          <a:r>
            <a:rPr lang="cs-CZ" dirty="0"/>
            <a:t>RELATIONSHIP</a:t>
          </a:r>
          <a:endParaRPr lang="en-US" dirty="0"/>
        </a:p>
      </dgm:t>
    </dgm:pt>
    <dgm:pt modelId="{D9E06CBE-551D-4C40-ACD5-94B444481E92}" type="parTrans" cxnId="{6F955BC0-5E58-4998-ACDE-623069450254}">
      <dgm:prSet/>
      <dgm:spPr/>
      <dgm:t>
        <a:bodyPr/>
        <a:lstStyle/>
        <a:p>
          <a:endParaRPr lang="en-US"/>
        </a:p>
      </dgm:t>
    </dgm:pt>
    <dgm:pt modelId="{D502A82F-B260-4B1B-A6F2-F4BCFFC1E1B9}" type="sibTrans" cxnId="{6F955BC0-5E58-4998-ACDE-623069450254}">
      <dgm:prSet/>
      <dgm:spPr/>
      <dgm:t>
        <a:bodyPr/>
        <a:lstStyle/>
        <a:p>
          <a:endParaRPr lang="en-US"/>
        </a:p>
      </dgm:t>
    </dgm:pt>
    <dgm:pt modelId="{1E5883E8-B702-4B4A-B84A-17D3A5AAF97C}">
      <dgm:prSet/>
      <dgm:spPr/>
      <dgm:t>
        <a:bodyPr/>
        <a:lstStyle/>
        <a:p>
          <a:pPr rtl="0"/>
          <a:r>
            <a:rPr lang="cs-CZ" dirty="0" err="1"/>
            <a:t>shootings_detail_categorized</a:t>
          </a:r>
          <a:r>
            <a:rPr lang="cs-CZ" dirty="0"/>
            <a:t> →</a:t>
          </a:r>
          <a:r>
            <a:rPr lang="cs-CZ" dirty="0" err="1"/>
            <a:t>master_dataset_categorized</a:t>
          </a:r>
          <a:endParaRPr lang="en-US" dirty="0" err="1"/>
        </a:p>
      </dgm:t>
    </dgm:pt>
    <dgm:pt modelId="{793E29AB-4533-4C6D-8842-469E1BC7D169}" type="parTrans" cxnId="{80E101D5-0945-4B1A-AD3E-6D72B32F6CD6}">
      <dgm:prSet/>
      <dgm:spPr/>
      <dgm:t>
        <a:bodyPr/>
        <a:lstStyle/>
        <a:p>
          <a:endParaRPr lang="en-US"/>
        </a:p>
      </dgm:t>
    </dgm:pt>
    <dgm:pt modelId="{870CBD9E-C25B-4E5E-9B69-4DEDD9922968}" type="sibTrans" cxnId="{80E101D5-0945-4B1A-AD3E-6D72B32F6CD6}">
      <dgm:prSet/>
      <dgm:spPr/>
      <dgm:t>
        <a:bodyPr/>
        <a:lstStyle/>
        <a:p>
          <a:endParaRPr lang="en-US"/>
        </a:p>
      </dgm:t>
    </dgm:pt>
    <dgm:pt modelId="{0BBF68E7-06B9-4DED-ACAA-EF9C1B7D0567}">
      <dgm:prSet/>
      <dgm:spPr/>
      <dgm:t>
        <a:bodyPr/>
        <a:lstStyle/>
        <a:p>
          <a:r>
            <a:rPr lang="cs-CZ" dirty="0"/>
            <a:t>Typ</a:t>
          </a:r>
          <a:endParaRPr lang="en-US" dirty="0"/>
        </a:p>
      </dgm:t>
    </dgm:pt>
    <dgm:pt modelId="{DC2FEF99-055E-48CB-BE2A-978ADDCB1760}" type="parTrans" cxnId="{42BAF72A-81C1-4B35-9303-B6A86DB72C65}">
      <dgm:prSet/>
      <dgm:spPr/>
      <dgm:t>
        <a:bodyPr/>
        <a:lstStyle/>
        <a:p>
          <a:endParaRPr lang="en-US"/>
        </a:p>
      </dgm:t>
    </dgm:pt>
    <dgm:pt modelId="{6B78B6D6-BE3A-4BB6-9123-A6FFA3BC4E0D}" type="sibTrans" cxnId="{42BAF72A-81C1-4B35-9303-B6A86DB72C65}">
      <dgm:prSet/>
      <dgm:spPr/>
      <dgm:t>
        <a:bodyPr/>
        <a:lstStyle/>
        <a:p>
          <a:endParaRPr lang="en-US"/>
        </a:p>
      </dgm:t>
    </dgm:pt>
    <dgm:pt modelId="{6740102B-2824-4F96-9356-552DC14E4B43}">
      <dgm:prSet/>
      <dgm:spPr/>
      <dgm:t>
        <a:bodyPr/>
        <a:lstStyle/>
        <a:p>
          <a:r>
            <a:rPr lang="cs-CZ" dirty="0"/>
            <a:t>Many-to-</a:t>
          </a:r>
          <a:r>
            <a:rPr lang="cs-CZ" dirty="0" err="1"/>
            <a:t>One</a:t>
          </a:r>
          <a:r>
            <a:rPr lang="cs-CZ" dirty="0"/>
            <a:t> (N:1)</a:t>
          </a:r>
          <a:endParaRPr lang="en-US" dirty="0"/>
        </a:p>
      </dgm:t>
    </dgm:pt>
    <dgm:pt modelId="{C1F79F78-7874-4897-9E3F-2143134353DB}" type="parTrans" cxnId="{95E1F40B-CAB4-4C4F-AA9F-D8EE9EAB7740}">
      <dgm:prSet/>
      <dgm:spPr/>
      <dgm:t>
        <a:bodyPr/>
        <a:lstStyle/>
        <a:p>
          <a:endParaRPr lang="en-US"/>
        </a:p>
      </dgm:t>
    </dgm:pt>
    <dgm:pt modelId="{B9997BF8-9865-4D5B-A00A-7E2CA1482074}" type="sibTrans" cxnId="{95E1F40B-CAB4-4C4F-AA9F-D8EE9EAB7740}">
      <dgm:prSet/>
      <dgm:spPr/>
      <dgm:t>
        <a:bodyPr/>
        <a:lstStyle/>
        <a:p>
          <a:endParaRPr lang="en-US"/>
        </a:p>
      </dgm:t>
    </dgm:pt>
    <dgm:pt modelId="{6B9189CD-0D86-4D01-9A05-CB2A3636AE51}">
      <dgm:prSet/>
      <dgm:spPr/>
      <dgm:t>
        <a:bodyPr/>
        <a:lstStyle/>
        <a:p>
          <a:r>
            <a:rPr lang="cs-CZ" dirty="0" err="1"/>
            <a:t>Join</a:t>
          </a:r>
          <a:r>
            <a:rPr lang="cs-CZ" dirty="0"/>
            <a:t> klíč</a:t>
          </a:r>
          <a:endParaRPr lang="en-US" dirty="0"/>
        </a:p>
      </dgm:t>
    </dgm:pt>
    <dgm:pt modelId="{694971BF-CE42-438E-9BBD-67A0F4E9A118}" type="parTrans" cxnId="{705B3DFB-BFE7-4F13-9AB1-192E4A9655A5}">
      <dgm:prSet/>
      <dgm:spPr/>
      <dgm:t>
        <a:bodyPr/>
        <a:lstStyle/>
        <a:p>
          <a:endParaRPr lang="en-US"/>
        </a:p>
      </dgm:t>
    </dgm:pt>
    <dgm:pt modelId="{43069A26-EA0A-443F-B24F-0417E30DCBAD}" type="sibTrans" cxnId="{705B3DFB-BFE7-4F13-9AB1-192E4A9655A5}">
      <dgm:prSet/>
      <dgm:spPr/>
      <dgm:t>
        <a:bodyPr/>
        <a:lstStyle/>
        <a:p>
          <a:endParaRPr lang="en-US"/>
        </a:p>
      </dgm:t>
    </dgm:pt>
    <dgm:pt modelId="{EC3E51CB-641A-4095-AD30-F7044F65DDBE}">
      <dgm:prSet/>
      <dgm:spPr/>
      <dgm:t>
        <a:bodyPr/>
        <a:lstStyle/>
        <a:p>
          <a:r>
            <a:rPr lang="cs-CZ" dirty="0" err="1"/>
            <a:t>city_state</a:t>
          </a:r>
          <a:endParaRPr lang="en-US" dirty="0" err="1"/>
        </a:p>
      </dgm:t>
    </dgm:pt>
    <dgm:pt modelId="{D06B3713-882C-466C-B051-1D52C32C95EC}" type="parTrans" cxnId="{54CC42A6-0FC4-4855-A7AE-53A0EB0F640E}">
      <dgm:prSet/>
      <dgm:spPr/>
      <dgm:t>
        <a:bodyPr/>
        <a:lstStyle/>
        <a:p>
          <a:endParaRPr lang="en-US"/>
        </a:p>
      </dgm:t>
    </dgm:pt>
    <dgm:pt modelId="{B14DD621-3BE4-4E59-80BE-C04FA8875FD0}" type="sibTrans" cxnId="{54CC42A6-0FC4-4855-A7AE-53A0EB0F640E}">
      <dgm:prSet/>
      <dgm:spPr/>
      <dgm:t>
        <a:bodyPr/>
        <a:lstStyle/>
        <a:p>
          <a:endParaRPr lang="en-US"/>
        </a:p>
      </dgm:t>
    </dgm:pt>
    <dgm:pt modelId="{79FF5180-8800-41AB-AFEE-531E0D117505}">
      <dgm:prSet/>
      <dgm:spPr/>
      <dgm:t>
        <a:bodyPr/>
        <a:lstStyle/>
        <a:p>
          <a:r>
            <a:rPr lang="cs-CZ" dirty="0"/>
            <a:t>Směr filtrace</a:t>
          </a:r>
          <a:endParaRPr lang="en-US" dirty="0"/>
        </a:p>
      </dgm:t>
    </dgm:pt>
    <dgm:pt modelId="{0DD8149D-9504-483F-979A-43014664E598}" type="parTrans" cxnId="{A4230D96-98AB-4B46-B7A0-0104CE8B440C}">
      <dgm:prSet/>
      <dgm:spPr/>
      <dgm:t>
        <a:bodyPr/>
        <a:lstStyle/>
        <a:p>
          <a:endParaRPr lang="en-US"/>
        </a:p>
      </dgm:t>
    </dgm:pt>
    <dgm:pt modelId="{9ED236B6-F5E7-4FBC-9BA2-EF5D663AD812}" type="sibTrans" cxnId="{A4230D96-98AB-4B46-B7A0-0104CE8B440C}">
      <dgm:prSet/>
      <dgm:spPr/>
      <dgm:t>
        <a:bodyPr/>
        <a:lstStyle/>
        <a:p>
          <a:endParaRPr lang="en-US"/>
        </a:p>
      </dgm:t>
    </dgm:pt>
    <dgm:pt modelId="{4EF3FE5E-204D-456D-AF8B-1CA4522B04F3}">
      <dgm:prSet/>
      <dgm:spPr/>
      <dgm:t>
        <a:bodyPr/>
        <a:lstStyle/>
        <a:p>
          <a:r>
            <a:rPr lang="cs-CZ" dirty="0"/>
            <a:t>Single </a:t>
          </a:r>
          <a:r>
            <a:rPr lang="cs-CZ" dirty="0" err="1"/>
            <a:t>direction</a:t>
          </a:r>
          <a:r>
            <a:rPr lang="cs-CZ" dirty="0"/>
            <a:t> (z master do </a:t>
          </a:r>
          <a:r>
            <a:rPr lang="cs-CZ" dirty="0" err="1"/>
            <a:t>shootings</a:t>
          </a:r>
          <a:r>
            <a:rPr lang="cs-CZ" dirty="0"/>
            <a:t>)</a:t>
          </a:r>
          <a:endParaRPr lang="en-US" dirty="0"/>
        </a:p>
      </dgm:t>
    </dgm:pt>
    <dgm:pt modelId="{B6DD3599-32B4-4E47-95D0-03B72022449F}" type="parTrans" cxnId="{2333178D-E824-489C-B168-F28920DF108E}">
      <dgm:prSet/>
      <dgm:spPr/>
      <dgm:t>
        <a:bodyPr/>
        <a:lstStyle/>
        <a:p>
          <a:endParaRPr lang="en-US"/>
        </a:p>
      </dgm:t>
    </dgm:pt>
    <dgm:pt modelId="{6F7FB5AF-2314-4D26-B795-C1954BC56F24}" type="sibTrans" cxnId="{2333178D-E824-489C-B168-F28920DF108E}">
      <dgm:prSet/>
      <dgm:spPr/>
      <dgm:t>
        <a:bodyPr/>
        <a:lstStyle/>
        <a:p>
          <a:endParaRPr lang="en-US"/>
        </a:p>
      </dgm:t>
    </dgm:pt>
    <dgm:pt modelId="{8928AA18-D72A-4224-A2D4-4A845B9830F5}">
      <dgm:prSet/>
      <dgm:spPr/>
      <dgm:t>
        <a:bodyPr/>
        <a:lstStyle/>
        <a:p>
          <a:r>
            <a:rPr lang="cs-CZ" dirty="0"/>
            <a:t>Kardinalita</a:t>
          </a:r>
          <a:endParaRPr lang="en-US" dirty="0"/>
        </a:p>
      </dgm:t>
    </dgm:pt>
    <dgm:pt modelId="{06A0A4FE-1FD1-4317-9F7E-3F4C94888DA9}" type="parTrans" cxnId="{7BC77506-0EAE-4FE6-8547-CA5BD028FA32}">
      <dgm:prSet/>
      <dgm:spPr/>
      <dgm:t>
        <a:bodyPr/>
        <a:lstStyle/>
        <a:p>
          <a:endParaRPr lang="en-US"/>
        </a:p>
      </dgm:t>
    </dgm:pt>
    <dgm:pt modelId="{70D3393A-4F2F-4ED0-8DCC-55DCC885741B}" type="sibTrans" cxnId="{7BC77506-0EAE-4FE6-8547-CA5BD028FA32}">
      <dgm:prSet/>
      <dgm:spPr/>
      <dgm:t>
        <a:bodyPr/>
        <a:lstStyle/>
        <a:p>
          <a:endParaRPr lang="en-US"/>
        </a:p>
      </dgm:t>
    </dgm:pt>
    <dgm:pt modelId="{C4BD4CCC-4E5D-4977-848B-38704AFCE4B7}">
      <dgm:prSet/>
      <dgm:spPr/>
      <dgm:t>
        <a:bodyPr/>
        <a:lstStyle/>
        <a:p>
          <a:r>
            <a:rPr lang="cs-CZ" b="0" dirty="0"/>
            <a:t>Jedno město může mít mnoho </a:t>
          </a:r>
          <a:r>
            <a:rPr lang="cs-CZ" b="0" dirty="0" err="1">
              <a:latin typeface="Calibri Light" panose="020F0302020204030204"/>
            </a:rPr>
            <a:t>střelb</a:t>
          </a:r>
          <a:endParaRPr lang="en-US" b="0" dirty="0"/>
        </a:p>
      </dgm:t>
    </dgm:pt>
    <dgm:pt modelId="{885D1154-43EC-4BC0-9B45-42E707C763E9}" type="parTrans" cxnId="{5A1866DB-C181-433C-8BED-4D20D4CDBBB7}">
      <dgm:prSet/>
      <dgm:spPr/>
      <dgm:t>
        <a:bodyPr/>
        <a:lstStyle/>
        <a:p>
          <a:endParaRPr lang="en-US"/>
        </a:p>
      </dgm:t>
    </dgm:pt>
    <dgm:pt modelId="{AA6C9BDE-364E-4672-8B8D-841667A5BEE3}" type="sibTrans" cxnId="{5A1866DB-C181-433C-8BED-4D20D4CDBBB7}">
      <dgm:prSet/>
      <dgm:spPr/>
      <dgm:t>
        <a:bodyPr/>
        <a:lstStyle/>
        <a:p>
          <a:endParaRPr lang="en-US"/>
        </a:p>
      </dgm:t>
    </dgm:pt>
    <dgm:pt modelId="{9EAC68D4-5212-4AAC-8994-FD93728022C5}">
      <dgm:prSet/>
      <dgm:spPr/>
      <dgm:t>
        <a:bodyPr/>
        <a:lstStyle/>
        <a:p>
          <a:r>
            <a:rPr lang="cs-CZ" dirty="0"/>
            <a:t>Příklad</a:t>
          </a:r>
          <a:endParaRPr lang="en-US" dirty="0"/>
        </a:p>
      </dgm:t>
    </dgm:pt>
    <dgm:pt modelId="{4BA3038B-2B60-4EFA-93A8-24E112FB41FD}" type="parTrans" cxnId="{ECC8D894-4663-4404-ABBD-14D20668F669}">
      <dgm:prSet/>
      <dgm:spPr/>
      <dgm:t>
        <a:bodyPr/>
        <a:lstStyle/>
        <a:p>
          <a:endParaRPr lang="en-US"/>
        </a:p>
      </dgm:t>
    </dgm:pt>
    <dgm:pt modelId="{DCA90A1A-E6E8-4166-B75D-B26726E02F2F}" type="sibTrans" cxnId="{ECC8D894-4663-4404-ABBD-14D20668F669}">
      <dgm:prSet/>
      <dgm:spPr/>
      <dgm:t>
        <a:bodyPr/>
        <a:lstStyle/>
        <a:p>
          <a:endParaRPr lang="en-US"/>
        </a:p>
      </dgm:t>
    </dgm:pt>
    <dgm:pt modelId="{23869749-29DA-45AC-9683-DF70ADF90AE7}">
      <dgm:prSet/>
      <dgm:spPr/>
      <dgm:t>
        <a:bodyPr/>
        <a:lstStyle/>
        <a:p>
          <a:r>
            <a:rPr lang="cs-CZ" dirty="0"/>
            <a:t>"Los Angeles, CA" má 102 střeleb v tabulce </a:t>
          </a:r>
          <a:r>
            <a:rPr lang="cs-CZ" dirty="0" err="1"/>
            <a:t>shootings_deta</a:t>
          </a:r>
          <a:endParaRPr lang="en-US" dirty="0" err="1"/>
        </a:p>
      </dgm:t>
    </dgm:pt>
    <dgm:pt modelId="{962AC0BA-E535-4809-9FA2-C985F801D77F}" type="parTrans" cxnId="{26AB21F2-38C9-418A-B6E8-4FEB25BF3ED6}">
      <dgm:prSet/>
      <dgm:spPr/>
      <dgm:t>
        <a:bodyPr/>
        <a:lstStyle/>
        <a:p>
          <a:endParaRPr lang="en-US"/>
        </a:p>
      </dgm:t>
    </dgm:pt>
    <dgm:pt modelId="{772A4BD3-EF25-49B0-88FA-8E3FB71C78A3}" type="sibTrans" cxnId="{26AB21F2-38C9-418A-B6E8-4FEB25BF3ED6}">
      <dgm:prSet/>
      <dgm:spPr/>
      <dgm:t>
        <a:bodyPr/>
        <a:lstStyle/>
        <a:p>
          <a:endParaRPr lang="en-US"/>
        </a:p>
      </dgm:t>
    </dgm:pt>
    <dgm:pt modelId="{51C5CB7E-C7A6-4991-92FE-152DA7C91DEB}" type="pres">
      <dgm:prSet presAssocID="{900D9D26-4121-438D-BD0B-6AA3444E36DF}" presName="vert0" presStyleCnt="0">
        <dgm:presLayoutVars>
          <dgm:dir/>
          <dgm:animOne val="branch"/>
          <dgm:animLvl val="lvl"/>
        </dgm:presLayoutVars>
      </dgm:prSet>
      <dgm:spPr/>
    </dgm:pt>
    <dgm:pt modelId="{A79EBFEC-40B9-44A5-8F87-273573CAC904}" type="pres">
      <dgm:prSet presAssocID="{C30B3EF7-E56D-44F7-A10D-6C62B0543AC6}" presName="thickLine" presStyleLbl="alignNode1" presStyleIdx="0" presStyleCnt="6"/>
      <dgm:spPr/>
    </dgm:pt>
    <dgm:pt modelId="{A39B82F2-0009-4A09-BEB0-51BCCA39D6E1}" type="pres">
      <dgm:prSet presAssocID="{C30B3EF7-E56D-44F7-A10D-6C62B0543AC6}" presName="horz1" presStyleCnt="0"/>
      <dgm:spPr/>
    </dgm:pt>
    <dgm:pt modelId="{AE141489-A64C-4E0A-B146-7A704B36F348}" type="pres">
      <dgm:prSet presAssocID="{C30B3EF7-E56D-44F7-A10D-6C62B0543AC6}" presName="tx1" presStyleLbl="revTx" presStyleIdx="0" presStyleCnt="12"/>
      <dgm:spPr/>
    </dgm:pt>
    <dgm:pt modelId="{6CC649E6-D960-4A30-9930-3FD0D8567320}" type="pres">
      <dgm:prSet presAssocID="{C30B3EF7-E56D-44F7-A10D-6C62B0543AC6}" presName="vert1" presStyleCnt="0"/>
      <dgm:spPr/>
    </dgm:pt>
    <dgm:pt modelId="{01D90009-6471-4E80-8013-E19C626FD7ED}" type="pres">
      <dgm:prSet presAssocID="{1E5883E8-B702-4B4A-B84A-17D3A5AAF97C}" presName="vertSpace2a" presStyleCnt="0"/>
      <dgm:spPr/>
    </dgm:pt>
    <dgm:pt modelId="{C8A99920-9066-45F7-83A2-E2AFA6B72E89}" type="pres">
      <dgm:prSet presAssocID="{1E5883E8-B702-4B4A-B84A-17D3A5AAF97C}" presName="horz2" presStyleCnt="0"/>
      <dgm:spPr/>
    </dgm:pt>
    <dgm:pt modelId="{126E36BF-84FA-42D0-9148-0DFD1FCFF847}" type="pres">
      <dgm:prSet presAssocID="{1E5883E8-B702-4B4A-B84A-17D3A5AAF97C}" presName="horzSpace2" presStyleCnt="0"/>
      <dgm:spPr/>
    </dgm:pt>
    <dgm:pt modelId="{A4A90E7E-BA16-4870-A811-E676D32E5822}" type="pres">
      <dgm:prSet presAssocID="{1E5883E8-B702-4B4A-B84A-17D3A5AAF97C}" presName="tx2" presStyleLbl="revTx" presStyleIdx="1" presStyleCnt="12"/>
      <dgm:spPr/>
    </dgm:pt>
    <dgm:pt modelId="{0C9BEED6-DA8A-4C89-933C-FA18FF622506}" type="pres">
      <dgm:prSet presAssocID="{1E5883E8-B702-4B4A-B84A-17D3A5AAF97C}" presName="vert2" presStyleCnt="0"/>
      <dgm:spPr/>
    </dgm:pt>
    <dgm:pt modelId="{952BAC81-66AB-4DAE-8950-057D968B1E43}" type="pres">
      <dgm:prSet presAssocID="{1E5883E8-B702-4B4A-B84A-17D3A5AAF97C}" presName="thinLine2b" presStyleLbl="callout" presStyleIdx="0" presStyleCnt="6"/>
      <dgm:spPr/>
    </dgm:pt>
    <dgm:pt modelId="{39B40E40-2CB7-45FF-87D9-17BE30BC0FBC}" type="pres">
      <dgm:prSet presAssocID="{1E5883E8-B702-4B4A-B84A-17D3A5AAF97C}" presName="vertSpace2b" presStyleCnt="0"/>
      <dgm:spPr/>
    </dgm:pt>
    <dgm:pt modelId="{C92FB969-C60E-4EA9-BD5D-8F87849A8BA0}" type="pres">
      <dgm:prSet presAssocID="{0BBF68E7-06B9-4DED-ACAA-EF9C1B7D0567}" presName="thickLine" presStyleLbl="alignNode1" presStyleIdx="1" presStyleCnt="6"/>
      <dgm:spPr/>
    </dgm:pt>
    <dgm:pt modelId="{93485B6C-B80A-4E21-8C6D-70EACEB69685}" type="pres">
      <dgm:prSet presAssocID="{0BBF68E7-06B9-4DED-ACAA-EF9C1B7D0567}" presName="horz1" presStyleCnt="0"/>
      <dgm:spPr/>
    </dgm:pt>
    <dgm:pt modelId="{B9034C60-45EB-42B4-B398-5600A49CDA28}" type="pres">
      <dgm:prSet presAssocID="{0BBF68E7-06B9-4DED-ACAA-EF9C1B7D0567}" presName="tx1" presStyleLbl="revTx" presStyleIdx="2" presStyleCnt="12"/>
      <dgm:spPr/>
    </dgm:pt>
    <dgm:pt modelId="{24131AA4-023C-43CE-BA91-A1F7EF828D72}" type="pres">
      <dgm:prSet presAssocID="{0BBF68E7-06B9-4DED-ACAA-EF9C1B7D0567}" presName="vert1" presStyleCnt="0"/>
      <dgm:spPr/>
    </dgm:pt>
    <dgm:pt modelId="{AFA74896-B74C-4D16-A1EB-949311C2ACB7}" type="pres">
      <dgm:prSet presAssocID="{6740102B-2824-4F96-9356-552DC14E4B43}" presName="vertSpace2a" presStyleCnt="0"/>
      <dgm:spPr/>
    </dgm:pt>
    <dgm:pt modelId="{549CA958-5CC0-4EBB-9963-D6AB532006C8}" type="pres">
      <dgm:prSet presAssocID="{6740102B-2824-4F96-9356-552DC14E4B43}" presName="horz2" presStyleCnt="0"/>
      <dgm:spPr/>
    </dgm:pt>
    <dgm:pt modelId="{4D2B637C-05AF-4B6D-A164-37C21F03C1B1}" type="pres">
      <dgm:prSet presAssocID="{6740102B-2824-4F96-9356-552DC14E4B43}" presName="horzSpace2" presStyleCnt="0"/>
      <dgm:spPr/>
    </dgm:pt>
    <dgm:pt modelId="{D9E0CB2C-7179-4F79-9F62-E3915C190F1F}" type="pres">
      <dgm:prSet presAssocID="{6740102B-2824-4F96-9356-552DC14E4B43}" presName="tx2" presStyleLbl="revTx" presStyleIdx="3" presStyleCnt="12"/>
      <dgm:spPr/>
    </dgm:pt>
    <dgm:pt modelId="{EE047BB2-3AC5-4CFF-9866-406C1C01B2AA}" type="pres">
      <dgm:prSet presAssocID="{6740102B-2824-4F96-9356-552DC14E4B43}" presName="vert2" presStyleCnt="0"/>
      <dgm:spPr/>
    </dgm:pt>
    <dgm:pt modelId="{85FB8E6A-6922-4A19-B2EF-EE11C82C373F}" type="pres">
      <dgm:prSet presAssocID="{6740102B-2824-4F96-9356-552DC14E4B43}" presName="thinLine2b" presStyleLbl="callout" presStyleIdx="1" presStyleCnt="6"/>
      <dgm:spPr/>
    </dgm:pt>
    <dgm:pt modelId="{2CEE4BD6-F90A-4A8D-8035-FF95A4C1250B}" type="pres">
      <dgm:prSet presAssocID="{6740102B-2824-4F96-9356-552DC14E4B43}" presName="vertSpace2b" presStyleCnt="0"/>
      <dgm:spPr/>
    </dgm:pt>
    <dgm:pt modelId="{1D0AA71B-88D8-4EC6-A331-06E8B426C401}" type="pres">
      <dgm:prSet presAssocID="{6B9189CD-0D86-4D01-9A05-CB2A3636AE51}" presName="thickLine" presStyleLbl="alignNode1" presStyleIdx="2" presStyleCnt="6"/>
      <dgm:spPr/>
    </dgm:pt>
    <dgm:pt modelId="{AD0969EA-1F1B-4F1F-AD30-01547623EA8E}" type="pres">
      <dgm:prSet presAssocID="{6B9189CD-0D86-4D01-9A05-CB2A3636AE51}" presName="horz1" presStyleCnt="0"/>
      <dgm:spPr/>
    </dgm:pt>
    <dgm:pt modelId="{4D4D6641-73D4-4DAC-8C8C-B3FA1A5EAA10}" type="pres">
      <dgm:prSet presAssocID="{6B9189CD-0D86-4D01-9A05-CB2A3636AE51}" presName="tx1" presStyleLbl="revTx" presStyleIdx="4" presStyleCnt="12"/>
      <dgm:spPr/>
    </dgm:pt>
    <dgm:pt modelId="{5329CB5D-330B-4782-BDF5-226C8969484E}" type="pres">
      <dgm:prSet presAssocID="{6B9189CD-0D86-4D01-9A05-CB2A3636AE51}" presName="vert1" presStyleCnt="0"/>
      <dgm:spPr/>
    </dgm:pt>
    <dgm:pt modelId="{BBB26ADA-9652-4716-BB86-790F71773689}" type="pres">
      <dgm:prSet presAssocID="{EC3E51CB-641A-4095-AD30-F7044F65DDBE}" presName="vertSpace2a" presStyleCnt="0"/>
      <dgm:spPr/>
    </dgm:pt>
    <dgm:pt modelId="{143E2DCB-7935-49EE-A0D1-796F2113A5AE}" type="pres">
      <dgm:prSet presAssocID="{EC3E51CB-641A-4095-AD30-F7044F65DDBE}" presName="horz2" presStyleCnt="0"/>
      <dgm:spPr/>
    </dgm:pt>
    <dgm:pt modelId="{5535C5FA-C5F8-4C49-B518-685938CEF455}" type="pres">
      <dgm:prSet presAssocID="{EC3E51CB-641A-4095-AD30-F7044F65DDBE}" presName="horzSpace2" presStyleCnt="0"/>
      <dgm:spPr/>
    </dgm:pt>
    <dgm:pt modelId="{A36F33BC-32F7-46B3-9A94-39F189699266}" type="pres">
      <dgm:prSet presAssocID="{EC3E51CB-641A-4095-AD30-F7044F65DDBE}" presName="tx2" presStyleLbl="revTx" presStyleIdx="5" presStyleCnt="12"/>
      <dgm:spPr/>
    </dgm:pt>
    <dgm:pt modelId="{341FE3C0-D2EE-4537-8E1E-B2AE7B1E7F4A}" type="pres">
      <dgm:prSet presAssocID="{EC3E51CB-641A-4095-AD30-F7044F65DDBE}" presName="vert2" presStyleCnt="0"/>
      <dgm:spPr/>
    </dgm:pt>
    <dgm:pt modelId="{E9F0F44E-AEB3-4055-885C-819C24025AB5}" type="pres">
      <dgm:prSet presAssocID="{EC3E51CB-641A-4095-AD30-F7044F65DDBE}" presName="thinLine2b" presStyleLbl="callout" presStyleIdx="2" presStyleCnt="6"/>
      <dgm:spPr/>
    </dgm:pt>
    <dgm:pt modelId="{4DD1C35D-81A4-4989-80B2-172694B72395}" type="pres">
      <dgm:prSet presAssocID="{EC3E51CB-641A-4095-AD30-F7044F65DDBE}" presName="vertSpace2b" presStyleCnt="0"/>
      <dgm:spPr/>
    </dgm:pt>
    <dgm:pt modelId="{EF92EEA0-D30A-4286-B17C-EE4652403388}" type="pres">
      <dgm:prSet presAssocID="{79FF5180-8800-41AB-AFEE-531E0D117505}" presName="thickLine" presStyleLbl="alignNode1" presStyleIdx="3" presStyleCnt="6"/>
      <dgm:spPr/>
    </dgm:pt>
    <dgm:pt modelId="{3FF31DA9-307D-4144-967A-6824CCB92D14}" type="pres">
      <dgm:prSet presAssocID="{79FF5180-8800-41AB-AFEE-531E0D117505}" presName="horz1" presStyleCnt="0"/>
      <dgm:spPr/>
    </dgm:pt>
    <dgm:pt modelId="{1386AF81-4C8C-458B-A122-DD5615102B62}" type="pres">
      <dgm:prSet presAssocID="{79FF5180-8800-41AB-AFEE-531E0D117505}" presName="tx1" presStyleLbl="revTx" presStyleIdx="6" presStyleCnt="12"/>
      <dgm:spPr/>
    </dgm:pt>
    <dgm:pt modelId="{08413FEB-82D7-4EBA-9709-567D31F52BD6}" type="pres">
      <dgm:prSet presAssocID="{79FF5180-8800-41AB-AFEE-531E0D117505}" presName="vert1" presStyleCnt="0"/>
      <dgm:spPr/>
    </dgm:pt>
    <dgm:pt modelId="{7665A855-CB83-4354-A967-5CB5650DA12A}" type="pres">
      <dgm:prSet presAssocID="{4EF3FE5E-204D-456D-AF8B-1CA4522B04F3}" presName="vertSpace2a" presStyleCnt="0"/>
      <dgm:spPr/>
    </dgm:pt>
    <dgm:pt modelId="{566DA8C1-4B26-4199-9E7E-F8F4F3BB0081}" type="pres">
      <dgm:prSet presAssocID="{4EF3FE5E-204D-456D-AF8B-1CA4522B04F3}" presName="horz2" presStyleCnt="0"/>
      <dgm:spPr/>
    </dgm:pt>
    <dgm:pt modelId="{B286B1CD-21A9-48F3-8B1A-30318C58BF2B}" type="pres">
      <dgm:prSet presAssocID="{4EF3FE5E-204D-456D-AF8B-1CA4522B04F3}" presName="horzSpace2" presStyleCnt="0"/>
      <dgm:spPr/>
    </dgm:pt>
    <dgm:pt modelId="{0A2FE2E0-2F22-40B2-A948-BD7DB0B4EF2D}" type="pres">
      <dgm:prSet presAssocID="{4EF3FE5E-204D-456D-AF8B-1CA4522B04F3}" presName="tx2" presStyleLbl="revTx" presStyleIdx="7" presStyleCnt="12"/>
      <dgm:spPr/>
    </dgm:pt>
    <dgm:pt modelId="{BDB37129-66F9-4C14-9F46-185A36D64824}" type="pres">
      <dgm:prSet presAssocID="{4EF3FE5E-204D-456D-AF8B-1CA4522B04F3}" presName="vert2" presStyleCnt="0"/>
      <dgm:spPr/>
    </dgm:pt>
    <dgm:pt modelId="{FD59A622-FA22-4FC3-A8ED-2107940C51AC}" type="pres">
      <dgm:prSet presAssocID="{4EF3FE5E-204D-456D-AF8B-1CA4522B04F3}" presName="thinLine2b" presStyleLbl="callout" presStyleIdx="3" presStyleCnt="6"/>
      <dgm:spPr/>
    </dgm:pt>
    <dgm:pt modelId="{3CA9A1F0-014A-4EAD-9668-2E0851F8013E}" type="pres">
      <dgm:prSet presAssocID="{4EF3FE5E-204D-456D-AF8B-1CA4522B04F3}" presName="vertSpace2b" presStyleCnt="0"/>
      <dgm:spPr/>
    </dgm:pt>
    <dgm:pt modelId="{7CA334FE-2C26-4856-A3EB-ED64119C6FBA}" type="pres">
      <dgm:prSet presAssocID="{8928AA18-D72A-4224-A2D4-4A845B9830F5}" presName="thickLine" presStyleLbl="alignNode1" presStyleIdx="4" presStyleCnt="6"/>
      <dgm:spPr/>
    </dgm:pt>
    <dgm:pt modelId="{59C35928-41AE-4A57-A311-A6542AAE65B7}" type="pres">
      <dgm:prSet presAssocID="{8928AA18-D72A-4224-A2D4-4A845B9830F5}" presName="horz1" presStyleCnt="0"/>
      <dgm:spPr/>
    </dgm:pt>
    <dgm:pt modelId="{26E2B45F-B6E8-49AD-ABE8-EAE34409CF53}" type="pres">
      <dgm:prSet presAssocID="{8928AA18-D72A-4224-A2D4-4A845B9830F5}" presName="tx1" presStyleLbl="revTx" presStyleIdx="8" presStyleCnt="12"/>
      <dgm:spPr/>
    </dgm:pt>
    <dgm:pt modelId="{2E526592-A18A-49C4-9796-EF3F250DCF5C}" type="pres">
      <dgm:prSet presAssocID="{8928AA18-D72A-4224-A2D4-4A845B9830F5}" presName="vert1" presStyleCnt="0"/>
      <dgm:spPr/>
    </dgm:pt>
    <dgm:pt modelId="{4BB5A05C-38D2-4414-B8FE-6D0354438E8F}" type="pres">
      <dgm:prSet presAssocID="{C4BD4CCC-4E5D-4977-848B-38704AFCE4B7}" presName="vertSpace2a" presStyleCnt="0"/>
      <dgm:spPr/>
    </dgm:pt>
    <dgm:pt modelId="{7D8B0E57-F73F-47CF-A8F2-8F89931F48A0}" type="pres">
      <dgm:prSet presAssocID="{C4BD4CCC-4E5D-4977-848B-38704AFCE4B7}" presName="horz2" presStyleCnt="0"/>
      <dgm:spPr/>
    </dgm:pt>
    <dgm:pt modelId="{86BDFDBC-1CF1-45AC-808A-4B7AE234D190}" type="pres">
      <dgm:prSet presAssocID="{C4BD4CCC-4E5D-4977-848B-38704AFCE4B7}" presName="horzSpace2" presStyleCnt="0"/>
      <dgm:spPr/>
    </dgm:pt>
    <dgm:pt modelId="{E5D8CE82-0059-4774-9EC9-99BBAEF533EA}" type="pres">
      <dgm:prSet presAssocID="{C4BD4CCC-4E5D-4977-848B-38704AFCE4B7}" presName="tx2" presStyleLbl="revTx" presStyleIdx="9" presStyleCnt="12"/>
      <dgm:spPr/>
    </dgm:pt>
    <dgm:pt modelId="{CD0FA310-6E17-4266-B2DD-765DC61C6F05}" type="pres">
      <dgm:prSet presAssocID="{C4BD4CCC-4E5D-4977-848B-38704AFCE4B7}" presName="vert2" presStyleCnt="0"/>
      <dgm:spPr/>
    </dgm:pt>
    <dgm:pt modelId="{F2E017CF-7001-45C6-9169-25118839F35C}" type="pres">
      <dgm:prSet presAssocID="{C4BD4CCC-4E5D-4977-848B-38704AFCE4B7}" presName="thinLine2b" presStyleLbl="callout" presStyleIdx="4" presStyleCnt="6"/>
      <dgm:spPr/>
    </dgm:pt>
    <dgm:pt modelId="{27F226D3-855A-4ABD-9BD7-2C614AB2ED8E}" type="pres">
      <dgm:prSet presAssocID="{C4BD4CCC-4E5D-4977-848B-38704AFCE4B7}" presName="vertSpace2b" presStyleCnt="0"/>
      <dgm:spPr/>
    </dgm:pt>
    <dgm:pt modelId="{EA5AFA33-2006-4E62-8904-0E74FD6DD310}" type="pres">
      <dgm:prSet presAssocID="{9EAC68D4-5212-4AAC-8994-FD93728022C5}" presName="thickLine" presStyleLbl="alignNode1" presStyleIdx="5" presStyleCnt="6"/>
      <dgm:spPr/>
    </dgm:pt>
    <dgm:pt modelId="{D42B08A7-36FC-4288-B003-AAB02968012E}" type="pres">
      <dgm:prSet presAssocID="{9EAC68D4-5212-4AAC-8994-FD93728022C5}" presName="horz1" presStyleCnt="0"/>
      <dgm:spPr/>
    </dgm:pt>
    <dgm:pt modelId="{454E3898-8863-4E91-8E49-E7E896EB6472}" type="pres">
      <dgm:prSet presAssocID="{9EAC68D4-5212-4AAC-8994-FD93728022C5}" presName="tx1" presStyleLbl="revTx" presStyleIdx="10" presStyleCnt="12"/>
      <dgm:spPr/>
    </dgm:pt>
    <dgm:pt modelId="{A202754A-AB0B-4E1C-A5C2-CDDB13B91268}" type="pres">
      <dgm:prSet presAssocID="{9EAC68D4-5212-4AAC-8994-FD93728022C5}" presName="vert1" presStyleCnt="0"/>
      <dgm:spPr/>
    </dgm:pt>
    <dgm:pt modelId="{2B0A7471-EE60-4010-8AE8-E11E7DC90D51}" type="pres">
      <dgm:prSet presAssocID="{23869749-29DA-45AC-9683-DF70ADF90AE7}" presName="vertSpace2a" presStyleCnt="0"/>
      <dgm:spPr/>
    </dgm:pt>
    <dgm:pt modelId="{70A00C41-EAE6-4ECE-99A5-B9942753883B}" type="pres">
      <dgm:prSet presAssocID="{23869749-29DA-45AC-9683-DF70ADF90AE7}" presName="horz2" presStyleCnt="0"/>
      <dgm:spPr/>
    </dgm:pt>
    <dgm:pt modelId="{634EF695-A09B-4F43-AA31-33726AE79D9E}" type="pres">
      <dgm:prSet presAssocID="{23869749-29DA-45AC-9683-DF70ADF90AE7}" presName="horzSpace2" presStyleCnt="0"/>
      <dgm:spPr/>
    </dgm:pt>
    <dgm:pt modelId="{AF005AB9-2FF8-4170-82FC-0F4C090F401B}" type="pres">
      <dgm:prSet presAssocID="{23869749-29DA-45AC-9683-DF70ADF90AE7}" presName="tx2" presStyleLbl="revTx" presStyleIdx="11" presStyleCnt="12"/>
      <dgm:spPr/>
    </dgm:pt>
    <dgm:pt modelId="{66B6B316-D3BA-4395-97A0-CDA2F45B6CBD}" type="pres">
      <dgm:prSet presAssocID="{23869749-29DA-45AC-9683-DF70ADF90AE7}" presName="vert2" presStyleCnt="0"/>
      <dgm:spPr/>
    </dgm:pt>
    <dgm:pt modelId="{56BAD142-7FA5-4A0D-90E8-EB87F7432888}" type="pres">
      <dgm:prSet presAssocID="{23869749-29DA-45AC-9683-DF70ADF90AE7}" presName="thinLine2b" presStyleLbl="callout" presStyleIdx="5" presStyleCnt="6"/>
      <dgm:spPr/>
    </dgm:pt>
    <dgm:pt modelId="{95D52361-306F-4A57-BE0E-E1A3526645AA}" type="pres">
      <dgm:prSet presAssocID="{23869749-29DA-45AC-9683-DF70ADF90AE7}" presName="vertSpace2b" presStyleCnt="0"/>
      <dgm:spPr/>
    </dgm:pt>
  </dgm:ptLst>
  <dgm:cxnLst>
    <dgm:cxn modelId="{7BC77506-0EAE-4FE6-8547-CA5BD028FA32}" srcId="{900D9D26-4121-438D-BD0B-6AA3444E36DF}" destId="{8928AA18-D72A-4224-A2D4-4A845B9830F5}" srcOrd="4" destOrd="0" parTransId="{06A0A4FE-1FD1-4317-9F7E-3F4C94888DA9}" sibTransId="{70D3393A-4F2F-4ED0-8DCC-55DCC885741B}"/>
    <dgm:cxn modelId="{568B1507-047A-4903-BCDC-19AD4288FD3F}" type="presOf" srcId="{8928AA18-D72A-4224-A2D4-4A845B9830F5}" destId="{26E2B45F-B6E8-49AD-ABE8-EAE34409CF53}" srcOrd="0" destOrd="0" presId="urn:microsoft.com/office/officeart/2008/layout/LinedList"/>
    <dgm:cxn modelId="{95E1F40B-CAB4-4C4F-AA9F-D8EE9EAB7740}" srcId="{0BBF68E7-06B9-4DED-ACAA-EF9C1B7D0567}" destId="{6740102B-2824-4F96-9356-552DC14E4B43}" srcOrd="0" destOrd="0" parTransId="{C1F79F78-7874-4897-9E3F-2143134353DB}" sibTransId="{B9997BF8-9865-4D5B-A00A-7E2CA1482074}"/>
    <dgm:cxn modelId="{97E4370C-8F74-4A30-BFA2-8065F4E8A7BF}" type="presOf" srcId="{6B9189CD-0D86-4D01-9A05-CB2A3636AE51}" destId="{4D4D6641-73D4-4DAC-8C8C-B3FA1A5EAA10}" srcOrd="0" destOrd="0" presId="urn:microsoft.com/office/officeart/2008/layout/LinedList"/>
    <dgm:cxn modelId="{E7B9EA16-2A8F-4FF1-9A1D-9F65EA49F89D}" type="presOf" srcId="{0BBF68E7-06B9-4DED-ACAA-EF9C1B7D0567}" destId="{B9034C60-45EB-42B4-B398-5600A49CDA28}" srcOrd="0" destOrd="0" presId="urn:microsoft.com/office/officeart/2008/layout/LinedList"/>
    <dgm:cxn modelId="{362EEA1A-E652-4EAB-BC8E-97EFB9EA92AB}" type="presOf" srcId="{79FF5180-8800-41AB-AFEE-531E0D117505}" destId="{1386AF81-4C8C-458B-A122-DD5615102B62}" srcOrd="0" destOrd="0" presId="urn:microsoft.com/office/officeart/2008/layout/LinedList"/>
    <dgm:cxn modelId="{42BAF72A-81C1-4B35-9303-B6A86DB72C65}" srcId="{900D9D26-4121-438D-BD0B-6AA3444E36DF}" destId="{0BBF68E7-06B9-4DED-ACAA-EF9C1B7D0567}" srcOrd="1" destOrd="0" parTransId="{DC2FEF99-055E-48CB-BE2A-978ADDCB1760}" sibTransId="{6B78B6D6-BE3A-4BB6-9123-A6FFA3BC4E0D}"/>
    <dgm:cxn modelId="{6E41B130-BB02-404F-9DBD-BD7B54C8A252}" type="presOf" srcId="{C4BD4CCC-4E5D-4977-848B-38704AFCE4B7}" destId="{E5D8CE82-0059-4774-9EC9-99BBAEF533EA}" srcOrd="0" destOrd="0" presId="urn:microsoft.com/office/officeart/2008/layout/LinedList"/>
    <dgm:cxn modelId="{48773646-3EF1-4BEA-96AA-91EA819F2B69}" type="presOf" srcId="{23869749-29DA-45AC-9683-DF70ADF90AE7}" destId="{AF005AB9-2FF8-4170-82FC-0F4C090F401B}" srcOrd="0" destOrd="0" presId="urn:microsoft.com/office/officeart/2008/layout/LinedList"/>
    <dgm:cxn modelId="{0C86907B-E19B-43E1-89A8-E5F65F5EAC21}" type="presOf" srcId="{EC3E51CB-641A-4095-AD30-F7044F65DDBE}" destId="{A36F33BC-32F7-46B3-9A94-39F189699266}" srcOrd="0" destOrd="0" presId="urn:microsoft.com/office/officeart/2008/layout/LinedList"/>
    <dgm:cxn modelId="{2333178D-E824-489C-B168-F28920DF108E}" srcId="{79FF5180-8800-41AB-AFEE-531E0D117505}" destId="{4EF3FE5E-204D-456D-AF8B-1CA4522B04F3}" srcOrd="0" destOrd="0" parTransId="{B6DD3599-32B4-4E47-95D0-03B72022449F}" sibTransId="{6F7FB5AF-2314-4D26-B795-C1954BC56F24}"/>
    <dgm:cxn modelId="{44518291-7814-40CB-801B-6B8A82CB599F}" type="presOf" srcId="{9EAC68D4-5212-4AAC-8994-FD93728022C5}" destId="{454E3898-8863-4E91-8E49-E7E896EB6472}" srcOrd="0" destOrd="0" presId="urn:microsoft.com/office/officeart/2008/layout/LinedList"/>
    <dgm:cxn modelId="{ECC8D894-4663-4404-ABBD-14D20668F669}" srcId="{900D9D26-4121-438D-BD0B-6AA3444E36DF}" destId="{9EAC68D4-5212-4AAC-8994-FD93728022C5}" srcOrd="5" destOrd="0" parTransId="{4BA3038B-2B60-4EFA-93A8-24E112FB41FD}" sibTransId="{DCA90A1A-E6E8-4166-B75D-B26726E02F2F}"/>
    <dgm:cxn modelId="{A4230D96-98AB-4B46-B7A0-0104CE8B440C}" srcId="{900D9D26-4121-438D-BD0B-6AA3444E36DF}" destId="{79FF5180-8800-41AB-AFEE-531E0D117505}" srcOrd="3" destOrd="0" parTransId="{0DD8149D-9504-483F-979A-43014664E598}" sibTransId="{9ED236B6-F5E7-4FBC-9BA2-EF5D663AD812}"/>
    <dgm:cxn modelId="{0FE757A0-66FF-401F-90F4-7674BCB4D35B}" type="presOf" srcId="{4EF3FE5E-204D-456D-AF8B-1CA4522B04F3}" destId="{0A2FE2E0-2F22-40B2-A948-BD7DB0B4EF2D}" srcOrd="0" destOrd="0" presId="urn:microsoft.com/office/officeart/2008/layout/LinedList"/>
    <dgm:cxn modelId="{54CC42A6-0FC4-4855-A7AE-53A0EB0F640E}" srcId="{6B9189CD-0D86-4D01-9A05-CB2A3636AE51}" destId="{EC3E51CB-641A-4095-AD30-F7044F65DDBE}" srcOrd="0" destOrd="0" parTransId="{D06B3713-882C-466C-B051-1D52C32C95EC}" sibTransId="{B14DD621-3BE4-4E59-80BE-C04FA8875FD0}"/>
    <dgm:cxn modelId="{4F90C0B1-895E-415D-819F-1653733B8848}" type="presOf" srcId="{1E5883E8-B702-4B4A-B84A-17D3A5AAF97C}" destId="{A4A90E7E-BA16-4870-A811-E676D32E5822}" srcOrd="0" destOrd="0" presId="urn:microsoft.com/office/officeart/2008/layout/LinedList"/>
    <dgm:cxn modelId="{6F955BC0-5E58-4998-ACDE-623069450254}" srcId="{900D9D26-4121-438D-BD0B-6AA3444E36DF}" destId="{C30B3EF7-E56D-44F7-A10D-6C62B0543AC6}" srcOrd="0" destOrd="0" parTransId="{D9E06CBE-551D-4C40-ACD5-94B444481E92}" sibTransId="{D502A82F-B260-4B1B-A6F2-F4BCFFC1E1B9}"/>
    <dgm:cxn modelId="{3CC5FDC1-9775-425D-A5CA-181DE42312AE}" type="presOf" srcId="{C30B3EF7-E56D-44F7-A10D-6C62B0543AC6}" destId="{AE141489-A64C-4E0A-B146-7A704B36F348}" srcOrd="0" destOrd="0" presId="urn:microsoft.com/office/officeart/2008/layout/LinedList"/>
    <dgm:cxn modelId="{80E101D5-0945-4B1A-AD3E-6D72B32F6CD6}" srcId="{C30B3EF7-E56D-44F7-A10D-6C62B0543AC6}" destId="{1E5883E8-B702-4B4A-B84A-17D3A5AAF97C}" srcOrd="0" destOrd="0" parTransId="{793E29AB-4533-4C6D-8842-469E1BC7D169}" sibTransId="{870CBD9E-C25B-4E5E-9B69-4DEDD9922968}"/>
    <dgm:cxn modelId="{5A1866DB-C181-433C-8BED-4D20D4CDBBB7}" srcId="{8928AA18-D72A-4224-A2D4-4A845B9830F5}" destId="{C4BD4CCC-4E5D-4977-848B-38704AFCE4B7}" srcOrd="0" destOrd="0" parTransId="{885D1154-43EC-4BC0-9B45-42E707C763E9}" sibTransId="{AA6C9BDE-364E-4672-8B8D-841667A5BEE3}"/>
    <dgm:cxn modelId="{314CEFDD-40E5-457C-8587-D6058159E5AF}" type="presOf" srcId="{900D9D26-4121-438D-BD0B-6AA3444E36DF}" destId="{51C5CB7E-C7A6-4991-92FE-152DA7C91DEB}" srcOrd="0" destOrd="0" presId="urn:microsoft.com/office/officeart/2008/layout/LinedList"/>
    <dgm:cxn modelId="{26AB21F2-38C9-418A-B6E8-4FEB25BF3ED6}" srcId="{9EAC68D4-5212-4AAC-8994-FD93728022C5}" destId="{23869749-29DA-45AC-9683-DF70ADF90AE7}" srcOrd="0" destOrd="0" parTransId="{962AC0BA-E535-4809-9FA2-C985F801D77F}" sibTransId="{772A4BD3-EF25-49B0-88FA-8E3FB71C78A3}"/>
    <dgm:cxn modelId="{705B3DFB-BFE7-4F13-9AB1-192E4A9655A5}" srcId="{900D9D26-4121-438D-BD0B-6AA3444E36DF}" destId="{6B9189CD-0D86-4D01-9A05-CB2A3636AE51}" srcOrd="2" destOrd="0" parTransId="{694971BF-CE42-438E-9BBD-67A0F4E9A118}" sibTransId="{43069A26-EA0A-443F-B24F-0417E30DCBAD}"/>
    <dgm:cxn modelId="{676B27FF-6A9C-41B3-B512-FDB8330E2CBA}" type="presOf" srcId="{6740102B-2824-4F96-9356-552DC14E4B43}" destId="{D9E0CB2C-7179-4F79-9F62-E3915C190F1F}" srcOrd="0" destOrd="0" presId="urn:microsoft.com/office/officeart/2008/layout/LinedList"/>
    <dgm:cxn modelId="{5A4A8F4E-136C-4508-A0D3-8866EC9F0846}" type="presParOf" srcId="{51C5CB7E-C7A6-4991-92FE-152DA7C91DEB}" destId="{A79EBFEC-40B9-44A5-8F87-273573CAC904}" srcOrd="0" destOrd="0" presId="urn:microsoft.com/office/officeart/2008/layout/LinedList"/>
    <dgm:cxn modelId="{655CB522-1353-4A6C-B2A0-84F079DDD6F6}" type="presParOf" srcId="{51C5CB7E-C7A6-4991-92FE-152DA7C91DEB}" destId="{A39B82F2-0009-4A09-BEB0-51BCCA39D6E1}" srcOrd="1" destOrd="0" presId="urn:microsoft.com/office/officeart/2008/layout/LinedList"/>
    <dgm:cxn modelId="{90348DF0-0581-4D77-9434-586972AD9B4C}" type="presParOf" srcId="{A39B82F2-0009-4A09-BEB0-51BCCA39D6E1}" destId="{AE141489-A64C-4E0A-B146-7A704B36F348}" srcOrd="0" destOrd="0" presId="urn:microsoft.com/office/officeart/2008/layout/LinedList"/>
    <dgm:cxn modelId="{A532759B-025F-4378-9D0F-6FC7449F70BC}" type="presParOf" srcId="{A39B82F2-0009-4A09-BEB0-51BCCA39D6E1}" destId="{6CC649E6-D960-4A30-9930-3FD0D8567320}" srcOrd="1" destOrd="0" presId="urn:microsoft.com/office/officeart/2008/layout/LinedList"/>
    <dgm:cxn modelId="{5296DB8B-5A86-4A89-9D77-80D227210E25}" type="presParOf" srcId="{6CC649E6-D960-4A30-9930-3FD0D8567320}" destId="{01D90009-6471-4E80-8013-E19C626FD7ED}" srcOrd="0" destOrd="0" presId="urn:microsoft.com/office/officeart/2008/layout/LinedList"/>
    <dgm:cxn modelId="{3011BF75-7664-4EC0-9116-DDC3FDB3B7C2}" type="presParOf" srcId="{6CC649E6-D960-4A30-9930-3FD0D8567320}" destId="{C8A99920-9066-45F7-83A2-E2AFA6B72E89}" srcOrd="1" destOrd="0" presId="urn:microsoft.com/office/officeart/2008/layout/LinedList"/>
    <dgm:cxn modelId="{71CFE900-DAF8-4DF9-9389-801C72C343BD}" type="presParOf" srcId="{C8A99920-9066-45F7-83A2-E2AFA6B72E89}" destId="{126E36BF-84FA-42D0-9148-0DFD1FCFF847}" srcOrd="0" destOrd="0" presId="urn:microsoft.com/office/officeart/2008/layout/LinedList"/>
    <dgm:cxn modelId="{DC3BA65E-1676-42EA-A12F-1C5F170D35AD}" type="presParOf" srcId="{C8A99920-9066-45F7-83A2-E2AFA6B72E89}" destId="{A4A90E7E-BA16-4870-A811-E676D32E5822}" srcOrd="1" destOrd="0" presId="urn:microsoft.com/office/officeart/2008/layout/LinedList"/>
    <dgm:cxn modelId="{F13BA118-373A-495C-A42E-17492A3E4C69}" type="presParOf" srcId="{C8A99920-9066-45F7-83A2-E2AFA6B72E89}" destId="{0C9BEED6-DA8A-4C89-933C-FA18FF622506}" srcOrd="2" destOrd="0" presId="urn:microsoft.com/office/officeart/2008/layout/LinedList"/>
    <dgm:cxn modelId="{55D4035B-FD2B-4588-8613-A0AC0339DB4F}" type="presParOf" srcId="{6CC649E6-D960-4A30-9930-3FD0D8567320}" destId="{952BAC81-66AB-4DAE-8950-057D968B1E43}" srcOrd="2" destOrd="0" presId="urn:microsoft.com/office/officeart/2008/layout/LinedList"/>
    <dgm:cxn modelId="{773433BE-9DC0-4AAA-9DA8-6E8B3391704C}" type="presParOf" srcId="{6CC649E6-D960-4A30-9930-3FD0D8567320}" destId="{39B40E40-2CB7-45FF-87D9-17BE30BC0FBC}" srcOrd="3" destOrd="0" presId="urn:microsoft.com/office/officeart/2008/layout/LinedList"/>
    <dgm:cxn modelId="{E690D2B8-A678-4403-930F-F0279778C40E}" type="presParOf" srcId="{51C5CB7E-C7A6-4991-92FE-152DA7C91DEB}" destId="{C92FB969-C60E-4EA9-BD5D-8F87849A8BA0}" srcOrd="2" destOrd="0" presId="urn:microsoft.com/office/officeart/2008/layout/LinedList"/>
    <dgm:cxn modelId="{EDBB55C4-3784-48C8-8DB0-8D860FA36FD6}" type="presParOf" srcId="{51C5CB7E-C7A6-4991-92FE-152DA7C91DEB}" destId="{93485B6C-B80A-4E21-8C6D-70EACEB69685}" srcOrd="3" destOrd="0" presId="urn:microsoft.com/office/officeart/2008/layout/LinedList"/>
    <dgm:cxn modelId="{7393BB1E-050F-4D80-8E6C-D4DB1DCF94C3}" type="presParOf" srcId="{93485B6C-B80A-4E21-8C6D-70EACEB69685}" destId="{B9034C60-45EB-42B4-B398-5600A49CDA28}" srcOrd="0" destOrd="0" presId="urn:microsoft.com/office/officeart/2008/layout/LinedList"/>
    <dgm:cxn modelId="{BEAA5D9F-A352-4C99-BD10-CBA55550885A}" type="presParOf" srcId="{93485B6C-B80A-4E21-8C6D-70EACEB69685}" destId="{24131AA4-023C-43CE-BA91-A1F7EF828D72}" srcOrd="1" destOrd="0" presId="urn:microsoft.com/office/officeart/2008/layout/LinedList"/>
    <dgm:cxn modelId="{6AB59A74-F5AE-49BA-A2F6-731618C96338}" type="presParOf" srcId="{24131AA4-023C-43CE-BA91-A1F7EF828D72}" destId="{AFA74896-B74C-4D16-A1EB-949311C2ACB7}" srcOrd="0" destOrd="0" presId="urn:microsoft.com/office/officeart/2008/layout/LinedList"/>
    <dgm:cxn modelId="{CBAEAB6A-5521-44D5-8F6D-7394E68212EF}" type="presParOf" srcId="{24131AA4-023C-43CE-BA91-A1F7EF828D72}" destId="{549CA958-5CC0-4EBB-9963-D6AB532006C8}" srcOrd="1" destOrd="0" presId="urn:microsoft.com/office/officeart/2008/layout/LinedList"/>
    <dgm:cxn modelId="{F9D7C72D-40F4-4F58-8F3C-31D3CA3DE1C2}" type="presParOf" srcId="{549CA958-5CC0-4EBB-9963-D6AB532006C8}" destId="{4D2B637C-05AF-4B6D-A164-37C21F03C1B1}" srcOrd="0" destOrd="0" presId="urn:microsoft.com/office/officeart/2008/layout/LinedList"/>
    <dgm:cxn modelId="{E35E4359-2188-4E1E-8EC1-59F7D9F7AD31}" type="presParOf" srcId="{549CA958-5CC0-4EBB-9963-D6AB532006C8}" destId="{D9E0CB2C-7179-4F79-9F62-E3915C190F1F}" srcOrd="1" destOrd="0" presId="urn:microsoft.com/office/officeart/2008/layout/LinedList"/>
    <dgm:cxn modelId="{1B86ECBE-FBA2-4CA4-B580-A13E12449DCB}" type="presParOf" srcId="{549CA958-5CC0-4EBB-9963-D6AB532006C8}" destId="{EE047BB2-3AC5-4CFF-9866-406C1C01B2AA}" srcOrd="2" destOrd="0" presId="urn:microsoft.com/office/officeart/2008/layout/LinedList"/>
    <dgm:cxn modelId="{E137A1E0-3180-4501-9E3E-A93DD6C6AD9A}" type="presParOf" srcId="{24131AA4-023C-43CE-BA91-A1F7EF828D72}" destId="{85FB8E6A-6922-4A19-B2EF-EE11C82C373F}" srcOrd="2" destOrd="0" presId="urn:microsoft.com/office/officeart/2008/layout/LinedList"/>
    <dgm:cxn modelId="{2675ED8B-79B9-4500-8FD6-96243831729B}" type="presParOf" srcId="{24131AA4-023C-43CE-BA91-A1F7EF828D72}" destId="{2CEE4BD6-F90A-4A8D-8035-FF95A4C1250B}" srcOrd="3" destOrd="0" presId="urn:microsoft.com/office/officeart/2008/layout/LinedList"/>
    <dgm:cxn modelId="{75C163BA-490B-4086-8428-947A7F4EB227}" type="presParOf" srcId="{51C5CB7E-C7A6-4991-92FE-152DA7C91DEB}" destId="{1D0AA71B-88D8-4EC6-A331-06E8B426C401}" srcOrd="4" destOrd="0" presId="urn:microsoft.com/office/officeart/2008/layout/LinedList"/>
    <dgm:cxn modelId="{31AD43CA-A0C9-4139-8C38-693CB6FE7D18}" type="presParOf" srcId="{51C5CB7E-C7A6-4991-92FE-152DA7C91DEB}" destId="{AD0969EA-1F1B-4F1F-AD30-01547623EA8E}" srcOrd="5" destOrd="0" presId="urn:microsoft.com/office/officeart/2008/layout/LinedList"/>
    <dgm:cxn modelId="{9D71663A-864A-4646-8D76-2058771777E9}" type="presParOf" srcId="{AD0969EA-1F1B-4F1F-AD30-01547623EA8E}" destId="{4D4D6641-73D4-4DAC-8C8C-B3FA1A5EAA10}" srcOrd="0" destOrd="0" presId="urn:microsoft.com/office/officeart/2008/layout/LinedList"/>
    <dgm:cxn modelId="{B711EA76-3F51-4F06-9948-9E4FD40C3845}" type="presParOf" srcId="{AD0969EA-1F1B-4F1F-AD30-01547623EA8E}" destId="{5329CB5D-330B-4782-BDF5-226C8969484E}" srcOrd="1" destOrd="0" presId="urn:microsoft.com/office/officeart/2008/layout/LinedList"/>
    <dgm:cxn modelId="{64230042-ED38-4463-B239-E36A99465448}" type="presParOf" srcId="{5329CB5D-330B-4782-BDF5-226C8969484E}" destId="{BBB26ADA-9652-4716-BB86-790F71773689}" srcOrd="0" destOrd="0" presId="urn:microsoft.com/office/officeart/2008/layout/LinedList"/>
    <dgm:cxn modelId="{397C0249-A224-4BCC-BC18-9E0584B0AD87}" type="presParOf" srcId="{5329CB5D-330B-4782-BDF5-226C8969484E}" destId="{143E2DCB-7935-49EE-A0D1-796F2113A5AE}" srcOrd="1" destOrd="0" presId="urn:microsoft.com/office/officeart/2008/layout/LinedList"/>
    <dgm:cxn modelId="{5A1ACB67-BB56-4198-828B-BF06093A13AA}" type="presParOf" srcId="{143E2DCB-7935-49EE-A0D1-796F2113A5AE}" destId="{5535C5FA-C5F8-4C49-B518-685938CEF455}" srcOrd="0" destOrd="0" presId="urn:microsoft.com/office/officeart/2008/layout/LinedList"/>
    <dgm:cxn modelId="{8CFFAFC5-F9D8-4C3D-8EBD-1C5E8E0A8D67}" type="presParOf" srcId="{143E2DCB-7935-49EE-A0D1-796F2113A5AE}" destId="{A36F33BC-32F7-46B3-9A94-39F189699266}" srcOrd="1" destOrd="0" presId="urn:microsoft.com/office/officeart/2008/layout/LinedList"/>
    <dgm:cxn modelId="{3595F036-1779-4037-8819-3386857F0747}" type="presParOf" srcId="{143E2DCB-7935-49EE-A0D1-796F2113A5AE}" destId="{341FE3C0-D2EE-4537-8E1E-B2AE7B1E7F4A}" srcOrd="2" destOrd="0" presId="urn:microsoft.com/office/officeart/2008/layout/LinedList"/>
    <dgm:cxn modelId="{D2AEBDDB-56BA-4CE2-AD2C-B15A5D4E6BB0}" type="presParOf" srcId="{5329CB5D-330B-4782-BDF5-226C8969484E}" destId="{E9F0F44E-AEB3-4055-885C-819C24025AB5}" srcOrd="2" destOrd="0" presId="urn:microsoft.com/office/officeart/2008/layout/LinedList"/>
    <dgm:cxn modelId="{C02EF5C4-D11B-4D9B-990E-EA92050DEE96}" type="presParOf" srcId="{5329CB5D-330B-4782-BDF5-226C8969484E}" destId="{4DD1C35D-81A4-4989-80B2-172694B72395}" srcOrd="3" destOrd="0" presId="urn:microsoft.com/office/officeart/2008/layout/LinedList"/>
    <dgm:cxn modelId="{336E4175-54CC-4292-8669-FF048FF76563}" type="presParOf" srcId="{51C5CB7E-C7A6-4991-92FE-152DA7C91DEB}" destId="{EF92EEA0-D30A-4286-B17C-EE4652403388}" srcOrd="6" destOrd="0" presId="urn:microsoft.com/office/officeart/2008/layout/LinedList"/>
    <dgm:cxn modelId="{F01CA0F2-7091-417D-8DCD-2B46A8190D83}" type="presParOf" srcId="{51C5CB7E-C7A6-4991-92FE-152DA7C91DEB}" destId="{3FF31DA9-307D-4144-967A-6824CCB92D14}" srcOrd="7" destOrd="0" presId="urn:microsoft.com/office/officeart/2008/layout/LinedList"/>
    <dgm:cxn modelId="{D29A4E43-2157-4152-B4DC-AFE11A8608B0}" type="presParOf" srcId="{3FF31DA9-307D-4144-967A-6824CCB92D14}" destId="{1386AF81-4C8C-458B-A122-DD5615102B62}" srcOrd="0" destOrd="0" presId="urn:microsoft.com/office/officeart/2008/layout/LinedList"/>
    <dgm:cxn modelId="{65C82E8F-44A0-43FF-84B4-6191C54C6F1E}" type="presParOf" srcId="{3FF31DA9-307D-4144-967A-6824CCB92D14}" destId="{08413FEB-82D7-4EBA-9709-567D31F52BD6}" srcOrd="1" destOrd="0" presId="urn:microsoft.com/office/officeart/2008/layout/LinedList"/>
    <dgm:cxn modelId="{4E42D075-6C0B-4924-9466-9BA2F27038A2}" type="presParOf" srcId="{08413FEB-82D7-4EBA-9709-567D31F52BD6}" destId="{7665A855-CB83-4354-A967-5CB5650DA12A}" srcOrd="0" destOrd="0" presId="urn:microsoft.com/office/officeart/2008/layout/LinedList"/>
    <dgm:cxn modelId="{FF065872-96EE-4E3E-915B-3CD98D5654E3}" type="presParOf" srcId="{08413FEB-82D7-4EBA-9709-567D31F52BD6}" destId="{566DA8C1-4B26-4199-9E7E-F8F4F3BB0081}" srcOrd="1" destOrd="0" presId="urn:microsoft.com/office/officeart/2008/layout/LinedList"/>
    <dgm:cxn modelId="{3F2F04CC-4A78-4619-97AE-354DCC9DD5BC}" type="presParOf" srcId="{566DA8C1-4B26-4199-9E7E-F8F4F3BB0081}" destId="{B286B1CD-21A9-48F3-8B1A-30318C58BF2B}" srcOrd="0" destOrd="0" presId="urn:microsoft.com/office/officeart/2008/layout/LinedList"/>
    <dgm:cxn modelId="{0C290D67-3E1F-479E-A88E-8A4C3823B433}" type="presParOf" srcId="{566DA8C1-4B26-4199-9E7E-F8F4F3BB0081}" destId="{0A2FE2E0-2F22-40B2-A948-BD7DB0B4EF2D}" srcOrd="1" destOrd="0" presId="urn:microsoft.com/office/officeart/2008/layout/LinedList"/>
    <dgm:cxn modelId="{2E1F6DB4-A1E4-49FE-8B49-2BFE22117107}" type="presParOf" srcId="{566DA8C1-4B26-4199-9E7E-F8F4F3BB0081}" destId="{BDB37129-66F9-4C14-9F46-185A36D64824}" srcOrd="2" destOrd="0" presId="urn:microsoft.com/office/officeart/2008/layout/LinedList"/>
    <dgm:cxn modelId="{4366E019-E5C2-4459-811D-C1C668B2A879}" type="presParOf" srcId="{08413FEB-82D7-4EBA-9709-567D31F52BD6}" destId="{FD59A622-FA22-4FC3-A8ED-2107940C51AC}" srcOrd="2" destOrd="0" presId="urn:microsoft.com/office/officeart/2008/layout/LinedList"/>
    <dgm:cxn modelId="{19302334-CE4A-452A-BF7F-5F79279A0596}" type="presParOf" srcId="{08413FEB-82D7-4EBA-9709-567D31F52BD6}" destId="{3CA9A1F0-014A-4EAD-9668-2E0851F8013E}" srcOrd="3" destOrd="0" presId="urn:microsoft.com/office/officeart/2008/layout/LinedList"/>
    <dgm:cxn modelId="{A7BF0CFA-BBF6-4F27-9A90-B2F4F30C661F}" type="presParOf" srcId="{51C5CB7E-C7A6-4991-92FE-152DA7C91DEB}" destId="{7CA334FE-2C26-4856-A3EB-ED64119C6FBA}" srcOrd="8" destOrd="0" presId="urn:microsoft.com/office/officeart/2008/layout/LinedList"/>
    <dgm:cxn modelId="{2DE32561-1204-4BFE-8D4E-531BEBED42D5}" type="presParOf" srcId="{51C5CB7E-C7A6-4991-92FE-152DA7C91DEB}" destId="{59C35928-41AE-4A57-A311-A6542AAE65B7}" srcOrd="9" destOrd="0" presId="urn:microsoft.com/office/officeart/2008/layout/LinedList"/>
    <dgm:cxn modelId="{8C396F56-4289-4F29-A8BD-7DBB614E51C1}" type="presParOf" srcId="{59C35928-41AE-4A57-A311-A6542AAE65B7}" destId="{26E2B45F-B6E8-49AD-ABE8-EAE34409CF53}" srcOrd="0" destOrd="0" presId="urn:microsoft.com/office/officeart/2008/layout/LinedList"/>
    <dgm:cxn modelId="{2A453C4A-04C6-466E-AEF0-1B3D58F3149F}" type="presParOf" srcId="{59C35928-41AE-4A57-A311-A6542AAE65B7}" destId="{2E526592-A18A-49C4-9796-EF3F250DCF5C}" srcOrd="1" destOrd="0" presId="urn:microsoft.com/office/officeart/2008/layout/LinedList"/>
    <dgm:cxn modelId="{C32B448C-8219-42AF-B8DE-3E5475C675DC}" type="presParOf" srcId="{2E526592-A18A-49C4-9796-EF3F250DCF5C}" destId="{4BB5A05C-38D2-4414-B8FE-6D0354438E8F}" srcOrd="0" destOrd="0" presId="urn:microsoft.com/office/officeart/2008/layout/LinedList"/>
    <dgm:cxn modelId="{4420BE2C-C2AA-4984-9994-4AB39E266DAE}" type="presParOf" srcId="{2E526592-A18A-49C4-9796-EF3F250DCF5C}" destId="{7D8B0E57-F73F-47CF-A8F2-8F89931F48A0}" srcOrd="1" destOrd="0" presId="urn:microsoft.com/office/officeart/2008/layout/LinedList"/>
    <dgm:cxn modelId="{2143E047-B828-4FCD-8708-6608BC349686}" type="presParOf" srcId="{7D8B0E57-F73F-47CF-A8F2-8F89931F48A0}" destId="{86BDFDBC-1CF1-45AC-808A-4B7AE234D190}" srcOrd="0" destOrd="0" presId="urn:microsoft.com/office/officeart/2008/layout/LinedList"/>
    <dgm:cxn modelId="{13CAE2CB-0580-410A-8372-DFB01982586B}" type="presParOf" srcId="{7D8B0E57-F73F-47CF-A8F2-8F89931F48A0}" destId="{E5D8CE82-0059-4774-9EC9-99BBAEF533EA}" srcOrd="1" destOrd="0" presId="urn:microsoft.com/office/officeart/2008/layout/LinedList"/>
    <dgm:cxn modelId="{3F83E36A-A22D-4160-835A-279A03EDF60B}" type="presParOf" srcId="{7D8B0E57-F73F-47CF-A8F2-8F89931F48A0}" destId="{CD0FA310-6E17-4266-B2DD-765DC61C6F05}" srcOrd="2" destOrd="0" presId="urn:microsoft.com/office/officeart/2008/layout/LinedList"/>
    <dgm:cxn modelId="{094A764B-9B3D-4687-B254-8D7E73C7D050}" type="presParOf" srcId="{2E526592-A18A-49C4-9796-EF3F250DCF5C}" destId="{F2E017CF-7001-45C6-9169-25118839F35C}" srcOrd="2" destOrd="0" presId="urn:microsoft.com/office/officeart/2008/layout/LinedList"/>
    <dgm:cxn modelId="{175F7951-DD43-4A92-9851-CD791BF3461D}" type="presParOf" srcId="{2E526592-A18A-49C4-9796-EF3F250DCF5C}" destId="{27F226D3-855A-4ABD-9BD7-2C614AB2ED8E}" srcOrd="3" destOrd="0" presId="urn:microsoft.com/office/officeart/2008/layout/LinedList"/>
    <dgm:cxn modelId="{376930E3-624D-443D-AA33-CDAE624E96B3}" type="presParOf" srcId="{51C5CB7E-C7A6-4991-92FE-152DA7C91DEB}" destId="{EA5AFA33-2006-4E62-8904-0E74FD6DD310}" srcOrd="10" destOrd="0" presId="urn:microsoft.com/office/officeart/2008/layout/LinedList"/>
    <dgm:cxn modelId="{A7937903-46DD-4AA1-80A3-C6B66D83B698}" type="presParOf" srcId="{51C5CB7E-C7A6-4991-92FE-152DA7C91DEB}" destId="{D42B08A7-36FC-4288-B003-AAB02968012E}" srcOrd="11" destOrd="0" presId="urn:microsoft.com/office/officeart/2008/layout/LinedList"/>
    <dgm:cxn modelId="{EEBCCA49-FD16-4EF4-83E5-87D855F50F54}" type="presParOf" srcId="{D42B08A7-36FC-4288-B003-AAB02968012E}" destId="{454E3898-8863-4E91-8E49-E7E896EB6472}" srcOrd="0" destOrd="0" presId="urn:microsoft.com/office/officeart/2008/layout/LinedList"/>
    <dgm:cxn modelId="{9EF413AD-26B9-4BEE-8117-89C4FA977313}" type="presParOf" srcId="{D42B08A7-36FC-4288-B003-AAB02968012E}" destId="{A202754A-AB0B-4E1C-A5C2-CDDB13B91268}" srcOrd="1" destOrd="0" presId="urn:microsoft.com/office/officeart/2008/layout/LinedList"/>
    <dgm:cxn modelId="{D1E0E4F8-ACDA-4C1C-9DAE-C95DCE7F9313}" type="presParOf" srcId="{A202754A-AB0B-4E1C-A5C2-CDDB13B91268}" destId="{2B0A7471-EE60-4010-8AE8-E11E7DC90D51}" srcOrd="0" destOrd="0" presId="urn:microsoft.com/office/officeart/2008/layout/LinedList"/>
    <dgm:cxn modelId="{E14E51FC-A520-4B93-8E62-26B39EEE6980}" type="presParOf" srcId="{A202754A-AB0B-4E1C-A5C2-CDDB13B91268}" destId="{70A00C41-EAE6-4ECE-99A5-B9942753883B}" srcOrd="1" destOrd="0" presId="urn:microsoft.com/office/officeart/2008/layout/LinedList"/>
    <dgm:cxn modelId="{42874A1F-BBE1-43B7-8407-C503E59A82EA}" type="presParOf" srcId="{70A00C41-EAE6-4ECE-99A5-B9942753883B}" destId="{634EF695-A09B-4F43-AA31-33726AE79D9E}" srcOrd="0" destOrd="0" presId="urn:microsoft.com/office/officeart/2008/layout/LinedList"/>
    <dgm:cxn modelId="{59871183-9DBC-4F12-BD4E-E225D60ABA2F}" type="presParOf" srcId="{70A00C41-EAE6-4ECE-99A5-B9942753883B}" destId="{AF005AB9-2FF8-4170-82FC-0F4C090F401B}" srcOrd="1" destOrd="0" presId="urn:microsoft.com/office/officeart/2008/layout/LinedList"/>
    <dgm:cxn modelId="{49481659-AE0D-4BC5-952D-A74A48EE9F6B}" type="presParOf" srcId="{70A00C41-EAE6-4ECE-99A5-B9942753883B}" destId="{66B6B316-D3BA-4395-97A0-CDA2F45B6CBD}" srcOrd="2" destOrd="0" presId="urn:microsoft.com/office/officeart/2008/layout/LinedList"/>
    <dgm:cxn modelId="{9F53F796-1E48-4144-95C6-9F7C7CAB9879}" type="presParOf" srcId="{A202754A-AB0B-4E1C-A5C2-CDDB13B91268}" destId="{56BAD142-7FA5-4A0D-90E8-EB87F7432888}" srcOrd="2" destOrd="0" presId="urn:microsoft.com/office/officeart/2008/layout/LinedList"/>
    <dgm:cxn modelId="{F99FF90D-102A-455C-8D5B-ACA38BDE988E}" type="presParOf" srcId="{A202754A-AB0B-4E1C-A5C2-CDDB13B91268}" destId="{95D52361-306F-4A57-BE0E-E1A3526645AA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EBFEC-40B9-44A5-8F87-273573CAC904}">
      <dsp:nvSpPr>
        <dsp:cNvPr id="0" name=""/>
        <dsp:cNvSpPr/>
      </dsp:nvSpPr>
      <dsp:spPr>
        <a:xfrm>
          <a:off x="0" y="2194"/>
          <a:ext cx="777954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141489-A64C-4E0A-B146-7A704B36F348}">
      <dsp:nvSpPr>
        <dsp:cNvPr id="0" name=""/>
        <dsp:cNvSpPr/>
      </dsp:nvSpPr>
      <dsp:spPr>
        <a:xfrm>
          <a:off x="0" y="2194"/>
          <a:ext cx="1555908" cy="748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/>
            <a:t>RELATIONSHIP</a:t>
          </a:r>
          <a:endParaRPr lang="en-US" sz="1800" kern="1200" dirty="0"/>
        </a:p>
      </dsp:txBody>
      <dsp:txXfrm>
        <a:off x="0" y="2194"/>
        <a:ext cx="1555908" cy="748163"/>
      </dsp:txXfrm>
    </dsp:sp>
    <dsp:sp modelId="{A4A90E7E-BA16-4870-A811-E676D32E5822}">
      <dsp:nvSpPr>
        <dsp:cNvPr id="0" name=""/>
        <dsp:cNvSpPr/>
      </dsp:nvSpPr>
      <dsp:spPr>
        <a:xfrm>
          <a:off x="1672601" y="36168"/>
          <a:ext cx="6106942" cy="679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 err="1"/>
            <a:t>shootings_detail_categorized</a:t>
          </a:r>
          <a:r>
            <a:rPr lang="cs-CZ" sz="1900" kern="1200" dirty="0"/>
            <a:t> →</a:t>
          </a:r>
          <a:r>
            <a:rPr lang="cs-CZ" sz="1900" kern="1200" dirty="0" err="1"/>
            <a:t>master_dataset_categorized</a:t>
          </a:r>
          <a:endParaRPr lang="en-US" sz="1900" kern="1200" dirty="0" err="1"/>
        </a:p>
      </dsp:txBody>
      <dsp:txXfrm>
        <a:off x="1672601" y="36168"/>
        <a:ext cx="6106942" cy="679484"/>
      </dsp:txXfrm>
    </dsp:sp>
    <dsp:sp modelId="{952BAC81-66AB-4DAE-8950-057D968B1E43}">
      <dsp:nvSpPr>
        <dsp:cNvPr id="0" name=""/>
        <dsp:cNvSpPr/>
      </dsp:nvSpPr>
      <dsp:spPr>
        <a:xfrm>
          <a:off x="1555908" y="715652"/>
          <a:ext cx="622363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92FB969-C60E-4EA9-BD5D-8F87849A8BA0}">
      <dsp:nvSpPr>
        <dsp:cNvPr id="0" name=""/>
        <dsp:cNvSpPr/>
      </dsp:nvSpPr>
      <dsp:spPr>
        <a:xfrm>
          <a:off x="0" y="750357"/>
          <a:ext cx="777954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9034C60-45EB-42B4-B398-5600A49CDA28}">
      <dsp:nvSpPr>
        <dsp:cNvPr id="0" name=""/>
        <dsp:cNvSpPr/>
      </dsp:nvSpPr>
      <dsp:spPr>
        <a:xfrm>
          <a:off x="0" y="750357"/>
          <a:ext cx="1555908" cy="748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/>
            <a:t>Typ</a:t>
          </a:r>
          <a:endParaRPr lang="en-US" sz="1800" kern="1200" dirty="0"/>
        </a:p>
      </dsp:txBody>
      <dsp:txXfrm>
        <a:off x="0" y="750357"/>
        <a:ext cx="1555908" cy="748163"/>
      </dsp:txXfrm>
    </dsp:sp>
    <dsp:sp modelId="{D9E0CB2C-7179-4F79-9F62-E3915C190F1F}">
      <dsp:nvSpPr>
        <dsp:cNvPr id="0" name=""/>
        <dsp:cNvSpPr/>
      </dsp:nvSpPr>
      <dsp:spPr>
        <a:xfrm>
          <a:off x="1672601" y="784331"/>
          <a:ext cx="6106942" cy="679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Many-to-</a:t>
          </a:r>
          <a:r>
            <a:rPr lang="cs-CZ" sz="1900" kern="1200" dirty="0" err="1"/>
            <a:t>One</a:t>
          </a:r>
          <a:r>
            <a:rPr lang="cs-CZ" sz="1900" kern="1200" dirty="0"/>
            <a:t> (N:1)</a:t>
          </a:r>
          <a:endParaRPr lang="en-US" sz="1900" kern="1200" dirty="0"/>
        </a:p>
      </dsp:txBody>
      <dsp:txXfrm>
        <a:off x="1672601" y="784331"/>
        <a:ext cx="6106942" cy="679484"/>
      </dsp:txXfrm>
    </dsp:sp>
    <dsp:sp modelId="{85FB8E6A-6922-4A19-B2EF-EE11C82C373F}">
      <dsp:nvSpPr>
        <dsp:cNvPr id="0" name=""/>
        <dsp:cNvSpPr/>
      </dsp:nvSpPr>
      <dsp:spPr>
        <a:xfrm>
          <a:off x="1555908" y="1463816"/>
          <a:ext cx="622363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D0AA71B-88D8-4EC6-A331-06E8B426C401}">
      <dsp:nvSpPr>
        <dsp:cNvPr id="0" name=""/>
        <dsp:cNvSpPr/>
      </dsp:nvSpPr>
      <dsp:spPr>
        <a:xfrm>
          <a:off x="0" y="1498521"/>
          <a:ext cx="777954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D4D6641-73D4-4DAC-8C8C-B3FA1A5EAA10}">
      <dsp:nvSpPr>
        <dsp:cNvPr id="0" name=""/>
        <dsp:cNvSpPr/>
      </dsp:nvSpPr>
      <dsp:spPr>
        <a:xfrm>
          <a:off x="0" y="1498521"/>
          <a:ext cx="1555908" cy="748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 err="1"/>
            <a:t>Join</a:t>
          </a:r>
          <a:r>
            <a:rPr lang="cs-CZ" sz="1800" kern="1200" dirty="0"/>
            <a:t> klíč</a:t>
          </a:r>
          <a:endParaRPr lang="en-US" sz="1800" kern="1200" dirty="0"/>
        </a:p>
      </dsp:txBody>
      <dsp:txXfrm>
        <a:off x="0" y="1498521"/>
        <a:ext cx="1555908" cy="748163"/>
      </dsp:txXfrm>
    </dsp:sp>
    <dsp:sp modelId="{A36F33BC-32F7-46B3-9A94-39F189699266}">
      <dsp:nvSpPr>
        <dsp:cNvPr id="0" name=""/>
        <dsp:cNvSpPr/>
      </dsp:nvSpPr>
      <dsp:spPr>
        <a:xfrm>
          <a:off x="1672601" y="1532495"/>
          <a:ext cx="6106942" cy="679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 err="1"/>
            <a:t>city_state</a:t>
          </a:r>
          <a:endParaRPr lang="en-US" sz="1900" kern="1200" dirty="0" err="1"/>
        </a:p>
      </dsp:txBody>
      <dsp:txXfrm>
        <a:off x="1672601" y="1532495"/>
        <a:ext cx="6106942" cy="679484"/>
      </dsp:txXfrm>
    </dsp:sp>
    <dsp:sp modelId="{E9F0F44E-AEB3-4055-885C-819C24025AB5}">
      <dsp:nvSpPr>
        <dsp:cNvPr id="0" name=""/>
        <dsp:cNvSpPr/>
      </dsp:nvSpPr>
      <dsp:spPr>
        <a:xfrm>
          <a:off x="1555908" y="2211980"/>
          <a:ext cx="622363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F92EEA0-D30A-4286-B17C-EE4652403388}">
      <dsp:nvSpPr>
        <dsp:cNvPr id="0" name=""/>
        <dsp:cNvSpPr/>
      </dsp:nvSpPr>
      <dsp:spPr>
        <a:xfrm>
          <a:off x="0" y="2246685"/>
          <a:ext cx="777954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386AF81-4C8C-458B-A122-DD5615102B62}">
      <dsp:nvSpPr>
        <dsp:cNvPr id="0" name=""/>
        <dsp:cNvSpPr/>
      </dsp:nvSpPr>
      <dsp:spPr>
        <a:xfrm>
          <a:off x="0" y="2246685"/>
          <a:ext cx="1555908" cy="748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/>
            <a:t>Směr filtrace</a:t>
          </a:r>
          <a:endParaRPr lang="en-US" sz="1800" kern="1200" dirty="0"/>
        </a:p>
      </dsp:txBody>
      <dsp:txXfrm>
        <a:off x="0" y="2246685"/>
        <a:ext cx="1555908" cy="748163"/>
      </dsp:txXfrm>
    </dsp:sp>
    <dsp:sp modelId="{0A2FE2E0-2F22-40B2-A948-BD7DB0B4EF2D}">
      <dsp:nvSpPr>
        <dsp:cNvPr id="0" name=""/>
        <dsp:cNvSpPr/>
      </dsp:nvSpPr>
      <dsp:spPr>
        <a:xfrm>
          <a:off x="1672601" y="2280659"/>
          <a:ext cx="6106942" cy="679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Single </a:t>
          </a:r>
          <a:r>
            <a:rPr lang="cs-CZ" sz="1900" kern="1200" dirty="0" err="1"/>
            <a:t>direction</a:t>
          </a:r>
          <a:r>
            <a:rPr lang="cs-CZ" sz="1900" kern="1200" dirty="0"/>
            <a:t> (z master do </a:t>
          </a:r>
          <a:r>
            <a:rPr lang="cs-CZ" sz="1900" kern="1200" dirty="0" err="1"/>
            <a:t>shootings</a:t>
          </a:r>
          <a:r>
            <a:rPr lang="cs-CZ" sz="1900" kern="1200" dirty="0"/>
            <a:t>)</a:t>
          </a:r>
          <a:endParaRPr lang="en-US" sz="1900" kern="1200" dirty="0"/>
        </a:p>
      </dsp:txBody>
      <dsp:txXfrm>
        <a:off x="1672601" y="2280659"/>
        <a:ext cx="6106942" cy="679484"/>
      </dsp:txXfrm>
    </dsp:sp>
    <dsp:sp modelId="{FD59A622-FA22-4FC3-A8ED-2107940C51AC}">
      <dsp:nvSpPr>
        <dsp:cNvPr id="0" name=""/>
        <dsp:cNvSpPr/>
      </dsp:nvSpPr>
      <dsp:spPr>
        <a:xfrm>
          <a:off x="1555908" y="2960143"/>
          <a:ext cx="622363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CA334FE-2C26-4856-A3EB-ED64119C6FBA}">
      <dsp:nvSpPr>
        <dsp:cNvPr id="0" name=""/>
        <dsp:cNvSpPr/>
      </dsp:nvSpPr>
      <dsp:spPr>
        <a:xfrm>
          <a:off x="0" y="2994848"/>
          <a:ext cx="777954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E2B45F-B6E8-49AD-ABE8-EAE34409CF53}">
      <dsp:nvSpPr>
        <dsp:cNvPr id="0" name=""/>
        <dsp:cNvSpPr/>
      </dsp:nvSpPr>
      <dsp:spPr>
        <a:xfrm>
          <a:off x="0" y="2994848"/>
          <a:ext cx="1555908" cy="748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/>
            <a:t>Kardinalita</a:t>
          </a:r>
          <a:endParaRPr lang="en-US" sz="1800" kern="1200" dirty="0"/>
        </a:p>
      </dsp:txBody>
      <dsp:txXfrm>
        <a:off x="0" y="2994848"/>
        <a:ext cx="1555908" cy="748163"/>
      </dsp:txXfrm>
    </dsp:sp>
    <dsp:sp modelId="{E5D8CE82-0059-4774-9EC9-99BBAEF533EA}">
      <dsp:nvSpPr>
        <dsp:cNvPr id="0" name=""/>
        <dsp:cNvSpPr/>
      </dsp:nvSpPr>
      <dsp:spPr>
        <a:xfrm>
          <a:off x="1672601" y="3028822"/>
          <a:ext cx="6106942" cy="679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0" kern="1200" dirty="0"/>
            <a:t>Jedno město může mít mnoho </a:t>
          </a:r>
          <a:r>
            <a:rPr lang="cs-CZ" sz="1900" b="0" kern="1200" dirty="0" err="1">
              <a:latin typeface="Calibri Light" panose="020F0302020204030204"/>
            </a:rPr>
            <a:t>střelb</a:t>
          </a:r>
          <a:endParaRPr lang="en-US" sz="1900" b="0" kern="1200" dirty="0"/>
        </a:p>
      </dsp:txBody>
      <dsp:txXfrm>
        <a:off x="1672601" y="3028822"/>
        <a:ext cx="6106942" cy="679484"/>
      </dsp:txXfrm>
    </dsp:sp>
    <dsp:sp modelId="{F2E017CF-7001-45C6-9169-25118839F35C}">
      <dsp:nvSpPr>
        <dsp:cNvPr id="0" name=""/>
        <dsp:cNvSpPr/>
      </dsp:nvSpPr>
      <dsp:spPr>
        <a:xfrm>
          <a:off x="1555908" y="3708307"/>
          <a:ext cx="622363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A5AFA33-2006-4E62-8904-0E74FD6DD310}">
      <dsp:nvSpPr>
        <dsp:cNvPr id="0" name=""/>
        <dsp:cNvSpPr/>
      </dsp:nvSpPr>
      <dsp:spPr>
        <a:xfrm>
          <a:off x="0" y="3743012"/>
          <a:ext cx="777954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54E3898-8863-4E91-8E49-E7E896EB6472}">
      <dsp:nvSpPr>
        <dsp:cNvPr id="0" name=""/>
        <dsp:cNvSpPr/>
      </dsp:nvSpPr>
      <dsp:spPr>
        <a:xfrm>
          <a:off x="0" y="3743012"/>
          <a:ext cx="1555908" cy="748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/>
            <a:t>Příklad</a:t>
          </a:r>
          <a:endParaRPr lang="en-US" sz="1800" kern="1200" dirty="0"/>
        </a:p>
      </dsp:txBody>
      <dsp:txXfrm>
        <a:off x="0" y="3743012"/>
        <a:ext cx="1555908" cy="748163"/>
      </dsp:txXfrm>
    </dsp:sp>
    <dsp:sp modelId="{AF005AB9-2FF8-4170-82FC-0F4C090F401B}">
      <dsp:nvSpPr>
        <dsp:cNvPr id="0" name=""/>
        <dsp:cNvSpPr/>
      </dsp:nvSpPr>
      <dsp:spPr>
        <a:xfrm>
          <a:off x="1672601" y="3776986"/>
          <a:ext cx="6106942" cy="679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"Los Angeles, CA" má 102 střeleb v tabulce </a:t>
          </a:r>
          <a:r>
            <a:rPr lang="cs-CZ" sz="1900" kern="1200" dirty="0" err="1"/>
            <a:t>shootings_deta</a:t>
          </a:r>
          <a:endParaRPr lang="en-US" sz="1900" kern="1200" dirty="0" err="1"/>
        </a:p>
      </dsp:txBody>
      <dsp:txXfrm>
        <a:off x="1672601" y="3776986"/>
        <a:ext cx="6106942" cy="679484"/>
      </dsp:txXfrm>
    </dsp:sp>
    <dsp:sp modelId="{56BAD142-7FA5-4A0D-90E8-EB87F7432888}">
      <dsp:nvSpPr>
        <dsp:cNvPr id="0" name=""/>
        <dsp:cNvSpPr/>
      </dsp:nvSpPr>
      <dsp:spPr>
        <a:xfrm>
          <a:off x="1555908" y="4456471"/>
          <a:ext cx="622363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2389DD16-FB00-4D9A-B48C-50050FDDC1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838009" y="933549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00988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6BBD7AF0-0104-49C6-B49F-55B685879E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38009" y="1245177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4A4A49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6609EC98-6EA4-4C3E-A04D-5D810F2A42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8DECF7AF-89F1-4012-9B20-327F67C10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4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9235DDD2-26F3-4A0D-93F4-FB32B5B241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838009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D7300AA5-064D-49EA-BBBE-873363EE328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38009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Jmeno.prijmeni@vse.cz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206462F-D376-411D-9D76-52EE5EED7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A3092441-B532-4881-997F-6A08EF518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72708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FEBE9D-4844-416F-A47B-E71F5CB3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6471AA-641D-48E4-895F-2C70DDA44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4055"/>
            <a:ext cx="7779544" cy="449337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51239B-9FE1-4DB1-BD79-B7D38D33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3E641A-DC32-4DD9-8307-46D9DFF5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2F49C3-090D-4190-9CE2-36066030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796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AB441-3D76-4218-81BE-D7E4F3F92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84F63F-E322-46AC-A5C6-E1540E1BD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939DC5B-E1B0-4FCB-9D9A-C6471A28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462326-6725-45D6-8FAC-124BEDCD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92F161-156E-4802-8F1B-078DF89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416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FA8AAD-C4A1-48ED-8D79-3AB4069F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D2D865-A902-4D7C-A0B5-B2C4BB195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C5CC91-7444-4FBB-B6F3-3E6FBD5B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05772A-E403-4DD1-B232-954A3547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89E5D0-757E-45AA-8FEA-238040FB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23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401FF8-98E7-49CB-8B33-E139EF39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F8276E-A998-4BB7-B53A-49EC37A41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53073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5672645-DFF8-41C8-8BAC-5F24D188F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4"/>
            <a:ext cx="3886200" cy="453072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3C31C8-960E-4A18-BC09-35D75D58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E33D9D5-2EC6-4E2A-AA85-6FCF97D6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F1E174-D347-4AB1-95DE-ECA0F485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11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E112A9-1FE6-4496-81B4-0842D25D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012830"/>
            <a:ext cx="7886700" cy="1325563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F9BFB9E-5D3E-46B3-ABDB-B7E57DAC6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6502C15-7789-4EE7-A643-5A633ABA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85128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6F85072-0475-4304-BE03-A72EA7AC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F1610A2-3C29-4B70-AF60-C2A3EBCE3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505074"/>
            <a:ext cx="3887391" cy="385127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2C164E5-0EFB-46F1-BB95-CBBAC80C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FD1153-99E6-4ECA-BF33-0E377D3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6282298-48D6-4F29-8798-A54B0577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021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95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8" name="Graf 7">
            <a:extLst>
              <a:ext uri="{FF2B5EF4-FFF2-40B4-BE49-F238E27FC236}">
                <a16:creationId xmlns:a16="http://schemas.microsoft.com/office/drawing/2014/main" id="{A2CFF3E3-BFCF-4550-86A1-C1FA2629A69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058343424"/>
              </p:ext>
            </p:extLst>
          </p:nvPr>
        </p:nvGraphicFramePr>
        <p:xfrm>
          <a:off x="628652" y="1990725"/>
          <a:ext cx="7779543" cy="4147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60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2415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5" name="Tabulka 5">
            <a:extLst>
              <a:ext uri="{FF2B5EF4-FFF2-40B4-BE49-F238E27FC236}">
                <a16:creationId xmlns:a16="http://schemas.microsoft.com/office/drawing/2014/main" id="{9841DB2C-4E87-4F77-9936-DB53842AFF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49251074"/>
              </p:ext>
            </p:extLst>
          </p:nvPr>
        </p:nvGraphicFramePr>
        <p:xfrm>
          <a:off x="731521" y="2152650"/>
          <a:ext cx="7581899" cy="360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525">
                  <a:extLst>
                    <a:ext uri="{9D8B030D-6E8A-4147-A177-3AD203B41FA5}">
                      <a16:colId xmlns:a16="http://schemas.microsoft.com/office/drawing/2014/main" val="1219353005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463552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36048962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24215458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4556206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0406489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769508777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3799914238"/>
                    </a:ext>
                  </a:extLst>
                </a:gridCol>
                <a:gridCol w="857699">
                  <a:extLst>
                    <a:ext uri="{9D8B030D-6E8A-4147-A177-3AD203B41FA5}">
                      <a16:colId xmlns:a16="http://schemas.microsoft.com/office/drawing/2014/main" val="1835371581"/>
                    </a:ext>
                  </a:extLst>
                </a:gridCol>
              </a:tblGrid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0454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12970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3975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37182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19941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095225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94286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2544"/>
                  </a:ext>
                </a:extLst>
              </a:tr>
            </a:tbl>
          </a:graphicData>
        </a:graphic>
      </p:graphicFrame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92661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75CB4D-7416-4123-83CE-C769D1CE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0998F7-E90D-471F-891C-0FD12349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0F5FE98-251D-4D3C-B8B7-DADD6DEB8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90EA42-058E-4D22-B615-D930D64C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78A484A-2BA3-41B7-86CF-5D3F930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1B4CD1-4B53-455D-AE40-D95A24E4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01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697884-28AE-4700-9C13-68750D3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173077C-429C-4C0E-8F05-9FFAC62D1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844AFA-992F-4BE4-ABDB-10F592A44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0442129-45B5-4C81-B28A-AA85D4F4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12F59-4F02-4916-92FC-440DB3FE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893627A-E54A-4DF9-9A32-88F06F6E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021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5.png"/><Relationship Id="rId18" Type="http://schemas.openxmlformats.org/officeDocument/2006/relationships/image" Target="../media/image10.sv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6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719039ED-503B-4BFC-8729-F0E04FD071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450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4A4A4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D3D61E27-7486-4CBD-80A0-7CDBAF7D7A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23.01.2026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597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89F7E2"/>
        </a:buClr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cký objekt 13">
            <a:extLst>
              <a:ext uri="{FF2B5EF4-FFF2-40B4-BE49-F238E27FC236}">
                <a16:creationId xmlns:a16="http://schemas.microsoft.com/office/drawing/2014/main" id="{1664D167-1933-44B8-9DE6-BCF4B4ADB8D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4125" y="8313"/>
            <a:ext cx="9148126" cy="6858000"/>
          </a:xfrm>
          <a:prstGeom prst="rect">
            <a:avLst/>
          </a:prstGeom>
        </p:spPr>
      </p:pic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D89BE277-1B57-4A04-A616-0D6719FD6A1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46539" y="360307"/>
            <a:ext cx="179594" cy="179594"/>
          </a:xfrm>
          <a:prstGeom prst="rect">
            <a:avLst/>
          </a:prstGeom>
        </p:spPr>
      </p:pic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3CE1673A-F13A-49C1-A0F3-7628437F7F9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84010" y="360307"/>
            <a:ext cx="179594" cy="179594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7A972C7-80EA-4001-A2C8-48457C78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4A64F96-20EB-4338-812A-2CF45FA8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924055"/>
            <a:ext cx="7779544" cy="4191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49455D-C2AF-42AF-A377-1FD957033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29ADC-2255-4EF3-B5C0-B90829E78CD9}" type="datetimeFigureOut">
              <a:rPr lang="cs-CZ" smtClean="0"/>
              <a:pPr/>
              <a:t>23.01.2026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38892D-BE40-4B7B-98A7-1B108AC51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406528-E83B-4FF2-81FD-6E1ED0DE8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25530" y="6356355"/>
            <a:ext cx="1982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5CA258-668E-4A85-A197-2757C3BEE154}" type="slidenum">
              <a:rPr lang="cs-CZ" smtClean="0"/>
              <a:pPr/>
              <a:t>‹#›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ástupný nadpis 1">
            <a:extLst>
              <a:ext uri="{FF2B5EF4-FFF2-40B4-BE49-F238E27FC236}">
                <a16:creationId xmlns:a16="http://schemas.microsoft.com/office/drawing/2014/main" id="{6CADA8D1-4B1D-49C0-B645-EB5D43487BC1}"/>
              </a:ext>
            </a:extLst>
          </p:cNvPr>
          <p:cNvSpPr txBox="1">
            <a:spLocks/>
          </p:cNvSpPr>
          <p:nvPr userDrawn="1"/>
        </p:nvSpPr>
        <p:spPr>
          <a:xfrm>
            <a:off x="8815389" y="6436824"/>
            <a:ext cx="416717" cy="452926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5BC4F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fld id="{166024C8-F27F-4469-B950-3CAEC9128C7E}" type="slidenum">
              <a:rPr lang="cs-CZ" sz="1100" smtClean="0">
                <a:solidFill>
                  <a:schemeClr val="bg1"/>
                </a:solidFill>
              </a:rPr>
              <a:pPr algn="ctr"/>
              <a:t>‹#›</a:t>
            </a:fld>
            <a:endParaRPr lang="cs-CZ" sz="3200" dirty="0">
              <a:solidFill>
                <a:schemeClr val="bg1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CDCD643-C700-45E8-8816-DD3D4AEF500E}"/>
              </a:ext>
            </a:extLst>
          </p:cNvPr>
          <p:cNvSpPr txBox="1"/>
          <p:nvPr userDrawn="1"/>
        </p:nvSpPr>
        <p:spPr>
          <a:xfrm>
            <a:off x="6722748" y="299366"/>
            <a:ext cx="963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fis.vse.cz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68403B65-A3E4-4EA5-A348-D73A327280A2}"/>
              </a:ext>
            </a:extLst>
          </p:cNvPr>
          <p:cNvSpPr txBox="1"/>
          <p:nvPr userDrawn="1"/>
        </p:nvSpPr>
        <p:spPr>
          <a:xfrm>
            <a:off x="7851988" y="299366"/>
            <a:ext cx="1195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 err="1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fisvse</a:t>
            </a:r>
            <a:endParaRPr lang="cs-CZ" sz="1600" dirty="0">
              <a:solidFill>
                <a:srgbClr val="0098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0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72" r:id="rId7"/>
    <p:sldLayoutId id="2147483669" r:id="rId8"/>
    <p:sldLayoutId id="2147483673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00988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10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jpmiller/police-violence-in-the-us?resource=download&amp;select=shootings_wash_post.csv" TargetMode="External"/><Relationship Id="rId2" Type="http://schemas.openxmlformats.org/officeDocument/2006/relationships/hyperlink" Target="https://www.kaggle.com/datasets/jpmiller/police-violence-racial-equity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1">
            <a:extLst>
              <a:ext uri="{FF2B5EF4-FFF2-40B4-BE49-F238E27FC236}">
                <a16:creationId xmlns:a16="http://schemas.microsoft.com/office/drawing/2014/main" id="{FDA0EE84-57A3-437C-B722-52ACFBB5E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91" y="2428716"/>
            <a:ext cx="7908788" cy="3250932"/>
          </a:xfrm>
        </p:spPr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Analýza vztahu mezi rozpočty měst na policii a počtem policejních střeleb v USA</a:t>
            </a:r>
            <a:endParaRPr lang="cs-CZ" dirty="0"/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E29E5E70-22CD-4E96-8CAB-90368F65564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0" y="662940"/>
            <a:ext cx="3984915" cy="5191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050" dirty="0">
                <a:latin typeface="Arial"/>
                <a:cs typeface="Arial"/>
              </a:rPr>
              <a:t>Josef Gajda</a:t>
            </a:r>
            <a:endParaRPr lang="cs-CZ" sz="1050" dirty="0"/>
          </a:p>
        </p:txBody>
      </p:sp>
      <p:sp>
        <p:nvSpPr>
          <p:cNvPr id="9" name="Zástupný text 4">
            <a:extLst>
              <a:ext uri="{FF2B5EF4-FFF2-40B4-BE49-F238E27FC236}">
                <a16:creationId xmlns:a16="http://schemas.microsoft.com/office/drawing/2014/main" id="{C9002A16-94F7-4B76-9824-2D769080A3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38009" y="1030911"/>
            <a:ext cx="3718906" cy="3116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Studijní program: Informační management</a:t>
            </a:r>
            <a:endParaRPr lang="cs-CZ" dirty="0"/>
          </a:p>
        </p:txBody>
      </p:sp>
      <p:sp>
        <p:nvSpPr>
          <p:cNvPr id="2" name="Zástupný text 4">
            <a:extLst>
              <a:ext uri="{FF2B5EF4-FFF2-40B4-BE49-F238E27FC236}">
                <a16:creationId xmlns:a16="http://schemas.microsoft.com/office/drawing/2014/main" id="{6DC8903B-1E09-1F86-58A9-F8FAB7A289F8}"/>
              </a:ext>
            </a:extLst>
          </p:cNvPr>
          <p:cNvSpPr txBox="1">
            <a:spLocks/>
          </p:cNvSpPr>
          <p:nvPr/>
        </p:nvSpPr>
        <p:spPr>
          <a:xfrm>
            <a:off x="4838009" y="1402766"/>
            <a:ext cx="3718906" cy="3116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685783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881"/>
              </a:buClr>
              <a:buFont typeface="Arial" panose="020B0604020202020204" pitchFamily="34" charset="0"/>
              <a:buNone/>
              <a:defRPr sz="1400" kern="1200">
                <a:solidFill>
                  <a:srgbClr val="4A4A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892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783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28675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566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714457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348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240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132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latin typeface="Arial"/>
                <a:cs typeface="Arial"/>
              </a:rPr>
              <a:t>Datum: 23.01.2025</a:t>
            </a:r>
          </a:p>
        </p:txBody>
      </p:sp>
    </p:spTree>
    <p:extLst>
      <p:ext uri="{BB962C8B-B14F-4D97-AF65-F5344CB8AC3E}">
        <p14:creationId xmlns:p14="http://schemas.microsoft.com/office/powerpoint/2010/main" val="378654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98B41-9007-2A18-1DCF-E4FDB13B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03128E-662C-3957-CB07-9F4A60E4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 </a:t>
            </a:r>
            <a:r>
              <a:rPr lang="cs-CZ" dirty="0"/>
              <a:t>řešené oblasti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B03FD0-6621-58F3-A6B7-A35FC5792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cs-CZ" sz="24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Cílem projektu je analyzovat faktory ovlivňující četnost a geografické rozložení policejních střeleb v USA.</a:t>
            </a:r>
          </a:p>
          <a:p>
            <a:pPr marL="0" indent="0">
              <a:buNone/>
            </a:pPr>
            <a:endParaRPr lang="cs-CZ" sz="2400" dirty="0">
              <a:ea typeface="Calibri"/>
            </a:endParaRPr>
          </a:p>
          <a:p>
            <a:pPr marL="170815" indent="-170815"/>
            <a:r>
              <a:rPr lang="cs-CZ" sz="24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Analýza zkoumá možné souvislosti mezi výší rozpočtů na policii a počtem zaznamenaných střeleb.</a:t>
            </a:r>
          </a:p>
        </p:txBody>
      </p:sp>
    </p:spTree>
    <p:extLst>
      <p:ext uri="{BB962C8B-B14F-4D97-AF65-F5344CB8AC3E}">
        <p14:creationId xmlns:p14="http://schemas.microsoft.com/office/powerpoint/2010/main" val="419602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884874-F762-BBB2-6344-B465A582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9996"/>
            <a:ext cx="7779544" cy="689952"/>
          </a:xfrm>
        </p:spPr>
        <p:txBody>
          <a:bodyPr/>
          <a:lstStyle/>
          <a:p>
            <a:r>
              <a:rPr lang="cs-CZ" dirty="0"/>
              <a:t>Popis dat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210CE7-DD47-D932-2B13-1C4EB1980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70" y="1394460"/>
            <a:ext cx="7962424" cy="488580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dirty="0">
                <a:latin typeface="Arial"/>
                <a:cs typeface="Arial"/>
              </a:rPr>
              <a:t>V analýze kombinujeme dvě datové sady:</a:t>
            </a:r>
            <a:endParaRPr lang="cs-CZ" sz="1800"/>
          </a:p>
          <a:p>
            <a:pPr marL="685800" indent="-342900"/>
            <a:r>
              <a:rPr lang="cs-CZ" sz="1800" b="1" err="1">
                <a:latin typeface="Arial"/>
                <a:cs typeface="Arial"/>
              </a:rPr>
              <a:t>Budgets</a:t>
            </a:r>
            <a:r>
              <a:rPr lang="cs-CZ" sz="1800" b="1" dirty="0">
                <a:latin typeface="Arial"/>
                <a:cs typeface="Arial"/>
              </a:rPr>
              <a:t> (City </a:t>
            </a:r>
            <a:r>
              <a:rPr lang="cs-CZ" sz="1800" b="1" err="1">
                <a:latin typeface="Arial"/>
                <a:cs typeface="Arial"/>
              </a:rPr>
              <a:t>Budgets</a:t>
            </a:r>
            <a:r>
              <a:rPr lang="cs-CZ" sz="1800" b="1" dirty="0">
                <a:latin typeface="Arial"/>
                <a:cs typeface="Arial"/>
              </a:rPr>
              <a:t> </a:t>
            </a:r>
            <a:r>
              <a:rPr lang="cs-CZ" sz="1800" b="1" err="1">
                <a:latin typeface="Arial"/>
                <a:cs typeface="Arial"/>
              </a:rPr>
              <a:t>Dataset</a:t>
            </a:r>
            <a:r>
              <a:rPr lang="cs-CZ" sz="1800" b="1" dirty="0">
                <a:latin typeface="Arial"/>
                <a:cs typeface="Arial"/>
              </a:rPr>
              <a:t>)</a:t>
            </a:r>
          </a:p>
          <a:p>
            <a:pPr marL="1028700" lvl="1" indent="-342900"/>
            <a:r>
              <a:rPr lang="cs-CZ" sz="1400" dirty="0">
                <a:latin typeface="Arial"/>
                <a:cs typeface="Arial"/>
              </a:rPr>
              <a:t>Obsahuje rozpočty amerických měst rozdělené podle </a:t>
            </a:r>
            <a:r>
              <a:rPr lang="cs-CZ" sz="1400" i="0" dirty="0">
                <a:effectLst/>
                <a:latin typeface="Arial"/>
                <a:cs typeface="Arial"/>
              </a:rPr>
              <a:t>jednotlivých </a:t>
            </a:r>
            <a:r>
              <a:rPr lang="cs-CZ" sz="1400" dirty="0">
                <a:latin typeface="Arial"/>
                <a:cs typeface="Arial"/>
              </a:rPr>
              <a:t>oblastí výdajů</a:t>
            </a:r>
            <a:r>
              <a:rPr lang="cs-CZ" sz="1400" i="0" dirty="0">
                <a:effectLst/>
                <a:latin typeface="Arial"/>
                <a:cs typeface="Arial"/>
              </a:rPr>
              <a:t>, včetně </a:t>
            </a:r>
            <a:r>
              <a:rPr lang="cs-CZ" sz="1400" dirty="0">
                <a:latin typeface="Arial"/>
                <a:cs typeface="Arial"/>
              </a:rPr>
              <a:t>položek na financování policie</a:t>
            </a:r>
            <a:r>
              <a:rPr lang="cs-CZ" sz="1400" b="1" dirty="0">
                <a:latin typeface="Arial"/>
                <a:cs typeface="Arial"/>
              </a:rPr>
              <a:t> (</a:t>
            </a:r>
            <a:r>
              <a:rPr lang="cs-CZ" sz="1400" i="1" err="1">
                <a:latin typeface="Arial"/>
                <a:cs typeface="Arial"/>
              </a:rPr>
              <a:t>police_city</a:t>
            </a:r>
            <a:r>
              <a:rPr lang="cs-CZ" sz="1400" i="1" dirty="0">
                <a:latin typeface="Arial"/>
                <a:cs typeface="Arial"/>
              </a:rPr>
              <a:t>, </a:t>
            </a:r>
            <a:r>
              <a:rPr lang="cs-CZ" sz="1400" i="1" err="1">
                <a:latin typeface="Arial"/>
                <a:cs typeface="Arial"/>
              </a:rPr>
              <a:t>police_cnty</a:t>
            </a:r>
            <a:r>
              <a:rPr lang="cs-CZ" sz="1400" i="1" dirty="0">
                <a:latin typeface="Arial"/>
                <a:cs typeface="Arial"/>
              </a:rPr>
              <a:t>, </a:t>
            </a:r>
            <a:r>
              <a:rPr lang="cs-CZ" sz="1400" i="1" err="1">
                <a:latin typeface="Arial"/>
                <a:cs typeface="Arial"/>
              </a:rPr>
              <a:t>police_schl</a:t>
            </a:r>
            <a:r>
              <a:rPr lang="cs-CZ" sz="1400" i="1" dirty="0">
                <a:latin typeface="Arial"/>
                <a:cs typeface="Arial"/>
              </a:rPr>
              <a:t>, </a:t>
            </a:r>
            <a:r>
              <a:rPr lang="cs-CZ" sz="1400" i="1" err="1">
                <a:latin typeface="Arial"/>
                <a:cs typeface="Arial"/>
              </a:rPr>
              <a:t>police_spec</a:t>
            </a:r>
            <a:r>
              <a:rPr lang="cs-CZ" sz="1400" b="0" i="1" dirty="0">
                <a:effectLst/>
                <a:latin typeface="Arial"/>
                <a:cs typeface="Arial"/>
              </a:rPr>
              <a:t>, </a:t>
            </a:r>
            <a:r>
              <a:rPr lang="cs-CZ" sz="1400" i="1" dirty="0">
                <a:latin typeface="Arial"/>
                <a:cs typeface="Arial"/>
              </a:rPr>
              <a:t>police</a:t>
            </a:r>
            <a:r>
              <a:rPr lang="cs-CZ" sz="1400" dirty="0">
                <a:latin typeface="Arial"/>
                <a:cs typeface="Arial"/>
              </a:rPr>
              <a:t>).</a:t>
            </a:r>
            <a:endParaRPr lang="cs-CZ" sz="1400" b="1" dirty="0">
              <a:latin typeface="Arial"/>
              <a:cs typeface="Arial"/>
            </a:endParaRPr>
          </a:p>
          <a:p>
            <a:pPr marL="1028700" lvl="1" indent="-342900"/>
            <a:r>
              <a:rPr lang="cs-CZ" sz="1400" b="1" dirty="0">
                <a:latin typeface="Arial"/>
                <a:cs typeface="Arial"/>
              </a:rPr>
              <a:t>Zdroj:</a:t>
            </a:r>
            <a:r>
              <a:rPr lang="cs-CZ" sz="1400" dirty="0">
                <a:latin typeface="Arial"/>
                <a:cs typeface="Arial"/>
              </a:rPr>
              <a:t> </a:t>
            </a:r>
            <a:r>
              <a:rPr lang="cs-CZ" sz="1400" dirty="0">
                <a:latin typeface="Arial"/>
                <a:cs typeface="Arial"/>
                <a:hlinkClick r:id="rId2"/>
              </a:rPr>
              <a:t>https://www.kaggle.com/datasets/jpmiller/police-violence-racial-equity</a:t>
            </a:r>
            <a:r>
              <a:rPr lang="cs-CZ" sz="1400" dirty="0">
                <a:latin typeface="Arial"/>
                <a:cs typeface="Arial"/>
              </a:rPr>
              <a:t> </a:t>
            </a:r>
            <a:endParaRPr lang="cs-CZ" sz="1400" i="1">
              <a:latin typeface="Arial"/>
              <a:cs typeface="Arial"/>
            </a:endParaRPr>
          </a:p>
          <a:p>
            <a:pPr marL="1028700" lvl="1" indent="-342900"/>
            <a:r>
              <a:rPr lang="cs-CZ" sz="1400" b="1" err="1">
                <a:latin typeface="Arial"/>
                <a:cs typeface="Arial"/>
              </a:rPr>
              <a:t>Dataset</a:t>
            </a:r>
            <a:r>
              <a:rPr lang="cs-CZ" sz="1400" b="1" dirty="0">
                <a:latin typeface="Arial"/>
                <a:cs typeface="Arial"/>
              </a:rPr>
              <a:t> v rezervě: politics_538.csv</a:t>
            </a:r>
            <a:endParaRPr lang="cs-CZ" sz="1400" dirty="0">
              <a:latin typeface="Arial"/>
              <a:cs typeface="Arial"/>
            </a:endParaRPr>
          </a:p>
          <a:p>
            <a:pPr marL="1371600" lvl="2" indent="-170815">
              <a:buFont typeface="Wingdings" panose="020B0604020202020204" pitchFamily="34" charset="0"/>
              <a:buChar char="§"/>
            </a:pPr>
            <a:r>
              <a:rPr lang="cs-CZ" sz="1200" b="1" dirty="0">
                <a:latin typeface="Arial"/>
                <a:cs typeface="Arial"/>
              </a:rPr>
              <a:t>Zdroj: </a:t>
            </a:r>
            <a:r>
              <a:rPr lang="cs-CZ" sz="1200" dirty="0">
                <a:latin typeface="Arial"/>
                <a:cs typeface="Arial"/>
                <a:hlinkClick r:id="rId2"/>
              </a:rPr>
              <a:t>https://www.kaggle.com/datasets/jpmiller/police-violence-racial-equity</a:t>
            </a:r>
            <a:r>
              <a:rPr lang="cs-CZ" sz="1200" dirty="0">
                <a:latin typeface="Arial"/>
                <a:cs typeface="Arial"/>
              </a:rPr>
              <a:t> </a:t>
            </a:r>
            <a:endParaRPr lang="cs-CZ" sz="1200" b="1" dirty="0">
              <a:latin typeface="Arial"/>
              <a:cs typeface="Arial"/>
            </a:endParaRPr>
          </a:p>
          <a:p>
            <a:pPr marL="1371600" lvl="2" indent="-170815">
              <a:buFont typeface="Wingdings" panose="020B0604020202020204" pitchFamily="34" charset="0"/>
              <a:buChar char="§"/>
            </a:pPr>
            <a:r>
              <a:rPr lang="cs-CZ" sz="1200" dirty="0">
                <a:latin typeface="Arial"/>
                <a:cs typeface="Arial"/>
              </a:rPr>
              <a:t>Politické preference a segregace v metropolitních oblastech.</a:t>
            </a:r>
          </a:p>
          <a:p>
            <a:pPr marL="1371600" lvl="2" indent="-170815">
              <a:buFont typeface="Wingdings" panose="020B0604020202020204" pitchFamily="34" charset="0"/>
              <a:buChar char="§"/>
            </a:pPr>
            <a:r>
              <a:rPr lang="cs-CZ" sz="1200" dirty="0">
                <a:latin typeface="Arial"/>
                <a:cs typeface="Arial"/>
              </a:rPr>
              <a:t>Propojení 1:n s hodnotou </a:t>
            </a:r>
            <a:r>
              <a:rPr lang="cs-CZ" sz="1200" b="1" dirty="0">
                <a:latin typeface="Arial"/>
                <a:cs typeface="Arial"/>
              </a:rPr>
              <a:t>Area </a:t>
            </a:r>
            <a:r>
              <a:rPr lang="cs-CZ" sz="1200" dirty="0">
                <a:latin typeface="Arial"/>
                <a:cs typeface="Arial"/>
              </a:rPr>
              <a:t>s </a:t>
            </a:r>
            <a:r>
              <a:rPr lang="cs-CZ" sz="1200" err="1">
                <a:latin typeface="Arial"/>
                <a:cs typeface="Arial"/>
              </a:rPr>
              <a:t>dataset</a:t>
            </a:r>
            <a:r>
              <a:rPr lang="cs-CZ" sz="1200" dirty="0">
                <a:latin typeface="Arial"/>
                <a:cs typeface="Arial"/>
              </a:rPr>
              <a:t> police </a:t>
            </a:r>
            <a:r>
              <a:rPr lang="cs-CZ" sz="1200" b="1" err="1">
                <a:latin typeface="Arial"/>
                <a:cs typeface="Arial"/>
              </a:rPr>
              <a:t>shooting</a:t>
            </a:r>
            <a:r>
              <a:rPr lang="cs-CZ" sz="1200" b="1" dirty="0">
                <a:latin typeface="Arial"/>
                <a:cs typeface="Arial"/>
              </a:rPr>
              <a:t> s city + </a:t>
            </a:r>
            <a:r>
              <a:rPr lang="cs-CZ" sz="1200" b="1" err="1">
                <a:latin typeface="Arial"/>
                <a:cs typeface="Arial"/>
              </a:rPr>
              <a:t>state</a:t>
            </a:r>
            <a:endParaRPr lang="cs-CZ" sz="1200" b="1">
              <a:latin typeface="Arial"/>
              <a:cs typeface="Arial"/>
            </a:endParaRPr>
          </a:p>
          <a:p>
            <a:pPr marL="513715" lvl="1" indent="-170815"/>
            <a:r>
              <a:rPr lang="cs-CZ" b="1" dirty="0">
                <a:latin typeface="Arial"/>
                <a:cs typeface="Arial"/>
              </a:rPr>
              <a:t>Police </a:t>
            </a:r>
            <a:r>
              <a:rPr lang="cs-CZ" b="1" err="1">
                <a:latin typeface="Arial"/>
                <a:cs typeface="Arial"/>
              </a:rPr>
              <a:t>Shootings</a:t>
            </a:r>
            <a:r>
              <a:rPr lang="cs-CZ" b="1" dirty="0">
                <a:latin typeface="Arial"/>
                <a:cs typeface="Arial"/>
              </a:rPr>
              <a:t> – </a:t>
            </a:r>
            <a:r>
              <a:rPr lang="cs-CZ" b="1" err="1">
                <a:latin typeface="Arial"/>
                <a:cs typeface="Arial"/>
              </a:rPr>
              <a:t>The</a:t>
            </a:r>
            <a:r>
              <a:rPr lang="cs-CZ" b="1" dirty="0">
                <a:latin typeface="Arial"/>
                <a:cs typeface="Arial"/>
              </a:rPr>
              <a:t> Washington Post </a:t>
            </a:r>
            <a:r>
              <a:rPr lang="cs-CZ" b="1" err="1">
                <a:latin typeface="Arial"/>
                <a:cs typeface="Arial"/>
              </a:rPr>
              <a:t>Dataset</a:t>
            </a:r>
            <a:endParaRPr lang="cs-CZ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Zaznamenává případy policejních střeleb </a:t>
            </a:r>
            <a:r>
              <a:rPr lang="cs-CZ" sz="1600" i="0" dirty="0">
                <a:effectLst/>
                <a:latin typeface="Arial"/>
                <a:cs typeface="Arial"/>
              </a:rPr>
              <a:t>v USA, včetně </a:t>
            </a:r>
            <a:r>
              <a:rPr lang="cs-CZ" sz="1600" dirty="0">
                <a:latin typeface="Arial"/>
                <a:cs typeface="Arial"/>
              </a:rPr>
              <a:t>informací o obětech, datu</a:t>
            </a:r>
            <a:r>
              <a:rPr lang="cs-CZ" sz="1600" i="0" dirty="0">
                <a:effectLst/>
                <a:latin typeface="Arial"/>
                <a:cs typeface="Arial"/>
              </a:rPr>
              <a:t>, </a:t>
            </a:r>
            <a:r>
              <a:rPr lang="cs-CZ" sz="1600" dirty="0">
                <a:latin typeface="Arial"/>
                <a:cs typeface="Arial"/>
              </a:rPr>
              <a:t>místě incidentu</a:t>
            </a:r>
            <a:r>
              <a:rPr lang="cs-CZ" sz="1600" i="0" dirty="0">
                <a:effectLst/>
                <a:latin typeface="Arial"/>
                <a:cs typeface="Arial"/>
              </a:rPr>
              <a:t>, </a:t>
            </a:r>
            <a:r>
              <a:rPr lang="cs-CZ" sz="1600" dirty="0">
                <a:latin typeface="Arial"/>
                <a:cs typeface="Arial"/>
              </a:rPr>
              <a:t>okolnostech </a:t>
            </a:r>
            <a:r>
              <a:rPr lang="cs-CZ" sz="1600" i="0" dirty="0">
                <a:effectLst/>
                <a:latin typeface="Arial"/>
                <a:cs typeface="Arial"/>
              </a:rPr>
              <a:t>a </a:t>
            </a:r>
            <a:r>
              <a:rPr lang="cs-CZ" sz="1600" dirty="0">
                <a:latin typeface="Arial"/>
                <a:cs typeface="Arial"/>
              </a:rPr>
              <a:t>demografických údajích.</a:t>
            </a:r>
            <a:endParaRPr lang="cs-CZ" sz="160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b="1" dirty="0">
                <a:latin typeface="Arial"/>
                <a:cs typeface="Arial"/>
              </a:rPr>
              <a:t>Zdroj: </a:t>
            </a:r>
            <a:r>
              <a:rPr lang="cs-CZ" sz="1600" dirty="0">
                <a:latin typeface="Arial"/>
                <a:cs typeface="Arial"/>
                <a:hlinkClick r:id="rId3"/>
              </a:rPr>
              <a:t>https://www.kaggle.com/datasets/jpmiller/police-violence-in-the-us?resource=download&amp;select=shootings_wash_post.csv</a:t>
            </a:r>
            <a:r>
              <a:rPr lang="cs-CZ" sz="1600" dirty="0">
                <a:latin typeface="Arial"/>
                <a:cs typeface="Arial"/>
              </a:rPr>
              <a:t> </a:t>
            </a:r>
            <a:endParaRPr lang="cs-CZ" sz="1600" i="1"/>
          </a:p>
          <a:p>
            <a:pPr marL="170815" indent="-170815"/>
            <a:r>
              <a:rPr lang="cs-CZ" sz="1800" b="0" i="0" dirty="0">
                <a:effectLst/>
                <a:latin typeface="Arial"/>
                <a:cs typeface="Arial"/>
              </a:rPr>
              <a:t>Tyto </a:t>
            </a:r>
            <a:r>
              <a:rPr lang="cs-CZ" sz="1800" b="0" i="0" err="1">
                <a:effectLst/>
                <a:latin typeface="Arial"/>
                <a:cs typeface="Arial"/>
              </a:rPr>
              <a:t>datasety</a:t>
            </a:r>
            <a:r>
              <a:rPr lang="cs-CZ" sz="1800" b="0" i="0" dirty="0">
                <a:effectLst/>
                <a:latin typeface="Arial"/>
                <a:cs typeface="Arial"/>
              </a:rPr>
              <a:t> </a:t>
            </a:r>
            <a:r>
              <a:rPr lang="cs-CZ" sz="1800" dirty="0">
                <a:latin typeface="Arial"/>
                <a:cs typeface="Arial"/>
              </a:rPr>
              <a:t>kombinujeme </a:t>
            </a:r>
            <a:r>
              <a:rPr lang="cs-CZ" sz="1800" b="0" i="0" dirty="0">
                <a:effectLst/>
                <a:latin typeface="Arial"/>
                <a:cs typeface="Arial"/>
              </a:rPr>
              <a:t>na základě </a:t>
            </a:r>
            <a:r>
              <a:rPr lang="cs-CZ" sz="1800" b="1" i="0" dirty="0">
                <a:effectLst/>
                <a:latin typeface="Arial"/>
                <a:cs typeface="Arial"/>
              </a:rPr>
              <a:t>názvu </a:t>
            </a:r>
            <a:r>
              <a:rPr lang="cs-CZ" sz="1800" b="1" dirty="0">
                <a:latin typeface="Arial"/>
                <a:cs typeface="Arial"/>
              </a:rPr>
              <a:t>města </a:t>
            </a:r>
            <a:r>
              <a:rPr lang="cs-CZ" sz="1800" b="1" i="0" dirty="0">
                <a:effectLst/>
                <a:latin typeface="Arial"/>
                <a:cs typeface="Arial"/>
              </a:rPr>
              <a:t>(</a:t>
            </a:r>
            <a:r>
              <a:rPr lang="cs-CZ" sz="1800" b="1" dirty="0">
                <a:latin typeface="Arial"/>
                <a:cs typeface="Arial"/>
              </a:rPr>
              <a:t>city + </a:t>
            </a:r>
            <a:r>
              <a:rPr lang="cs-CZ" sz="1800" b="1" err="1">
                <a:latin typeface="Arial"/>
                <a:cs typeface="Arial"/>
              </a:rPr>
              <a:t>state</a:t>
            </a:r>
            <a:r>
              <a:rPr lang="cs-CZ" sz="1800" b="1" dirty="0">
                <a:latin typeface="Arial"/>
                <a:cs typeface="Arial"/>
              </a:rPr>
              <a:t> a </a:t>
            </a:r>
            <a:r>
              <a:rPr lang="cs-CZ" sz="1800" b="1" err="1">
                <a:latin typeface="Arial"/>
                <a:cs typeface="Arial"/>
              </a:rPr>
              <a:t>city_name</a:t>
            </a:r>
            <a:r>
              <a:rPr lang="cs-CZ" sz="1800" b="1" dirty="0">
                <a:latin typeface="Arial"/>
                <a:cs typeface="Arial"/>
              </a:rPr>
              <a:t>)</a:t>
            </a:r>
            <a:r>
              <a:rPr lang="cs-CZ" sz="1800" dirty="0">
                <a:latin typeface="Arial"/>
                <a:cs typeface="Arial"/>
              </a:rPr>
              <a:t>. Vztah </a:t>
            </a:r>
            <a:r>
              <a:rPr lang="cs-CZ" sz="1800" b="0" i="0" dirty="0">
                <a:effectLst/>
                <a:latin typeface="Arial"/>
                <a:cs typeface="Arial"/>
              </a:rPr>
              <a:t>mezi </a:t>
            </a:r>
            <a:r>
              <a:rPr lang="cs-CZ" sz="1800" dirty="0">
                <a:latin typeface="Arial"/>
                <a:cs typeface="Arial"/>
              </a:rPr>
              <a:t>městy </a:t>
            </a:r>
            <a:r>
              <a:rPr lang="cs-CZ" sz="1800" b="0" i="0" dirty="0">
                <a:effectLst/>
                <a:latin typeface="Arial"/>
                <a:cs typeface="Arial"/>
              </a:rPr>
              <a:t>a </a:t>
            </a:r>
            <a:r>
              <a:rPr lang="cs-CZ" sz="1800" dirty="0">
                <a:latin typeface="Arial"/>
                <a:cs typeface="Arial"/>
              </a:rPr>
              <a:t>policejními střelbami je </a:t>
            </a:r>
            <a:r>
              <a:rPr lang="cs-CZ" sz="1800" b="1" dirty="0">
                <a:latin typeface="Arial"/>
                <a:cs typeface="Arial"/>
              </a:rPr>
              <a:t>1:N</a:t>
            </a:r>
            <a:r>
              <a:rPr lang="cs-CZ" sz="1800" dirty="0">
                <a:latin typeface="Arial"/>
                <a:cs typeface="Arial"/>
              </a:rPr>
              <a:t> – jedno město může obsahovat </a:t>
            </a:r>
            <a:r>
              <a:rPr lang="cs-CZ" sz="1800" b="1" dirty="0">
                <a:latin typeface="Arial"/>
                <a:cs typeface="Arial"/>
              </a:rPr>
              <a:t>více zaznamenaných incidentů</a:t>
            </a:r>
            <a:r>
              <a:rPr lang="cs-CZ" sz="1800" b="0" i="0" dirty="0">
                <a:effectLst/>
                <a:latin typeface="Arial"/>
                <a:cs typeface="Arial"/>
              </a:rPr>
              <a:t>.</a:t>
            </a:r>
            <a:endParaRPr lang="cs-CZ" sz="1800" dirty="0"/>
          </a:p>
        </p:txBody>
      </p:sp>
    </p:spTree>
    <p:extLst>
      <p:ext uri="{BB962C8B-B14F-4D97-AF65-F5344CB8AC3E}">
        <p14:creationId xmlns:p14="http://schemas.microsoft.com/office/powerpoint/2010/main" val="281971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EB531-3A94-C98E-1764-7CBBAFDB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535FCF-A78B-432A-CA41-751A432A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Arial"/>
                <a:cs typeface="Arial"/>
              </a:rPr>
              <a:t>Obecně řešená problematika</a:t>
            </a:r>
            <a:endParaRPr lang="cs-CZ" dirty="0"/>
          </a:p>
          <a:p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37E10B-9BA1-22A8-9CB4-0358D44EC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457200" indent="-457200">
              <a:buAutoNum type="arabicPeriod"/>
            </a:pPr>
            <a:r>
              <a:rPr lang="cs-CZ" sz="2400" b="1" dirty="0">
                <a:solidFill>
                  <a:srgbClr val="000000"/>
                </a:solidFill>
                <a:latin typeface="Arial"/>
                <a:cs typeface="Arial"/>
              </a:rPr>
              <a:t>Vliv rozpočtů na četnost střeleb</a:t>
            </a: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 – Ověření, zda výše rozpočtu města na policii ovlivňuje počet zaznamenaných střeleb.</a:t>
            </a:r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endParaRPr lang="cs-CZ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cs-CZ" sz="2400" b="1" dirty="0">
                <a:solidFill>
                  <a:srgbClr val="000000"/>
                </a:solidFill>
                <a:latin typeface="Arial"/>
                <a:cs typeface="Arial"/>
              </a:rPr>
              <a:t>Faktory ovlivňující okolnosti střeleb</a:t>
            </a: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 – Identifikace klíčových prvků, které souvisejí s charakterem incidentů (např</a:t>
            </a:r>
            <a:r>
              <a:rPr lang="cs-CZ" sz="24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.</a:t>
            </a: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 duševní nemoc, ozbrojení).</a:t>
            </a:r>
            <a:endParaRPr lang="cs-CZ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endParaRPr lang="cs-CZ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cs-CZ" sz="2400" b="1" dirty="0">
                <a:solidFill>
                  <a:srgbClr val="000000"/>
                </a:solidFill>
                <a:latin typeface="Arial"/>
                <a:cs typeface="Arial"/>
              </a:rPr>
              <a:t>Geografická distribuce střeleb</a:t>
            </a: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 – Rozložení střeleb v závislosti na rozpočtech a demografických faktorech (např. podle států a měst).</a:t>
            </a:r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cs-CZ" sz="2400" b="1" dirty="0">
                <a:latin typeface="Arial"/>
                <a:cs typeface="Arial"/>
              </a:rPr>
              <a:t>Demografické a situační faktory</a:t>
            </a:r>
            <a:r>
              <a:rPr lang="cs-CZ" sz="2400" dirty="0">
                <a:latin typeface="Arial"/>
                <a:cs typeface="Arial"/>
              </a:rPr>
              <a:t> – Analýza rasového složení obětí a okolností střeleb (ozbrojení, duševní nemoc, </a:t>
            </a:r>
            <a:r>
              <a:rPr lang="cs-CZ" sz="2400" dirty="0" err="1">
                <a:latin typeface="Arial"/>
                <a:cs typeface="Arial"/>
              </a:rPr>
              <a:t>threat</a:t>
            </a:r>
            <a:r>
              <a:rPr lang="cs-CZ" sz="2400" dirty="0">
                <a:latin typeface="Arial"/>
                <a:cs typeface="Arial"/>
              </a:rPr>
              <a:t> level, </a:t>
            </a:r>
            <a:r>
              <a:rPr lang="cs-CZ" sz="2400" dirty="0" err="1">
                <a:latin typeface="Arial"/>
                <a:cs typeface="Arial"/>
              </a:rPr>
              <a:t>flee</a:t>
            </a:r>
            <a:r>
              <a:rPr lang="cs-CZ" sz="2400" dirty="0">
                <a:latin typeface="Arial"/>
                <a:cs typeface="Arial"/>
              </a:rPr>
              <a:t> </a:t>
            </a:r>
            <a:r>
              <a:rPr lang="cs-CZ" sz="2400" dirty="0" err="1">
                <a:latin typeface="Arial"/>
                <a:cs typeface="Arial"/>
              </a:rPr>
              <a:t>behavior</a:t>
            </a:r>
            <a:r>
              <a:rPr lang="cs-CZ" sz="2400" dirty="0">
                <a:latin typeface="Arial"/>
                <a:cs typeface="Arial"/>
              </a:rPr>
              <a:t>, body </a:t>
            </a:r>
            <a:r>
              <a:rPr lang="cs-CZ" sz="2400" dirty="0" err="1">
                <a:latin typeface="Arial"/>
                <a:cs typeface="Arial"/>
              </a:rPr>
              <a:t>cameras</a:t>
            </a:r>
            <a:r>
              <a:rPr lang="cs-CZ" sz="2400" dirty="0">
                <a:latin typeface="Arial"/>
                <a:cs typeface="Arial"/>
              </a:rPr>
              <a:t>).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48380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7BF2E-2AB9-A8FB-03C5-8728F901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742DEB-8846-2D0E-09BA-ABCD9C5FB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analýzy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0D4454-B025-E60E-9BD8-C5222B905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Identifikovat vztah mezi výší policejních rozpočtů měst a četností policejních střeleb v USA</a:t>
            </a:r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endParaRPr lang="cs-CZ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Analyzovat geografické </a:t>
            </a:r>
            <a:r>
              <a:rPr lang="cs-CZ" sz="24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a </a:t>
            </a: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demografické vzorce policejních střeleb včetně rasového složení obětí</a:t>
            </a:r>
            <a:r>
              <a:rPr lang="cs-CZ" sz="24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.</a:t>
            </a:r>
            <a:endParaRPr lang="cs-CZ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Analyzovat demografické a situační faktory spojené s policejními střelbami.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413929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50660-EE0F-3255-6AF0-44290838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DC37E9-85DD-2231-4FBA-B97601DC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Arial"/>
                <a:cs typeface="Arial"/>
              </a:rPr>
              <a:t>Způsob řešení otázek pro data science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79EC6F-21E7-0F86-D493-56C9068D6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cs-CZ" sz="2400" dirty="0">
                <a:latin typeface="Arial"/>
                <a:cs typeface="Arial"/>
              </a:rPr>
              <a:t>Příprava dat (ETL) v </a:t>
            </a:r>
            <a:r>
              <a:rPr lang="cs-CZ" sz="2400" err="1">
                <a:latin typeface="Arial"/>
                <a:cs typeface="Arial"/>
              </a:rPr>
              <a:t>nástorji</a:t>
            </a:r>
            <a:r>
              <a:rPr lang="cs-CZ" sz="2400" dirty="0">
                <a:latin typeface="Arial"/>
                <a:cs typeface="Arial"/>
              </a:rPr>
              <a:t> </a:t>
            </a:r>
            <a:r>
              <a:rPr lang="cs-CZ" sz="2400" b="1" err="1">
                <a:latin typeface="Arial"/>
                <a:cs typeface="Arial"/>
              </a:rPr>
              <a:t>BigQuery</a:t>
            </a:r>
            <a:endParaRPr lang="cs-CZ" sz="2400" b="1" dirty="0" err="1">
              <a:latin typeface="Arial"/>
              <a:cs typeface="Arial"/>
            </a:endParaRPr>
          </a:p>
          <a:p>
            <a:pPr marL="170815" indent="-170815"/>
            <a:endParaRPr lang="cs-CZ" sz="2400" b="1" dirty="0">
              <a:latin typeface="Arial"/>
              <a:cs typeface="Arial"/>
            </a:endParaRPr>
          </a:p>
          <a:p>
            <a:pPr marL="170815" indent="-170815"/>
            <a:r>
              <a:rPr lang="cs-CZ" sz="2400" dirty="0">
                <a:latin typeface="Arial"/>
                <a:cs typeface="Arial"/>
              </a:rPr>
              <a:t>BI část bude prováděna v nástroji </a:t>
            </a:r>
            <a:r>
              <a:rPr lang="cs-CZ" sz="2400" b="1" dirty="0" err="1">
                <a:latin typeface="Arial"/>
                <a:cs typeface="Arial"/>
              </a:rPr>
              <a:t>PowerBI</a:t>
            </a:r>
            <a:endParaRPr lang="cs-CZ" sz="2400" b="1" dirty="0">
              <a:latin typeface="Arial"/>
              <a:cs typeface="Arial"/>
            </a:endParaRPr>
          </a:p>
          <a:p>
            <a:pPr marL="170815" indent="-170815"/>
            <a:endParaRPr lang="cs-CZ" sz="2400" b="1" dirty="0">
              <a:latin typeface="Arial"/>
              <a:cs typeface="Arial"/>
            </a:endParaRPr>
          </a:p>
          <a:p>
            <a:pPr marL="170815" indent="-170815"/>
            <a:r>
              <a:rPr lang="cs-CZ" sz="2400" dirty="0">
                <a:latin typeface="Arial"/>
                <a:cs typeface="Arial"/>
              </a:rPr>
              <a:t>Analýza bude prováděna v nástroji </a:t>
            </a:r>
            <a:r>
              <a:rPr lang="cs-CZ" sz="2400" b="1" dirty="0">
                <a:latin typeface="Arial"/>
                <a:cs typeface="Arial"/>
              </a:rPr>
              <a:t>Python</a:t>
            </a:r>
            <a:endParaRPr lang="cs-CZ" sz="2400" b="1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50205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E972D-EB62-691D-793C-08D7FBE2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E99613-DA00-FF00-8088-0EA0F8769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Rámcové profily dat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CB2CC3-386F-A283-82BC-619B348FD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cs-CZ" sz="2400" dirty="0">
                <a:latin typeface="Arial"/>
                <a:cs typeface="Arial"/>
              </a:rPr>
              <a:t>Na slidu č. 7 je tabulka s rámcovými profily dat z </a:t>
            </a:r>
            <a:r>
              <a:rPr lang="cs-CZ" sz="2400" dirty="0" err="1">
                <a:latin typeface="Arial"/>
                <a:cs typeface="Arial"/>
              </a:rPr>
              <a:t>datasetu</a:t>
            </a:r>
            <a:r>
              <a:rPr lang="cs-CZ" sz="2400" dirty="0">
                <a:latin typeface="Arial"/>
                <a:cs typeface="Arial"/>
              </a:rPr>
              <a:t> </a:t>
            </a:r>
            <a:r>
              <a:rPr lang="cs-CZ" sz="2400" b="1" dirty="0">
                <a:latin typeface="Arial"/>
                <a:cs typeface="Arial"/>
              </a:rPr>
              <a:t>Police </a:t>
            </a:r>
            <a:r>
              <a:rPr lang="cs-CZ" sz="2400" b="1" dirty="0" err="1">
                <a:latin typeface="Arial"/>
                <a:cs typeface="Arial"/>
              </a:rPr>
              <a:t>Shootings</a:t>
            </a:r>
            <a:r>
              <a:rPr lang="cs-CZ" sz="2400" b="1" dirty="0">
                <a:latin typeface="Arial"/>
                <a:cs typeface="Arial"/>
              </a:rPr>
              <a:t> – </a:t>
            </a:r>
            <a:r>
              <a:rPr lang="cs-CZ" sz="2400" b="1" dirty="0" err="1">
                <a:latin typeface="Arial"/>
                <a:cs typeface="Arial"/>
              </a:rPr>
              <a:t>The</a:t>
            </a:r>
            <a:r>
              <a:rPr lang="cs-CZ" sz="2400" b="1" dirty="0">
                <a:latin typeface="Arial"/>
                <a:cs typeface="Arial"/>
              </a:rPr>
              <a:t> Washington Post </a:t>
            </a:r>
            <a:r>
              <a:rPr lang="cs-CZ" sz="2400" b="1" dirty="0" err="1">
                <a:latin typeface="Arial"/>
                <a:cs typeface="Arial"/>
              </a:rPr>
              <a:t>Dataset</a:t>
            </a:r>
            <a:endParaRPr lang="cs-CZ" sz="2400" dirty="0" err="1"/>
          </a:p>
          <a:p>
            <a:pPr marL="170815" indent="-170815"/>
            <a:endParaRPr lang="cs-CZ" sz="2400" b="1" dirty="0">
              <a:latin typeface="Arial"/>
              <a:cs typeface="Arial"/>
            </a:endParaRPr>
          </a:p>
          <a:p>
            <a:pPr marL="170815" indent="-170815"/>
            <a:r>
              <a:rPr lang="cs-CZ" sz="2400" dirty="0">
                <a:latin typeface="Arial"/>
                <a:cs typeface="Arial"/>
              </a:rPr>
              <a:t>Na slidu č. 8 je tabulka s rámcovými profily dat z </a:t>
            </a:r>
            <a:r>
              <a:rPr lang="cs-CZ" sz="2400" b="1" dirty="0" err="1">
                <a:latin typeface="Arial"/>
                <a:cs typeface="Arial"/>
              </a:rPr>
              <a:t>Budgets</a:t>
            </a:r>
            <a:r>
              <a:rPr lang="cs-CZ" sz="2400" b="1" dirty="0">
                <a:latin typeface="Arial"/>
                <a:cs typeface="Arial"/>
              </a:rPr>
              <a:t> (City </a:t>
            </a:r>
            <a:r>
              <a:rPr lang="cs-CZ" sz="2400" b="1" dirty="0" err="1">
                <a:latin typeface="Arial"/>
                <a:cs typeface="Arial"/>
              </a:rPr>
              <a:t>Budgets</a:t>
            </a:r>
            <a:r>
              <a:rPr lang="cs-CZ" sz="2400" b="1" dirty="0">
                <a:latin typeface="Arial"/>
                <a:cs typeface="Arial"/>
              </a:rPr>
              <a:t> </a:t>
            </a:r>
            <a:r>
              <a:rPr lang="cs-CZ" sz="2400" b="1" dirty="0" err="1">
                <a:latin typeface="Arial"/>
                <a:cs typeface="Arial"/>
              </a:rPr>
              <a:t>Dataset</a:t>
            </a:r>
            <a:r>
              <a:rPr lang="cs-CZ" sz="2400" b="1" dirty="0">
                <a:latin typeface="Arial"/>
                <a:cs typeface="Arial"/>
              </a:rPr>
              <a:t>)</a:t>
            </a:r>
            <a:endParaRPr lang="cs-CZ" sz="2400" b="1" dirty="0"/>
          </a:p>
          <a:p>
            <a:pPr marL="170815" indent="-170815"/>
            <a:endParaRPr lang="cs-CZ" sz="24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9562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5E40A-CBB6-C57F-BB21-D37C3EAE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ulka 10">
            <a:extLst>
              <a:ext uri="{FF2B5EF4-FFF2-40B4-BE49-F238E27FC236}">
                <a16:creationId xmlns:a16="http://schemas.microsoft.com/office/drawing/2014/main" id="{A9CB1BA0-149A-D17E-1F7F-C1009A33B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455108"/>
              </p:ext>
            </p:extLst>
          </p:nvPr>
        </p:nvGraphicFramePr>
        <p:xfrm>
          <a:off x="0" y="784041"/>
          <a:ext cx="8784093" cy="6141345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1260352">
                  <a:extLst>
                    <a:ext uri="{9D8B030D-6E8A-4147-A177-3AD203B41FA5}">
                      <a16:colId xmlns:a16="http://schemas.microsoft.com/office/drawing/2014/main" val="2560384539"/>
                    </a:ext>
                  </a:extLst>
                </a:gridCol>
                <a:gridCol w="1246287">
                  <a:extLst>
                    <a:ext uri="{9D8B030D-6E8A-4147-A177-3AD203B41FA5}">
                      <a16:colId xmlns:a16="http://schemas.microsoft.com/office/drawing/2014/main" val="1179499284"/>
                    </a:ext>
                  </a:extLst>
                </a:gridCol>
                <a:gridCol w="1389167">
                  <a:extLst>
                    <a:ext uri="{9D8B030D-6E8A-4147-A177-3AD203B41FA5}">
                      <a16:colId xmlns:a16="http://schemas.microsoft.com/office/drawing/2014/main" val="4123536657"/>
                    </a:ext>
                  </a:extLst>
                </a:gridCol>
                <a:gridCol w="1740274">
                  <a:extLst>
                    <a:ext uri="{9D8B030D-6E8A-4147-A177-3AD203B41FA5}">
                      <a16:colId xmlns:a16="http://schemas.microsoft.com/office/drawing/2014/main" val="164612376"/>
                    </a:ext>
                  </a:extLst>
                </a:gridCol>
                <a:gridCol w="1093454">
                  <a:extLst>
                    <a:ext uri="{9D8B030D-6E8A-4147-A177-3AD203B41FA5}">
                      <a16:colId xmlns:a16="http://schemas.microsoft.com/office/drawing/2014/main" val="828562544"/>
                    </a:ext>
                  </a:extLst>
                </a:gridCol>
                <a:gridCol w="2054559">
                  <a:extLst>
                    <a:ext uri="{9D8B030D-6E8A-4147-A177-3AD203B41FA5}">
                      <a16:colId xmlns:a16="http://schemas.microsoft.com/office/drawing/2014/main" val="3849090884"/>
                    </a:ext>
                  </a:extLst>
                </a:gridCol>
              </a:tblGrid>
              <a:tr h="469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>
                          <a:solidFill>
                            <a:srgbClr val="404040"/>
                          </a:solidFill>
                        </a:rPr>
                        <a:t>Proměnná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>
                          <a:solidFill>
                            <a:srgbClr val="404040"/>
                          </a:solidFill>
                        </a:rPr>
                        <a:t>Typ proměnné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>
                          <a:solidFill>
                            <a:srgbClr val="404040"/>
                          </a:solidFill>
                        </a:rPr>
                        <a:t>Celkový počet proměnných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>
                          <a:solidFill>
                            <a:srgbClr val="404040"/>
                          </a:solidFill>
                        </a:rPr>
                        <a:t>Počet kategorií / unikátních hodnot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>
                          <a:solidFill>
                            <a:srgbClr val="404040"/>
                          </a:solidFill>
                        </a:rPr>
                        <a:t>Typ dat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>
                          <a:solidFill>
                            <a:srgbClr val="404040"/>
                          </a:solidFill>
                        </a:rPr>
                        <a:t>Popis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3937773416"/>
                  </a:ext>
                </a:extLst>
              </a:tr>
              <a:tr h="290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 err="1">
                          <a:solidFill>
                            <a:srgbClr val="404040"/>
                          </a:solidFill>
                        </a:rPr>
                        <a:t>name</a:t>
                      </a:r>
                      <a:endParaRPr lang="cs-CZ" sz="1200" b="1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Textová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–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7 500 +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String</a:t>
                      </a:r>
                      <a:endParaRPr lang="cs-CZ" sz="120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Jméno oběti střelby.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2364971054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 err="1">
                          <a:solidFill>
                            <a:srgbClr val="404040"/>
                          </a:solidFill>
                        </a:rPr>
                        <a:t>date</a:t>
                      </a:r>
                      <a:endParaRPr lang="cs-CZ" sz="1200" b="1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Časová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–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3 500 +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Date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 (YYYY-MM-DD)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Datum, kdy k policejní střelbě došlo.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2655174071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err="1">
                          <a:solidFill>
                            <a:srgbClr val="404040"/>
                          </a:solidFill>
                        </a:rPr>
                        <a:t>manner_of_death</a:t>
                      </a:r>
                      <a:endParaRPr lang="cs-CZ" sz="1200" b="1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Kategoriální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2 (shot, shot and </a:t>
                      </a: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Tasered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)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String</a:t>
                      </a:r>
                      <a:endParaRPr lang="cs-CZ" sz="120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Způsob, jakým oběť zemřela.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3907559939"/>
                  </a:ext>
                </a:extLst>
              </a:tr>
              <a:tr h="625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 err="1">
                          <a:solidFill>
                            <a:srgbClr val="404040"/>
                          </a:solidFill>
                        </a:rPr>
                        <a:t>armed</a:t>
                      </a:r>
                      <a:endParaRPr lang="cs-CZ" sz="1200" b="1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Kategoriální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–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90 +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String</a:t>
                      </a:r>
                      <a:endParaRPr lang="cs-CZ" sz="120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Typ zbraně, kterou měla oběť u sebe, nebo označení „</a:t>
                      </a: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unarmed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“.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3902035091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 err="1">
                          <a:solidFill>
                            <a:srgbClr val="404040"/>
                          </a:solidFill>
                        </a:rPr>
                        <a:t>age</a:t>
                      </a:r>
                      <a:endParaRPr lang="cs-CZ" sz="1200" b="1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Numerická (diskrétní)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–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cca 70 (od 6 do 91 let)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Integer</a:t>
                      </a:r>
                      <a:endParaRPr lang="cs-CZ" sz="120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Věk oběti.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153616321"/>
                  </a:ext>
                </a:extLst>
              </a:tr>
              <a:tr h="290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>
                          <a:solidFill>
                            <a:srgbClr val="404040"/>
                          </a:solidFill>
                        </a:rPr>
                        <a:t>gender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Kategoriální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2 (M, F)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String</a:t>
                      </a:r>
                      <a:endParaRPr lang="cs-CZ" sz="1200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Pohlaví oběti.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365277425"/>
                  </a:ext>
                </a:extLst>
              </a:tr>
              <a:tr h="290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 err="1">
                          <a:solidFill>
                            <a:srgbClr val="404040"/>
                          </a:solidFill>
                        </a:rPr>
                        <a:t>race</a:t>
                      </a:r>
                      <a:endParaRPr lang="cs-CZ" sz="1200" b="1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Kategoriální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6 (W, B, H, A, N, O)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String</a:t>
                      </a:r>
                      <a:endParaRPr lang="cs-CZ" sz="1200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Rasová skupina oběti.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4073456790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>
                          <a:solidFill>
                            <a:srgbClr val="404040"/>
                          </a:solidFill>
                        </a:rPr>
                        <a:t>city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Textová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–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5 000 +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String</a:t>
                      </a:r>
                      <a:endParaRPr lang="cs-CZ" sz="1200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Název města, kde incident proběhl.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2174761459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err="1">
                          <a:solidFill>
                            <a:srgbClr val="404040"/>
                          </a:solidFill>
                        </a:rPr>
                        <a:t>state</a:t>
                      </a:r>
                      <a:endParaRPr lang="cs-CZ" sz="1200" b="1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Kategoriální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4 000+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4 000+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String</a:t>
                      </a:r>
                      <a:endParaRPr lang="cs-CZ" sz="1200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Zkratka amerického státu (např. CA, TX, NY).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3625105091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 err="1">
                          <a:solidFill>
                            <a:srgbClr val="404040"/>
                          </a:solidFill>
                        </a:rPr>
                        <a:t>signs_of_mental_illness</a:t>
                      </a:r>
                      <a:endParaRPr lang="cs-CZ" sz="1200" b="1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Binární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2 (</a:t>
                      </a:r>
                      <a:r>
                        <a:rPr lang="cs-CZ" sz="1200" dirty="0" err="1">
                          <a:solidFill>
                            <a:srgbClr val="404040"/>
                          </a:solidFill>
                        </a:rPr>
                        <a:t>True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, </a:t>
                      </a:r>
                      <a:r>
                        <a:rPr lang="cs-CZ" sz="1200" dirty="0" err="1">
                          <a:solidFill>
                            <a:srgbClr val="404040"/>
                          </a:solidFill>
                        </a:rPr>
                        <a:t>False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)</a:t>
                      </a:r>
                      <a:endParaRPr lang="cs-CZ" sz="1200"/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Boolean</a:t>
                      </a:r>
                      <a:endParaRPr lang="cs-CZ" sz="120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Zda byla hlášena duševní nemoc oběti.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3680031883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 err="1">
                          <a:solidFill>
                            <a:srgbClr val="404040"/>
                          </a:solidFill>
                        </a:rPr>
                        <a:t>threat_level</a:t>
                      </a:r>
                      <a:endParaRPr lang="cs-CZ" sz="1200" b="1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Kategoriální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247+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247+ (</a:t>
                      </a: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attack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, </a:t>
                      </a: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other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, </a:t>
                      </a: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undetermined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, ...)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String</a:t>
                      </a:r>
                      <a:endParaRPr lang="cs-CZ" sz="120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Vyhodnocení úrovně hrozby ze strany oběti.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3495658718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 err="1">
                          <a:solidFill>
                            <a:srgbClr val="404040"/>
                          </a:solidFill>
                        </a:rPr>
                        <a:t>flee</a:t>
                      </a:r>
                      <a:endParaRPr lang="cs-CZ" sz="1200" b="1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Kategoriální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1 146+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1 164+ (Not </a:t>
                      </a: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fleeing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, </a:t>
                      </a: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Foot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, Car, </a:t>
                      </a: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Other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)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 err="1">
                          <a:solidFill>
                            <a:srgbClr val="404040"/>
                          </a:solidFill>
                        </a:rPr>
                        <a:t>String</a:t>
                      </a:r>
                      <a:endParaRPr lang="cs-CZ" sz="1200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Zda se oběť pokoušela utéct a jakým způsobem.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3372269511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 err="1">
                          <a:solidFill>
                            <a:srgbClr val="404040"/>
                          </a:solidFill>
                        </a:rPr>
                        <a:t>body_camera</a:t>
                      </a:r>
                      <a:endParaRPr lang="cs-CZ" sz="1200" b="1" dirty="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Binární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2 (</a:t>
                      </a: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True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, </a:t>
                      </a: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False</a:t>
                      </a: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)</a:t>
                      </a: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err="1">
                          <a:solidFill>
                            <a:srgbClr val="404040"/>
                          </a:solidFill>
                        </a:rPr>
                        <a:t>Boolean</a:t>
                      </a:r>
                      <a:endParaRPr lang="cs-CZ" sz="1200">
                        <a:solidFill>
                          <a:srgbClr val="404040"/>
                        </a:solidFill>
                      </a:endParaRPr>
                    </a:p>
                  </a:txBody>
                  <a:tcPr marL="92330" marR="48011" marT="48011" marB="480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solidFill>
                            <a:srgbClr val="404040"/>
                          </a:solidFill>
                        </a:rPr>
                        <a:t>Indikuje, zda měl policista zapnutou tělovou kameru.</a:t>
                      </a:r>
                    </a:p>
                  </a:txBody>
                  <a:tcPr marL="92330" marR="48011" marT="48011" marB="48011" anchor="ctr"/>
                </a:tc>
                <a:extLst>
                  <a:ext uri="{0D108BD9-81ED-4DB2-BD59-A6C34878D82A}">
                    <a16:rowId xmlns:a16="http://schemas.microsoft.com/office/drawing/2014/main" val="820388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5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6A030-7887-ED67-05B6-EB661F2D8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ulka 2">
            <a:extLst>
              <a:ext uri="{FF2B5EF4-FFF2-40B4-BE49-F238E27FC236}">
                <a16:creationId xmlns:a16="http://schemas.microsoft.com/office/drawing/2014/main" id="{EC645DEA-A5E4-2F7E-21BD-FC0A60E39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883946"/>
              </p:ext>
            </p:extLst>
          </p:nvPr>
        </p:nvGraphicFramePr>
        <p:xfrm>
          <a:off x="1" y="746256"/>
          <a:ext cx="8783524" cy="6209021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1463921">
                  <a:extLst>
                    <a:ext uri="{9D8B030D-6E8A-4147-A177-3AD203B41FA5}">
                      <a16:colId xmlns:a16="http://schemas.microsoft.com/office/drawing/2014/main" val="4030919436"/>
                    </a:ext>
                  </a:extLst>
                </a:gridCol>
                <a:gridCol w="1463921">
                  <a:extLst>
                    <a:ext uri="{9D8B030D-6E8A-4147-A177-3AD203B41FA5}">
                      <a16:colId xmlns:a16="http://schemas.microsoft.com/office/drawing/2014/main" val="2787626720"/>
                    </a:ext>
                  </a:extLst>
                </a:gridCol>
                <a:gridCol w="1463921">
                  <a:extLst>
                    <a:ext uri="{9D8B030D-6E8A-4147-A177-3AD203B41FA5}">
                      <a16:colId xmlns:a16="http://schemas.microsoft.com/office/drawing/2014/main" val="3757408718"/>
                    </a:ext>
                  </a:extLst>
                </a:gridCol>
                <a:gridCol w="1386976">
                  <a:extLst>
                    <a:ext uri="{9D8B030D-6E8A-4147-A177-3AD203B41FA5}">
                      <a16:colId xmlns:a16="http://schemas.microsoft.com/office/drawing/2014/main" val="1674905672"/>
                    </a:ext>
                  </a:extLst>
                </a:gridCol>
                <a:gridCol w="1540864">
                  <a:extLst>
                    <a:ext uri="{9D8B030D-6E8A-4147-A177-3AD203B41FA5}">
                      <a16:colId xmlns:a16="http://schemas.microsoft.com/office/drawing/2014/main" val="3385901473"/>
                    </a:ext>
                  </a:extLst>
                </a:gridCol>
                <a:gridCol w="1463921">
                  <a:extLst>
                    <a:ext uri="{9D8B030D-6E8A-4147-A177-3AD203B41FA5}">
                      <a16:colId xmlns:a16="http://schemas.microsoft.com/office/drawing/2014/main" val="936050363"/>
                    </a:ext>
                  </a:extLst>
                </a:gridCol>
              </a:tblGrid>
              <a:tr h="423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/>
                        <a:t>Proměnná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/>
                        <a:t>Typ proměnné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/>
                        <a:t>Celkový počet proměnných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/>
                        <a:t>Počet kategorií / unikátních hodnot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b="1" dirty="0"/>
                        <a:t>Typ 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b="1" dirty="0"/>
                        <a:t>Popis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973998"/>
                  </a:ext>
                </a:extLst>
              </a:tr>
              <a:tr h="557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b="1" dirty="0" err="1"/>
                        <a:t>year</a:t>
                      </a:r>
                      <a:endParaRPr lang="cs-CZ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Časová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 err="1"/>
                        <a:t>Integer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050" dirty="0"/>
                        <a:t>Rok, ke kterému se vztahují rozpočtová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399666"/>
                  </a:ext>
                </a:extLst>
              </a:tr>
              <a:tr h="557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b="1" dirty="0" err="1"/>
                        <a:t>city_name</a:t>
                      </a:r>
                      <a:endParaRPr lang="cs-CZ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Kategoriální / textová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100" dirty="0"/>
                        <a:t>218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100" dirty="0"/>
                        <a:t>218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 err="1"/>
                        <a:t>String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050" dirty="0"/>
                        <a:t>Název města, ke kterému se rozpočet vztahuje.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8344349"/>
                  </a:ext>
                </a:extLst>
              </a:tr>
              <a:tr h="401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b="1" dirty="0" err="1"/>
                        <a:t>city_types</a:t>
                      </a:r>
                      <a:endParaRPr lang="cs-CZ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Kategoriální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 err="1"/>
                        <a:t>Core</a:t>
                      </a:r>
                      <a:r>
                        <a:rPr lang="cs-CZ" sz="1100" dirty="0"/>
                        <a:t>, </a:t>
                      </a:r>
                      <a:r>
                        <a:rPr lang="cs-CZ" sz="1100" dirty="0" err="1"/>
                        <a:t>Legacvy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 err="1"/>
                        <a:t>String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050" dirty="0"/>
                        <a:t>Typ městské samosprávy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120699"/>
                  </a:ext>
                </a:extLst>
              </a:tr>
              <a:tr h="356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b="1" dirty="0" err="1"/>
                        <a:t>city_population</a:t>
                      </a:r>
                      <a:endParaRPr lang="cs-CZ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Numerická (diskrétní)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1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–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 err="1"/>
                        <a:t>Integer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050" dirty="0"/>
                        <a:t>Počet obyvatel města.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744072"/>
                  </a:ext>
                </a:extLst>
              </a:tr>
              <a:tr h="557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b="1" dirty="0" err="1"/>
                        <a:t>police_city</a:t>
                      </a:r>
                      <a:endParaRPr lang="cs-CZ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Numerická (kontinuální)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1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–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 err="1"/>
                        <a:t>Float</a:t>
                      </a:r>
                      <a:r>
                        <a:rPr lang="cs-CZ" sz="1100" dirty="0"/>
                        <a:t> / </a:t>
                      </a:r>
                      <a:r>
                        <a:rPr lang="cs-CZ" sz="1100" dirty="0" err="1"/>
                        <a:t>Integer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050" dirty="0"/>
                        <a:t>Výdaje města (city level) na městskou policii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184654"/>
                  </a:ext>
                </a:extLst>
              </a:tr>
              <a:tr h="713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b="1" dirty="0" err="1"/>
                        <a:t>police_cnty</a:t>
                      </a:r>
                      <a:endParaRPr lang="cs-CZ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Numerická (kontinuální)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1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–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 err="1"/>
                        <a:t>Float</a:t>
                      </a:r>
                      <a:r>
                        <a:rPr lang="cs-CZ" sz="1100" dirty="0"/>
                        <a:t> / </a:t>
                      </a:r>
                      <a:r>
                        <a:rPr lang="cs-CZ" sz="1100" dirty="0" err="1"/>
                        <a:t>Integer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050" dirty="0"/>
                        <a:t>Výdaje okresu (</a:t>
                      </a:r>
                      <a:r>
                        <a:rPr lang="cs-CZ" sz="1050" dirty="0" err="1"/>
                        <a:t>county</a:t>
                      </a:r>
                      <a:r>
                        <a:rPr lang="cs-CZ" sz="1050" dirty="0"/>
                        <a:t> level) na okresní policejní složky (např. </a:t>
                      </a:r>
                      <a:r>
                        <a:rPr lang="cs-CZ" sz="1050" dirty="0" err="1"/>
                        <a:t>Sheriff’s</a:t>
                      </a:r>
                      <a:r>
                        <a:rPr lang="cs-CZ" sz="1050" dirty="0"/>
                        <a:t> Department).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702800"/>
                  </a:ext>
                </a:extLst>
              </a:tr>
              <a:tr h="869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b="1" dirty="0" err="1"/>
                        <a:t>police_schl</a:t>
                      </a:r>
                      <a:endParaRPr lang="cs-CZ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Numerická (kontinuální)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1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–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 err="1"/>
                        <a:t>Float</a:t>
                      </a:r>
                      <a:r>
                        <a:rPr lang="cs-CZ" sz="1100" dirty="0"/>
                        <a:t> / </a:t>
                      </a:r>
                      <a:r>
                        <a:rPr lang="cs-CZ" sz="1100" dirty="0" err="1"/>
                        <a:t>Integer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050" dirty="0"/>
                        <a:t>Rozpočet vyčleněný na školní či univerzitní bezpečnostní složky (</a:t>
                      </a:r>
                      <a:r>
                        <a:rPr lang="cs-CZ" sz="1050" dirty="0" err="1"/>
                        <a:t>School</a:t>
                      </a:r>
                      <a:r>
                        <a:rPr lang="cs-CZ" sz="1050" dirty="0"/>
                        <a:t> / Campus Police).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639947"/>
                  </a:ext>
                </a:extLst>
              </a:tr>
              <a:tr h="1025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b="1" dirty="0" err="1"/>
                        <a:t>police_spec</a:t>
                      </a:r>
                      <a:endParaRPr lang="cs-CZ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Numerická (kontinuální)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1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–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 err="1"/>
                        <a:t>Float</a:t>
                      </a:r>
                      <a:r>
                        <a:rPr lang="cs-CZ" sz="1100" dirty="0"/>
                        <a:t> / </a:t>
                      </a:r>
                      <a:r>
                        <a:rPr lang="cs-CZ" sz="1100" dirty="0" err="1"/>
                        <a:t>Integer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050" dirty="0"/>
                        <a:t>Výdaje na speciální policejní složky nebo jednotky se zvláštní působností (např. dopravní či přístavní policie).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558998"/>
                  </a:ext>
                </a:extLst>
              </a:tr>
              <a:tr h="591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b="1" dirty="0"/>
                        <a:t>police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Numerická (kontinuální, agregovaná)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1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–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100" dirty="0" err="1"/>
                        <a:t>Float</a:t>
                      </a:r>
                      <a:r>
                        <a:rPr lang="cs-CZ" sz="1100" dirty="0"/>
                        <a:t> / </a:t>
                      </a:r>
                      <a:r>
                        <a:rPr lang="cs-CZ" sz="1100" dirty="0" err="1"/>
                        <a:t>Integer</a:t>
                      </a:r>
                      <a:endParaRPr lang="cs-CZ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050" dirty="0"/>
                        <a:t>Celkové výdaje města na policii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178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89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3D4FB-BA18-D0A6-A1DF-FB7B42E5D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20190B-10AB-FE4F-BE28-D7C553CD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Datový model a ETL </a:t>
            </a:r>
            <a:r>
              <a:rPr lang="cs-CZ" dirty="0" err="1">
                <a:latin typeface="Arial"/>
                <a:cs typeface="Arial"/>
              </a:rPr>
              <a:t>pipeline</a:t>
            </a:r>
            <a:r>
              <a:rPr lang="cs-CZ" dirty="0">
                <a:latin typeface="Arial"/>
                <a:cs typeface="Arial"/>
              </a:rPr>
              <a:t> - Obsah sekce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A3DD61-5D0E-FEC1-F1B6-14403E135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cs-CZ" dirty="0">
                <a:latin typeface="Arial"/>
                <a:cs typeface="Arial"/>
              </a:rPr>
              <a:t>Návrh datového modelu - ERD diagram, vztahy mezi tabulkami</a:t>
            </a:r>
            <a:endParaRPr lang="cs-CZ" sz="2400" b="1" dirty="0"/>
          </a:p>
          <a:p>
            <a:pPr marL="457200" indent="-457200">
              <a:buAutoNum type="arabicPeriod"/>
            </a:pPr>
            <a:r>
              <a:rPr lang="cs-CZ" dirty="0">
                <a:latin typeface="Arial"/>
                <a:cs typeface="Arial"/>
              </a:rPr>
              <a:t>Schéma architektury řešení - 3 vrstvy</a:t>
            </a:r>
            <a:endParaRPr lang="cs-CZ" dirty="0"/>
          </a:p>
          <a:p>
            <a:pPr marL="457200" indent="-457200">
              <a:buAutoNum type="arabicPeriod"/>
            </a:pPr>
            <a:r>
              <a:rPr lang="cs-CZ" dirty="0" err="1">
                <a:latin typeface="Arial"/>
                <a:cs typeface="Arial"/>
              </a:rPr>
              <a:t>Workflow</a:t>
            </a:r>
            <a:r>
              <a:rPr lang="cs-CZ" dirty="0">
                <a:latin typeface="Arial"/>
                <a:cs typeface="Arial"/>
              </a:rPr>
              <a:t> zpracování dat - Detailní ETL proces krok za krokem</a:t>
            </a:r>
            <a:endParaRPr lang="cs-CZ" dirty="0"/>
          </a:p>
          <a:p>
            <a:pPr marL="457200" indent="-457200">
              <a:buAutoNum type="arabicPeriod"/>
            </a:pPr>
            <a:r>
              <a:rPr lang="cs-CZ" dirty="0">
                <a:latin typeface="Arial"/>
                <a:cs typeface="Arial"/>
              </a:rPr>
              <a:t>Implementované datové pumpy (SQL transformace)</a:t>
            </a:r>
            <a:endParaRPr lang="cs-CZ" dirty="0"/>
          </a:p>
          <a:p>
            <a:pPr marL="457200" indent="-457200">
              <a:buAutoNum type="arabicPeriod"/>
            </a:pPr>
            <a:r>
              <a:rPr lang="cs-CZ" dirty="0">
                <a:latin typeface="Arial"/>
                <a:cs typeface="Arial"/>
              </a:rPr>
              <a:t>Obrázky datového modelu - Diagramy + </a:t>
            </a:r>
            <a:r>
              <a:rPr lang="cs-CZ" dirty="0" err="1">
                <a:latin typeface="Arial"/>
                <a:cs typeface="Arial"/>
              </a:rPr>
              <a:t>Power</a:t>
            </a:r>
            <a:r>
              <a:rPr lang="cs-CZ" dirty="0">
                <a:latin typeface="Arial"/>
                <a:cs typeface="Arial"/>
              </a:rPr>
              <a:t> BI screenshoty</a:t>
            </a:r>
            <a:endParaRPr lang="cs-CZ" dirty="0"/>
          </a:p>
          <a:p>
            <a:pPr marL="457200" indent="-457200">
              <a:buAutoNum type="arabicPeriod"/>
            </a:pPr>
            <a:r>
              <a:rPr lang="cs-CZ" dirty="0">
                <a:latin typeface="Arial"/>
                <a:cs typeface="Arial"/>
              </a:rPr>
              <a:t>Grafický návrh </a:t>
            </a:r>
            <a:r>
              <a:rPr lang="cs-CZ" dirty="0" err="1">
                <a:latin typeface="Arial"/>
                <a:cs typeface="Arial"/>
              </a:rPr>
              <a:t>Power</a:t>
            </a:r>
            <a:r>
              <a:rPr lang="cs-CZ" dirty="0">
                <a:latin typeface="Arial"/>
                <a:cs typeface="Arial"/>
              </a:rPr>
              <a:t> BI reportu - </a:t>
            </a:r>
            <a:r>
              <a:rPr lang="cs-CZ" dirty="0" err="1">
                <a:latin typeface="Arial"/>
                <a:cs typeface="Arial"/>
              </a:rPr>
              <a:t>Wireframy</a:t>
            </a:r>
            <a:r>
              <a:rPr lang="cs-CZ" dirty="0">
                <a:latin typeface="Arial"/>
                <a:cs typeface="Arial"/>
              </a:rPr>
              <a:t> dashboardů</a:t>
            </a:r>
            <a:endParaRPr lang="cs-CZ" dirty="0"/>
          </a:p>
          <a:p>
            <a:pPr marL="457200" indent="-457200">
              <a:buAutoNum type="arabicPeriod"/>
            </a:pPr>
            <a:r>
              <a:rPr lang="cs-CZ" dirty="0">
                <a:latin typeface="Arial"/>
                <a:cs typeface="Arial"/>
              </a:rPr>
              <a:t>Klíčové problémy a jejich řešení - 6 hlavních problémů</a:t>
            </a:r>
            <a:endParaRPr lang="cs-CZ" dirty="0" err="1"/>
          </a:p>
          <a:p>
            <a:pPr marL="170815" indent="-170815">
              <a:buAutoNum type="arabicPeriod"/>
            </a:pPr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3371554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3CA9E-E2EC-3E60-F643-39E20915B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05E228-022B-98D6-AEDC-169019558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5520"/>
            <a:ext cx="7779544" cy="68995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Návrh datového modelu - Entity </a:t>
            </a:r>
            <a:r>
              <a:rPr lang="cs-CZ" dirty="0" err="1">
                <a:latin typeface="Arial"/>
                <a:cs typeface="Arial"/>
              </a:rPr>
              <a:t>Relationship</a:t>
            </a:r>
            <a:r>
              <a:rPr lang="cs-CZ" dirty="0">
                <a:latin typeface="Arial"/>
                <a:cs typeface="Arial"/>
              </a:rPr>
              <a:t> Diagram (ERD)</a:t>
            </a:r>
            <a:endParaRPr lang="cs-CZ" dirty="0"/>
          </a:p>
        </p:txBody>
      </p:sp>
      <p:pic>
        <p:nvPicPr>
          <p:cNvPr id="7" name="Zástupný obsah 6" descr="Obsah obrázku text, snímek obrazovky, číslo, software&#10;&#10;Obsah generovaný pomocí AI může být nesprávný.">
            <a:extLst>
              <a:ext uri="{FF2B5EF4-FFF2-40B4-BE49-F238E27FC236}">
                <a16:creationId xmlns:a16="http://schemas.microsoft.com/office/drawing/2014/main" id="{330D1722-B461-E92F-4D03-B1DD2F2AD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5089" y="1621563"/>
            <a:ext cx="5630574" cy="5088485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3186B88E-2C99-06E6-F2F5-22E47A67B329}"/>
              </a:ext>
            </a:extLst>
          </p:cNvPr>
          <p:cNvSpPr txBox="1"/>
          <p:nvPr/>
        </p:nvSpPr>
        <p:spPr>
          <a:xfrm>
            <a:off x="7128710" y="649705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>
                <a:ea typeface="Calibri"/>
                <a:cs typeface="Calibri"/>
              </a:rPr>
              <a:t>Zdroj: Autor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035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06CC4-DB73-D989-A990-8D2EDCFA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0216F3-193C-4660-8F6D-E2DFD639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5520"/>
            <a:ext cx="7779544" cy="689952"/>
          </a:xfrm>
        </p:spPr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Návrh datového modelu – </a:t>
            </a:r>
            <a:r>
              <a:rPr lang="cs-CZ" dirty="0" err="1">
                <a:latin typeface="Arial"/>
                <a:cs typeface="Arial"/>
              </a:rPr>
              <a:t>Relationship</a:t>
            </a:r>
            <a:r>
              <a:rPr lang="cs-CZ" dirty="0">
                <a:latin typeface="Arial"/>
                <a:cs typeface="Arial"/>
              </a:rPr>
              <a:t> detail</a:t>
            </a:r>
            <a:endParaRPr lang="cs-CZ" dirty="0"/>
          </a:p>
        </p:txBody>
      </p:sp>
      <p:pic>
        <p:nvPicPr>
          <p:cNvPr id="5" name="Zástupný obsah 4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1FE58825-0972-9EEE-F332-2CFDD4E78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9493" y="1524262"/>
            <a:ext cx="4967607" cy="4688141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D68B7DBF-9562-48AB-D20A-A1A7BB83E7EC}"/>
              </a:ext>
            </a:extLst>
          </p:cNvPr>
          <p:cNvSpPr txBox="1"/>
          <p:nvPr/>
        </p:nvSpPr>
        <p:spPr>
          <a:xfrm>
            <a:off x="7128710" y="649705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>
                <a:ea typeface="Calibri"/>
                <a:cs typeface="Calibri"/>
              </a:rPr>
              <a:t>Zdroj: Autor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66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0DF0-FF54-D12F-3856-D292AD6D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315AC6-780A-CF4E-6FD0-725FE51F6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 anchor="t">
            <a:normAutofit/>
          </a:bodyPr>
          <a:lstStyle/>
          <a:p>
            <a:r>
              <a:rPr lang="cs-CZ" dirty="0"/>
              <a:t>Vztah mezi tabulkami</a:t>
            </a:r>
          </a:p>
        </p:txBody>
      </p:sp>
      <p:graphicFrame>
        <p:nvGraphicFramePr>
          <p:cNvPr id="6" name="Zástupný obsah 2">
            <a:extLst>
              <a:ext uri="{FF2B5EF4-FFF2-40B4-BE49-F238E27FC236}">
                <a16:creationId xmlns:a16="http://schemas.microsoft.com/office/drawing/2014/main" id="{A3FBD296-D9E7-822C-FDE5-E35DA794D4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520624"/>
              </p:ext>
            </p:extLst>
          </p:nvPr>
        </p:nvGraphicFramePr>
        <p:xfrm>
          <a:off x="628650" y="1924055"/>
          <a:ext cx="7779544" cy="4493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23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E082-4056-C509-69E1-678BD7ED9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0C7360-CEC3-38E7-C3AB-CA5E3E159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Arial"/>
                <a:cs typeface="Arial"/>
              </a:rPr>
              <a:t>Charakteristika datového modelu</a:t>
            </a:r>
            <a:endParaRPr lang="cs-CZ" dirty="0"/>
          </a:p>
        </p:txBody>
      </p:sp>
      <p:graphicFrame>
        <p:nvGraphicFramePr>
          <p:cNvPr id="10" name="Tabulka 9">
            <a:extLst>
              <a:ext uri="{FF2B5EF4-FFF2-40B4-BE49-F238E27FC236}">
                <a16:creationId xmlns:a16="http://schemas.microsoft.com/office/drawing/2014/main" id="{44CAF72F-1652-D1B1-A81F-A6CC904A0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348982"/>
              </p:ext>
            </p:extLst>
          </p:nvPr>
        </p:nvGraphicFramePr>
        <p:xfrm>
          <a:off x="296042" y="2233499"/>
          <a:ext cx="8547768" cy="33604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24628">
                  <a:extLst>
                    <a:ext uri="{9D8B030D-6E8A-4147-A177-3AD203B41FA5}">
                      <a16:colId xmlns:a16="http://schemas.microsoft.com/office/drawing/2014/main" val="3981385224"/>
                    </a:ext>
                  </a:extLst>
                </a:gridCol>
                <a:gridCol w="1424628">
                  <a:extLst>
                    <a:ext uri="{9D8B030D-6E8A-4147-A177-3AD203B41FA5}">
                      <a16:colId xmlns:a16="http://schemas.microsoft.com/office/drawing/2014/main" val="2535612335"/>
                    </a:ext>
                  </a:extLst>
                </a:gridCol>
                <a:gridCol w="1424628">
                  <a:extLst>
                    <a:ext uri="{9D8B030D-6E8A-4147-A177-3AD203B41FA5}">
                      <a16:colId xmlns:a16="http://schemas.microsoft.com/office/drawing/2014/main" val="1257585531"/>
                    </a:ext>
                  </a:extLst>
                </a:gridCol>
                <a:gridCol w="1424628">
                  <a:extLst>
                    <a:ext uri="{9D8B030D-6E8A-4147-A177-3AD203B41FA5}">
                      <a16:colId xmlns:a16="http://schemas.microsoft.com/office/drawing/2014/main" val="4164282268"/>
                    </a:ext>
                  </a:extLst>
                </a:gridCol>
                <a:gridCol w="1424628">
                  <a:extLst>
                    <a:ext uri="{9D8B030D-6E8A-4147-A177-3AD203B41FA5}">
                      <a16:colId xmlns:a16="http://schemas.microsoft.com/office/drawing/2014/main" val="2170412063"/>
                    </a:ext>
                  </a:extLst>
                </a:gridCol>
                <a:gridCol w="1424628">
                  <a:extLst>
                    <a:ext uri="{9D8B030D-6E8A-4147-A177-3AD203B41FA5}">
                      <a16:colId xmlns:a16="http://schemas.microsoft.com/office/drawing/2014/main" val="2925146859"/>
                    </a:ext>
                  </a:extLst>
                </a:gridCol>
              </a:tblGrid>
              <a:tr h="36407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s-CZ" dirty="0">
                          <a:solidFill>
                            <a:srgbClr val="FFFFFF"/>
                          </a:solidFill>
                          <a:effectLst/>
                        </a:rPr>
                        <a:t>Tabulka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s-CZ" dirty="0">
                          <a:solidFill>
                            <a:srgbClr val="FFFFFF"/>
                          </a:solidFill>
                          <a:effectLst/>
                        </a:rPr>
                        <a:t>Soubor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s-CZ" dirty="0">
                          <a:solidFill>
                            <a:srgbClr val="FFFFFF"/>
                          </a:solidFill>
                          <a:effectLst/>
                        </a:rPr>
                        <a:t>Řádky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s-CZ" dirty="0">
                          <a:solidFill>
                            <a:srgbClr val="FFFFFF"/>
                          </a:solidFill>
                          <a:effectLst/>
                        </a:rPr>
                        <a:t>Sloupce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s-CZ" err="1">
                          <a:solidFill>
                            <a:srgbClr val="FFFFFF"/>
                          </a:solidFill>
                          <a:effectLst/>
                        </a:rPr>
                        <a:t>Granularita</a:t>
                      </a:r>
                      <a:endParaRPr lang="cs-CZ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cs-CZ" dirty="0">
                          <a:solidFill>
                            <a:srgbClr val="FFFFFF"/>
                          </a:solidFill>
                          <a:effectLst/>
                        </a:rPr>
                        <a:t>Účel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380090"/>
                  </a:ext>
                </a:extLst>
              </a:tr>
              <a:tr h="122636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b="1" dirty="0" err="1">
                          <a:effectLst/>
                        </a:rPr>
                        <a:t>shootings_detailed_categorized</a:t>
                      </a:r>
                      <a:endParaRPr lang="cs-CZ" dirty="0" err="1">
                        <a:effectLst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350" b="0" i="0" u="none" strike="noStrike" noProof="0" dirty="0">
                          <a:effectLst/>
                          <a:latin typeface="Calibri"/>
                        </a:rPr>
                        <a:t>shootings_detailed_categorized.csv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dirty="0">
                          <a:effectLst/>
                        </a:rPr>
                        <a:t>1,706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35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26</a:t>
                      </a:r>
                      <a:endParaRPr lang="cs-CZ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dirty="0">
                          <a:effectLst/>
                        </a:rPr>
                        <a:t>Jednotlivá střelba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dirty="0">
                          <a:effectLst/>
                        </a:rPr>
                        <a:t>Demografická analýza, kontingenční tabulky, detail každého incidentu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899623"/>
                  </a:ext>
                </a:extLst>
              </a:tr>
              <a:tr h="13988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b="1" dirty="0" err="1">
                          <a:effectLst/>
                        </a:rPr>
                        <a:t>master_dataset_categorized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350" b="0" i="0" u="none" strike="noStrike" noProof="0" dirty="0">
                          <a:effectLst/>
                          <a:latin typeface="Calibri"/>
                        </a:rPr>
                        <a:t>master_dataset_categorized.csv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dirty="0">
                          <a:effectLst/>
                        </a:rPr>
                        <a:t>174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dirty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endParaRPr lang="cs-CZ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dirty="0">
                          <a:effectLst/>
                        </a:rPr>
                        <a:t>Město (agregace)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dirty="0">
                          <a:effectLst/>
                        </a:rPr>
                        <a:t>City-level analýzy, korelace rozpočet vs střelby, hlavní analytická tabulka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394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55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2DCB2-96B0-2BA7-09AC-F6427E623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text, snímek obrazovky, Písmo, design&#10;&#10;Obsah generovaný pomocí AI může být nesprávný.">
            <a:extLst>
              <a:ext uri="{FF2B5EF4-FFF2-40B4-BE49-F238E27FC236}">
                <a16:creationId xmlns:a16="http://schemas.microsoft.com/office/drawing/2014/main" id="{0A1C585F-A8E6-65CA-A7C4-8B12901ED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853" y="0"/>
            <a:ext cx="5110294" cy="6858000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3215BF2E-907B-8E3C-8C7A-FA2156264019}"/>
              </a:ext>
            </a:extLst>
          </p:cNvPr>
          <p:cNvSpPr/>
          <p:nvPr/>
        </p:nvSpPr>
        <p:spPr>
          <a:xfrm>
            <a:off x="92291" y="-1405"/>
            <a:ext cx="1922397" cy="1002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3DD2C41-382B-2165-05E0-8DDA76F91605}"/>
              </a:ext>
            </a:extLst>
          </p:cNvPr>
          <p:cNvSpPr/>
          <p:nvPr/>
        </p:nvSpPr>
        <p:spPr>
          <a:xfrm>
            <a:off x="7130764" y="-1405"/>
            <a:ext cx="1922397" cy="1002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621EA0E-7552-B891-04F2-72510189A5D4}"/>
              </a:ext>
            </a:extLst>
          </p:cNvPr>
          <p:cNvSpPr txBox="1"/>
          <p:nvPr/>
        </p:nvSpPr>
        <p:spPr>
          <a:xfrm>
            <a:off x="7128710" y="649705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>
                <a:ea typeface="Calibri"/>
                <a:cs typeface="Calibri"/>
              </a:rPr>
              <a:t>Zdroj: Autor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895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CCABD-CBF5-5F80-DDED-A076BDCC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7AA47A80-85D3-2782-626B-0826AF09E224}"/>
              </a:ext>
            </a:extLst>
          </p:cNvPr>
          <p:cNvSpPr/>
          <p:nvPr/>
        </p:nvSpPr>
        <p:spPr>
          <a:xfrm>
            <a:off x="2054" y="179069"/>
            <a:ext cx="1030055" cy="1002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D64A49A2-6ABA-F7D3-31DD-B67F53878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endParaRPr lang="cs-CZ" sz="2000" b="1" dirty="0">
              <a:latin typeface="Arial"/>
              <a:cs typeface="Arial"/>
            </a:endParaRPr>
          </a:p>
          <a:p>
            <a:pPr marL="170815" indent="-170815"/>
            <a:endParaRPr lang="cs-CZ" sz="2000" dirty="0"/>
          </a:p>
          <a:p>
            <a:pPr marL="170815" indent="-170815"/>
            <a:endParaRPr lang="cs-CZ" sz="2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  <p:pic>
        <p:nvPicPr>
          <p:cNvPr id="2" name="Obrázek 1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B6CC237F-70AA-A0F3-9EA5-AE2E620E8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28" y="0"/>
            <a:ext cx="7618943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C664D37-2A63-C814-AD6F-BC27E4DE066A}"/>
              </a:ext>
            </a:extLst>
          </p:cNvPr>
          <p:cNvSpPr txBox="1"/>
          <p:nvPr/>
        </p:nvSpPr>
        <p:spPr>
          <a:xfrm>
            <a:off x="7128710" y="649705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>
                <a:ea typeface="Calibri"/>
                <a:cs typeface="Calibri"/>
              </a:rPr>
              <a:t>Zdroj: Autor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0851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D7905-1B95-AE31-4C39-5A786E08F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D6EC2D-B9E7-96CB-4556-CE7A451A2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Arial"/>
                <a:cs typeface="Arial"/>
              </a:rPr>
              <a:t>Popis vrstev architektury – 1/2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FB158A2A-38F5-C23E-CE8E-0462C3A39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170815" indent="-170815"/>
            <a:r>
              <a:rPr lang="cs-CZ" sz="2000" b="1" dirty="0">
                <a:latin typeface="Arial"/>
                <a:cs typeface="Arial"/>
              </a:rPr>
              <a:t>LAYER 1: RAW DATAA</a:t>
            </a:r>
            <a:endParaRPr lang="cs-CZ" sz="2000" b="1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Formát: CSV soubory nahrané do </a:t>
            </a:r>
            <a:r>
              <a:rPr lang="cs-CZ" sz="2000" dirty="0" err="1">
                <a:latin typeface="Arial"/>
                <a:cs typeface="Arial"/>
              </a:rPr>
              <a:t>BigQuery</a:t>
            </a:r>
            <a:r>
              <a:rPr lang="cs-CZ" sz="2000" dirty="0">
                <a:latin typeface="Arial"/>
                <a:cs typeface="Arial"/>
              </a:rPr>
              <a:t> 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Velikost: ~15 MB celkově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Tabulky: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700" dirty="0" err="1">
                <a:latin typeface="Arial"/>
                <a:cs typeface="Arial"/>
              </a:rPr>
              <a:t>budgets_raw</a:t>
            </a:r>
            <a:r>
              <a:rPr lang="cs-CZ" sz="1700" dirty="0">
                <a:latin typeface="Arial"/>
                <a:cs typeface="Arial"/>
              </a:rPr>
              <a:t>: 8,938 řádků, 663 sloupců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700" dirty="0" err="1">
                <a:latin typeface="Arial"/>
                <a:cs typeface="Arial"/>
              </a:rPr>
              <a:t>shootings_raw</a:t>
            </a:r>
            <a:r>
              <a:rPr lang="cs-CZ" sz="1700" dirty="0">
                <a:latin typeface="Arial"/>
                <a:cs typeface="Arial"/>
              </a:rPr>
              <a:t>: 5,552 řádků, 14 sloupců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000" dirty="0">
              <a:latin typeface="Arial"/>
              <a:cs typeface="Arial"/>
            </a:endParaRPr>
          </a:p>
          <a:p>
            <a:pPr marL="170815" indent="-170815"/>
            <a:r>
              <a:rPr lang="cs-CZ" sz="2000" b="1" dirty="0">
                <a:latin typeface="Arial"/>
                <a:cs typeface="Arial"/>
              </a:rPr>
              <a:t>LAYER 2: CLEANED DATA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Nástroj: </a:t>
            </a:r>
            <a:r>
              <a:rPr lang="cs-CZ" sz="2000" dirty="0" err="1">
                <a:latin typeface="Arial"/>
                <a:cs typeface="Arial"/>
              </a:rPr>
              <a:t>BigQuery</a:t>
            </a:r>
            <a:r>
              <a:rPr lang="cs-CZ" sz="2000" dirty="0">
                <a:latin typeface="Arial"/>
                <a:cs typeface="Arial"/>
              </a:rPr>
              <a:t> SQL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Počet transformací: 11 SQL dotazů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Klíčové transformace: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>
                <a:latin typeface="Arial"/>
                <a:cs typeface="Arial"/>
              </a:rPr>
              <a:t>City </a:t>
            </a:r>
            <a:r>
              <a:rPr lang="cs-CZ" sz="1800" err="1">
                <a:latin typeface="Arial"/>
                <a:cs typeface="Arial"/>
              </a:rPr>
              <a:t>name</a:t>
            </a:r>
            <a:r>
              <a:rPr lang="cs-CZ" sz="1800" dirty="0">
                <a:latin typeface="Arial"/>
                <a:cs typeface="Arial"/>
              </a:rPr>
              <a:t> standardizace: "AK: </a:t>
            </a:r>
            <a:r>
              <a:rPr lang="cs-CZ" sz="1800" err="1">
                <a:latin typeface="Arial"/>
                <a:cs typeface="Arial"/>
              </a:rPr>
              <a:t>Anchorage</a:t>
            </a:r>
            <a:r>
              <a:rPr lang="cs-CZ" sz="1800" dirty="0">
                <a:latin typeface="Arial"/>
                <a:cs typeface="Arial"/>
              </a:rPr>
              <a:t>" → "</a:t>
            </a:r>
            <a:r>
              <a:rPr lang="cs-CZ" sz="1800" err="1">
                <a:latin typeface="Arial"/>
                <a:cs typeface="Arial"/>
              </a:rPr>
              <a:t>Anchorage</a:t>
            </a:r>
            <a:r>
              <a:rPr lang="cs-CZ" sz="1800" dirty="0">
                <a:latin typeface="Arial"/>
                <a:cs typeface="Arial"/>
              </a:rPr>
              <a:t>, AK"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>
                <a:latin typeface="Arial"/>
                <a:cs typeface="Arial"/>
              </a:rPr>
              <a:t>Budget </a:t>
            </a:r>
            <a:r>
              <a:rPr lang="cs-CZ" sz="1800" err="1">
                <a:latin typeface="Arial"/>
                <a:cs typeface="Arial"/>
              </a:rPr>
              <a:t>scaling</a:t>
            </a:r>
            <a:r>
              <a:rPr lang="cs-CZ" sz="1800" dirty="0">
                <a:latin typeface="Arial"/>
                <a:cs typeface="Arial"/>
              </a:rPr>
              <a:t>: 266 → $266,000,000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 err="1">
                <a:latin typeface="Arial"/>
                <a:cs typeface="Arial"/>
              </a:rPr>
              <a:t>Budgets</a:t>
            </a:r>
            <a:r>
              <a:rPr lang="cs-CZ" sz="1800" dirty="0">
                <a:latin typeface="Arial"/>
                <a:cs typeface="Arial"/>
              </a:rPr>
              <a:t> </a:t>
            </a:r>
            <a:r>
              <a:rPr lang="cs-CZ" sz="1800" dirty="0" err="1">
                <a:latin typeface="Arial"/>
                <a:cs typeface="Arial"/>
              </a:rPr>
              <a:t>aggregation</a:t>
            </a:r>
            <a:r>
              <a:rPr lang="cs-CZ" sz="1800" dirty="0">
                <a:latin typeface="Arial"/>
                <a:cs typeface="Arial"/>
              </a:rPr>
              <a:t>: 8,938 řádků → 218 měst (GROUP BY city)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 err="1">
                <a:latin typeface="Arial"/>
                <a:cs typeface="Arial"/>
              </a:rPr>
              <a:t>Shootings</a:t>
            </a:r>
            <a:r>
              <a:rPr lang="cs-CZ" sz="1800" dirty="0">
                <a:latin typeface="Arial"/>
                <a:cs typeface="Arial"/>
              </a:rPr>
              <a:t> </a:t>
            </a:r>
            <a:r>
              <a:rPr lang="cs-CZ" sz="1800" dirty="0" err="1">
                <a:latin typeface="Arial"/>
                <a:cs typeface="Arial"/>
              </a:rPr>
              <a:t>aggregation</a:t>
            </a:r>
            <a:r>
              <a:rPr lang="cs-CZ" sz="1800" dirty="0">
                <a:latin typeface="Arial"/>
                <a:cs typeface="Arial"/>
              </a:rPr>
              <a:t>: 5,552 incidentů → 218 měst (GROUP BY city)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>
                <a:latin typeface="Arial"/>
                <a:cs typeface="Arial"/>
              </a:rPr>
              <a:t>Vytvoření per capita a </a:t>
            </a:r>
            <a:r>
              <a:rPr lang="cs-CZ" sz="1800" err="1">
                <a:latin typeface="Arial"/>
                <a:cs typeface="Arial"/>
              </a:rPr>
              <a:t>rate</a:t>
            </a:r>
            <a:r>
              <a:rPr lang="cs-CZ" sz="1800" dirty="0">
                <a:latin typeface="Arial"/>
                <a:cs typeface="Arial"/>
              </a:rPr>
              <a:t> metrik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100" dirty="0">
                <a:latin typeface="Arial"/>
                <a:cs typeface="Arial"/>
              </a:rPr>
              <a:t>Výstup: Čisté tabulky připravené pro JOIN</a:t>
            </a:r>
          </a:p>
          <a:p>
            <a:pPr marL="170815" indent="-170815"/>
            <a:endParaRPr lang="cs-CZ" sz="2000" dirty="0"/>
          </a:p>
          <a:p>
            <a:pPr marL="170815" indent="-170815"/>
            <a:endParaRPr lang="cs-CZ" sz="2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218622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E2FC-9D69-5932-62FE-7CDA7CB4B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EC7BFF-43CF-16F9-249A-7F8747EB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Arial"/>
                <a:cs typeface="Arial"/>
              </a:rPr>
              <a:t>Popis vrstev architektury – 2/2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32A233AC-4C52-8DDC-7ECB-DD990573F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latin typeface="Arial"/>
                <a:cs typeface="Arial"/>
              </a:rPr>
              <a:t>LAYER 3: ANALYTICAL DATA (</a:t>
            </a:r>
            <a:r>
              <a:rPr lang="cs-CZ" sz="1800" b="1" err="1">
                <a:latin typeface="Arial"/>
                <a:cs typeface="Arial"/>
              </a:rPr>
              <a:t>police_shootings_master</a:t>
            </a:r>
            <a:r>
              <a:rPr lang="cs-CZ" sz="1800" b="1" dirty="0">
                <a:latin typeface="Arial"/>
                <a:cs typeface="Arial"/>
              </a:rPr>
              <a:t> </a:t>
            </a:r>
            <a:r>
              <a:rPr lang="cs-CZ" sz="1800" b="1" err="1">
                <a:latin typeface="Arial"/>
                <a:cs typeface="Arial"/>
              </a:rPr>
              <a:t>dataset</a:t>
            </a:r>
            <a:r>
              <a:rPr lang="cs-CZ" sz="1800" b="1" dirty="0">
                <a:latin typeface="Arial"/>
                <a:cs typeface="Arial"/>
              </a:rPr>
              <a:t>)</a:t>
            </a:r>
            <a:endParaRPr lang="en-US" sz="1800" b="1" dirty="0"/>
          </a:p>
          <a:p>
            <a:pPr marL="513715" lvl="1" indent="-170815">
              <a:buFont typeface="Courier New,monospace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Nástroj: </a:t>
            </a:r>
            <a:r>
              <a:rPr lang="cs-CZ" sz="1600" dirty="0" err="1">
                <a:latin typeface="Arial"/>
                <a:cs typeface="Arial"/>
              </a:rPr>
              <a:t>BigQuery</a:t>
            </a:r>
            <a:r>
              <a:rPr lang="cs-CZ" sz="1600" dirty="0">
                <a:latin typeface="Arial"/>
                <a:cs typeface="Arial"/>
              </a:rPr>
              <a:t> SQL</a:t>
            </a:r>
            <a:endParaRPr lang="cs-CZ" sz="1600" dirty="0"/>
          </a:p>
          <a:p>
            <a:pPr marL="513715" lvl="1" indent="-170815">
              <a:buFont typeface="Courier New,monospace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Data </a:t>
            </a:r>
            <a:r>
              <a:rPr lang="cs-CZ" sz="1600" dirty="0" err="1">
                <a:latin typeface="Arial"/>
                <a:cs typeface="Arial"/>
              </a:rPr>
              <a:t>reduction</a:t>
            </a:r>
            <a:r>
              <a:rPr lang="cs-CZ" sz="1600" dirty="0">
                <a:latin typeface="Arial"/>
                <a:cs typeface="Arial"/>
              </a:rPr>
              <a:t>: 218 měst → 174 </a:t>
            </a:r>
            <a:r>
              <a:rPr lang="cs-CZ" sz="1600" dirty="0" err="1">
                <a:latin typeface="Arial"/>
                <a:cs typeface="Arial"/>
              </a:rPr>
              <a:t>matched</a:t>
            </a:r>
            <a:r>
              <a:rPr lang="cs-CZ" sz="1600" dirty="0">
                <a:latin typeface="Arial"/>
                <a:cs typeface="Arial"/>
              </a:rPr>
              <a:t> </a:t>
            </a:r>
            <a:r>
              <a:rPr lang="cs-CZ" sz="1600" dirty="0" err="1">
                <a:latin typeface="Arial"/>
                <a:cs typeface="Arial"/>
              </a:rPr>
              <a:t>cities</a:t>
            </a:r>
            <a:r>
              <a:rPr lang="cs-CZ" sz="1600" dirty="0">
                <a:latin typeface="Arial"/>
                <a:cs typeface="Arial"/>
              </a:rPr>
              <a:t> (INNER JOIN)</a:t>
            </a:r>
            <a:endParaRPr lang="cs-CZ" sz="1600" dirty="0"/>
          </a:p>
          <a:p>
            <a:pPr marL="513715" lvl="1" indent="-170815">
              <a:buFont typeface="Courier New,monospace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Klíčové transformace:</a:t>
            </a: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INNER JOIN </a:t>
            </a:r>
            <a:r>
              <a:rPr lang="cs-CZ" sz="1600" dirty="0" err="1">
                <a:latin typeface="Arial"/>
                <a:cs typeface="Arial"/>
              </a:rPr>
              <a:t>budgets</a:t>
            </a:r>
            <a:r>
              <a:rPr lang="cs-CZ" sz="1600" dirty="0">
                <a:latin typeface="Arial"/>
                <a:cs typeface="Arial"/>
              </a:rPr>
              <a:t> + </a:t>
            </a:r>
            <a:r>
              <a:rPr lang="cs-CZ" sz="1600" dirty="0" err="1">
                <a:latin typeface="Arial"/>
                <a:cs typeface="Arial"/>
              </a:rPr>
              <a:t>shootings</a:t>
            </a:r>
            <a:r>
              <a:rPr lang="cs-CZ" sz="1600" dirty="0">
                <a:latin typeface="Arial"/>
                <a:cs typeface="Arial"/>
              </a:rPr>
              <a:t> na </a:t>
            </a:r>
            <a:r>
              <a:rPr lang="cs-CZ" sz="1600" dirty="0" err="1">
                <a:latin typeface="Arial"/>
                <a:cs typeface="Arial"/>
              </a:rPr>
              <a:t>city_state</a:t>
            </a:r>
            <a:endParaRPr lang="cs-CZ" sz="1600" dirty="0" err="1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Kalkulace </a:t>
            </a:r>
            <a:r>
              <a:rPr lang="cs-CZ" sz="1600" dirty="0" err="1">
                <a:latin typeface="Arial"/>
                <a:cs typeface="Arial"/>
              </a:rPr>
              <a:t>derived</a:t>
            </a:r>
            <a:r>
              <a:rPr lang="cs-CZ" sz="1600" dirty="0">
                <a:latin typeface="Arial"/>
                <a:cs typeface="Arial"/>
              </a:rPr>
              <a:t> metrik (per capita, </a:t>
            </a:r>
            <a:r>
              <a:rPr lang="cs-CZ" sz="1600" dirty="0" err="1">
                <a:latin typeface="Arial"/>
                <a:cs typeface="Arial"/>
              </a:rPr>
              <a:t>rates</a:t>
            </a:r>
            <a:r>
              <a:rPr lang="cs-CZ" sz="1600" dirty="0">
                <a:latin typeface="Arial"/>
                <a:cs typeface="Arial"/>
              </a:rPr>
              <a:t>)</a:t>
            </a: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Kategorizace pomocí NTILE (</a:t>
            </a:r>
            <a:r>
              <a:rPr lang="cs-CZ" sz="1600" dirty="0" err="1">
                <a:latin typeface="Arial"/>
                <a:cs typeface="Arial"/>
              </a:rPr>
              <a:t>tercily</a:t>
            </a:r>
            <a:r>
              <a:rPr lang="cs-CZ" sz="1600" dirty="0">
                <a:latin typeface="Arial"/>
                <a:cs typeface="Arial"/>
              </a:rPr>
              <a:t>)</a:t>
            </a: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Kategorizace </a:t>
            </a:r>
            <a:r>
              <a:rPr lang="cs-CZ" sz="1600" dirty="0" err="1">
                <a:latin typeface="Arial"/>
                <a:cs typeface="Arial"/>
              </a:rPr>
              <a:t>individual</a:t>
            </a:r>
            <a:r>
              <a:rPr lang="cs-CZ" sz="1600" dirty="0">
                <a:latin typeface="Arial"/>
                <a:cs typeface="Arial"/>
              </a:rPr>
              <a:t> </a:t>
            </a:r>
            <a:r>
              <a:rPr lang="cs-CZ" sz="1600" dirty="0" err="1">
                <a:latin typeface="Arial"/>
                <a:cs typeface="Arial"/>
              </a:rPr>
              <a:t>shootings</a:t>
            </a:r>
            <a:endParaRPr lang="cs-CZ" sz="1600" dirty="0" err="1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Výstupní tabulky: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	</a:t>
            </a:r>
            <a:r>
              <a:rPr lang="cs-CZ" sz="1600" dirty="0" err="1">
                <a:latin typeface="Arial"/>
                <a:cs typeface="Arial"/>
              </a:rPr>
              <a:t>master_dataset</a:t>
            </a:r>
            <a:r>
              <a:rPr lang="cs-CZ" sz="1600" dirty="0">
                <a:latin typeface="Arial"/>
                <a:cs typeface="Arial"/>
              </a:rPr>
              <a:t> (174 </a:t>
            </a:r>
            <a:r>
              <a:rPr lang="cs-CZ" sz="1600" dirty="0" err="1">
                <a:latin typeface="Arial"/>
                <a:cs typeface="Arial"/>
              </a:rPr>
              <a:t>rows</a:t>
            </a:r>
            <a:r>
              <a:rPr lang="cs-CZ" sz="1600" dirty="0">
                <a:latin typeface="Arial"/>
                <a:cs typeface="Arial"/>
              </a:rPr>
              <a:t>) - Základní spojená data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 err="1">
                <a:latin typeface="Arial"/>
                <a:cs typeface="Arial"/>
              </a:rPr>
              <a:t>master_dataset_categorized</a:t>
            </a:r>
            <a:r>
              <a:rPr lang="cs-CZ" sz="1600" dirty="0">
                <a:latin typeface="Arial"/>
                <a:cs typeface="Arial"/>
              </a:rPr>
              <a:t> (174 </a:t>
            </a:r>
            <a:r>
              <a:rPr lang="cs-CZ" sz="1600" dirty="0" err="1">
                <a:latin typeface="Arial"/>
                <a:cs typeface="Arial"/>
              </a:rPr>
              <a:t>rows</a:t>
            </a:r>
            <a:r>
              <a:rPr lang="cs-CZ" sz="1600" dirty="0">
                <a:latin typeface="Arial"/>
                <a:cs typeface="Arial"/>
              </a:rPr>
              <a:t>) - S kategoriemi pro data </a:t>
            </a:r>
            <a:r>
              <a:rPr lang="cs-CZ" sz="1600" dirty="0" err="1">
                <a:latin typeface="Arial"/>
                <a:cs typeface="Arial"/>
              </a:rPr>
              <a:t>mining</a:t>
            </a:r>
            <a:endParaRPr lang="cs-CZ" sz="1600" dirty="0">
              <a:latin typeface="Arial"/>
              <a:cs typeface="Arial"/>
            </a:endParaRP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 err="1">
                <a:latin typeface="Arial"/>
                <a:cs typeface="Arial"/>
              </a:rPr>
              <a:t>shootings_detailed_categorized</a:t>
            </a:r>
            <a:r>
              <a:rPr lang="cs-CZ" sz="1600" dirty="0">
                <a:latin typeface="Arial"/>
                <a:cs typeface="Arial"/>
              </a:rPr>
              <a:t> (1,706 </a:t>
            </a:r>
            <a:r>
              <a:rPr lang="cs-CZ" sz="1600" dirty="0" err="1">
                <a:latin typeface="Arial"/>
                <a:cs typeface="Arial"/>
              </a:rPr>
              <a:t>rows</a:t>
            </a:r>
            <a:r>
              <a:rPr lang="cs-CZ" sz="1600" dirty="0">
                <a:latin typeface="Arial"/>
                <a:cs typeface="Arial"/>
              </a:rPr>
              <a:t>) - Detail incidentů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600" dirty="0">
              <a:latin typeface="Arial"/>
              <a:cs typeface="Arial"/>
            </a:endParaRPr>
          </a:p>
          <a:p>
            <a:pPr marL="170815" indent="-170815"/>
            <a:r>
              <a:rPr lang="cs-CZ" sz="1800" b="1" dirty="0">
                <a:latin typeface="Arial"/>
                <a:cs typeface="Arial"/>
              </a:rPr>
              <a:t>EXPORT PRO ANALÝZU</a:t>
            </a:r>
            <a:endParaRPr lang="cs-CZ" sz="1800" b="1" dirty="0"/>
          </a:p>
          <a:p>
            <a:pPr marL="513715" lvl="1" indent="-170815">
              <a:buFont typeface="Courier New,monospace" panose="020B0604020202020204" pitchFamily="34" charset="0"/>
              <a:buChar char="o"/>
            </a:pPr>
            <a:r>
              <a:rPr lang="cs-CZ" sz="1600" err="1">
                <a:latin typeface="Arial"/>
                <a:cs typeface="Arial"/>
              </a:rPr>
              <a:t>Power</a:t>
            </a:r>
            <a:r>
              <a:rPr lang="cs-CZ" sz="1600" dirty="0">
                <a:latin typeface="Arial"/>
                <a:cs typeface="Arial"/>
              </a:rPr>
              <a:t> BI: Export tabulek do Google </a:t>
            </a:r>
            <a:r>
              <a:rPr lang="cs-CZ" sz="1600" err="1">
                <a:latin typeface="Arial"/>
                <a:cs typeface="Arial"/>
              </a:rPr>
              <a:t>Buckets</a:t>
            </a:r>
            <a:r>
              <a:rPr lang="cs-CZ" sz="1600" dirty="0">
                <a:latin typeface="Arial"/>
                <a:cs typeface="Arial"/>
              </a:rPr>
              <a:t> a Export z Google </a:t>
            </a:r>
            <a:r>
              <a:rPr lang="cs-CZ" sz="1600" err="1">
                <a:latin typeface="Arial"/>
                <a:cs typeface="Arial"/>
              </a:rPr>
              <a:t>Buckets</a:t>
            </a:r>
            <a:r>
              <a:rPr lang="cs-CZ" sz="1600">
                <a:latin typeface="Arial"/>
                <a:cs typeface="Arial"/>
              </a:rPr>
              <a:t> jako CSV soubory</a:t>
            </a:r>
          </a:p>
          <a:p>
            <a:pPr marL="170815" indent="-170815"/>
            <a:endParaRPr lang="cs-CZ" sz="2000" dirty="0"/>
          </a:p>
          <a:p>
            <a:pPr marL="170815" indent="-170815"/>
            <a:endParaRPr lang="cs-CZ" sz="2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170449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E49E0-766A-1D96-B283-DB4D801D8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C0FF42-EB81-A36D-292B-FF84665A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19" y="1100016"/>
            <a:ext cx="7883452" cy="62382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2400" dirty="0" err="1">
                <a:latin typeface="Arial"/>
                <a:cs typeface="Arial"/>
              </a:rPr>
              <a:t>Workflow</a:t>
            </a:r>
            <a:r>
              <a:rPr lang="cs-CZ" sz="2400" dirty="0">
                <a:latin typeface="Arial"/>
                <a:cs typeface="Arial"/>
              </a:rPr>
              <a:t> zpracování dat - ETL </a:t>
            </a:r>
            <a:r>
              <a:rPr lang="cs-CZ" sz="2400" dirty="0" err="1">
                <a:latin typeface="Arial"/>
                <a:cs typeface="Arial"/>
              </a:rPr>
              <a:t>Pipeline</a:t>
            </a:r>
            <a:r>
              <a:rPr lang="cs-CZ" sz="2400" dirty="0">
                <a:latin typeface="Arial"/>
                <a:cs typeface="Arial"/>
              </a:rPr>
              <a:t> (detailní kroky)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0E8A8DF2-D19B-0560-1568-139BF791E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11" y="186553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latin typeface="Arial"/>
                <a:cs typeface="Arial"/>
              </a:rPr>
              <a:t>Fáze 1: </a:t>
            </a:r>
            <a:r>
              <a:rPr lang="cs-CZ" sz="1800" b="1" dirty="0" err="1">
                <a:latin typeface="Arial"/>
                <a:cs typeface="Arial"/>
              </a:rPr>
              <a:t>Extract</a:t>
            </a:r>
            <a:r>
              <a:rPr lang="cs-CZ" sz="1800" b="1" dirty="0">
                <a:latin typeface="Arial"/>
                <a:cs typeface="Arial"/>
              </a:rPr>
              <a:t> (Nahrání do </a:t>
            </a:r>
            <a:r>
              <a:rPr lang="cs-CZ" sz="1800" b="1" dirty="0" err="1">
                <a:latin typeface="Arial"/>
                <a:cs typeface="Arial"/>
              </a:rPr>
              <a:t>BigQuery</a:t>
            </a:r>
            <a:r>
              <a:rPr lang="cs-CZ" sz="1800" b="1" dirty="0">
                <a:latin typeface="Arial"/>
                <a:cs typeface="Arial"/>
              </a:rPr>
              <a:t>)</a:t>
            </a:r>
            <a:endParaRPr lang="cs-CZ" sz="1800" b="1" dirty="0"/>
          </a:p>
          <a:p>
            <a:pPr marL="513715" lvl="1" indent="-342900">
              <a:buFont typeface="Courier New" panose="020B0604020202020204" pitchFamily="34" charset="0"/>
              <a:buChar char="o"/>
            </a:pPr>
            <a:r>
              <a:rPr lang="cs-CZ" sz="1500" dirty="0">
                <a:latin typeface="Arial"/>
                <a:cs typeface="Arial"/>
              </a:rPr>
              <a:t>budgets.csv → </a:t>
            </a:r>
            <a:r>
              <a:rPr lang="cs-CZ" sz="1500" err="1">
                <a:latin typeface="Arial"/>
                <a:cs typeface="Arial"/>
              </a:rPr>
              <a:t>BigQuery</a:t>
            </a:r>
            <a:r>
              <a:rPr lang="cs-CZ" sz="1500" dirty="0">
                <a:latin typeface="Arial"/>
                <a:cs typeface="Arial"/>
              </a:rPr>
              <a:t> Upload → </a:t>
            </a:r>
            <a:r>
              <a:rPr lang="cs-CZ" sz="1500" err="1">
                <a:latin typeface="Arial"/>
                <a:cs typeface="Arial"/>
              </a:rPr>
              <a:t>budgets_raw</a:t>
            </a:r>
            <a:endParaRPr lang="cs-CZ" sz="1500" dirty="0" err="1">
              <a:latin typeface="Arial"/>
              <a:cs typeface="Arial"/>
            </a:endParaRPr>
          </a:p>
          <a:p>
            <a:pPr marL="513715" lvl="1" indent="-342900">
              <a:buFont typeface="Courier New" panose="020B0604020202020204" pitchFamily="34" charset="0"/>
              <a:buChar char="o"/>
            </a:pPr>
            <a:r>
              <a:rPr lang="cs-CZ" sz="1500" dirty="0">
                <a:latin typeface="Arial"/>
                <a:cs typeface="Arial"/>
              </a:rPr>
              <a:t>shootings_wash_post.csv → </a:t>
            </a:r>
            <a:r>
              <a:rPr lang="cs-CZ" sz="1500" dirty="0" err="1">
                <a:latin typeface="Arial"/>
                <a:cs typeface="Arial"/>
              </a:rPr>
              <a:t>BigQuery</a:t>
            </a:r>
            <a:r>
              <a:rPr lang="cs-CZ" sz="1500" dirty="0">
                <a:latin typeface="Arial"/>
                <a:cs typeface="Arial"/>
              </a:rPr>
              <a:t> Upload → </a:t>
            </a:r>
            <a:r>
              <a:rPr lang="cs-CZ" sz="1500" dirty="0" err="1">
                <a:latin typeface="Arial"/>
                <a:cs typeface="Arial"/>
              </a:rPr>
              <a:t>shootings_raw</a:t>
            </a:r>
            <a:endParaRPr lang="cs-CZ" sz="1500">
              <a:latin typeface="Arial"/>
              <a:cs typeface="Arial"/>
            </a:endParaRPr>
          </a:p>
          <a:p>
            <a:pPr marL="513715" lvl="1" indent="-342900">
              <a:buFont typeface="Courier New" panose="020B0604020202020204" pitchFamily="34" charset="0"/>
              <a:buChar char="o"/>
            </a:pPr>
            <a:endParaRPr lang="cs-CZ" sz="1500" b="1" dirty="0">
              <a:latin typeface="Arial"/>
              <a:cs typeface="Arial"/>
            </a:endParaRPr>
          </a:p>
          <a:p>
            <a:pPr marL="170815" indent="-170815"/>
            <a:r>
              <a:rPr lang="cs-CZ" sz="1800" b="1" dirty="0">
                <a:latin typeface="Arial"/>
                <a:cs typeface="Arial"/>
              </a:rPr>
              <a:t>Fáze 2: </a:t>
            </a:r>
            <a:r>
              <a:rPr lang="cs-CZ" sz="1800" b="1" dirty="0" err="1">
                <a:latin typeface="Arial"/>
                <a:cs typeface="Arial"/>
              </a:rPr>
              <a:t>Transform</a:t>
            </a:r>
            <a:r>
              <a:rPr lang="cs-CZ" sz="1800" b="1" dirty="0">
                <a:latin typeface="Arial"/>
                <a:cs typeface="Arial"/>
              </a:rPr>
              <a:t> - </a:t>
            </a:r>
            <a:r>
              <a:rPr lang="cs-CZ" sz="1800" b="1" dirty="0" err="1">
                <a:latin typeface="Arial"/>
                <a:cs typeface="Arial"/>
              </a:rPr>
              <a:t>Cleaning</a:t>
            </a:r>
          </a:p>
          <a:p>
            <a:pPr marL="170815" indent="-170815">
              <a:buNone/>
            </a:pPr>
            <a:r>
              <a:rPr lang="cs-CZ" sz="1200" dirty="0">
                <a:latin typeface="Consolas"/>
                <a:ea typeface="Verdana"/>
                <a:cs typeface="Arial"/>
              </a:rPr>
              <a:t>-- Krok 1: </a:t>
            </a:r>
            <a:r>
              <a:rPr lang="cs-CZ" sz="1200" err="1">
                <a:latin typeface="Consolas"/>
                <a:ea typeface="Verdana"/>
                <a:cs typeface="Arial"/>
              </a:rPr>
              <a:t>Shootings</a:t>
            </a:r>
            <a:r>
              <a:rPr lang="cs-CZ" sz="1200" dirty="0">
                <a:latin typeface="Consolas"/>
                <a:ea typeface="Verdana"/>
                <a:cs typeface="Arial"/>
              </a:rPr>
              <a:t> </a:t>
            </a:r>
            <a:r>
              <a:rPr lang="cs-CZ" sz="1200" err="1">
                <a:latin typeface="Consolas"/>
                <a:ea typeface="Verdana"/>
                <a:cs typeface="Arial"/>
              </a:rPr>
              <a:t>cleaning</a:t>
            </a:r>
            <a:endParaRPr lang="cs-CZ" sz="1200">
              <a:latin typeface="Consolas"/>
              <a:cs typeface="Arial"/>
            </a:endParaRPr>
          </a:p>
          <a:p>
            <a:pPr marL="170815" indent="-170815">
              <a:buNone/>
            </a:pPr>
            <a:r>
              <a:rPr lang="cs-CZ" sz="1200" dirty="0">
                <a:latin typeface="Consolas"/>
                <a:ea typeface="Verdana"/>
                <a:cs typeface="Arial"/>
              </a:rPr>
              <a:t>CREATE TABLE </a:t>
            </a:r>
            <a:r>
              <a:rPr lang="cs-CZ" sz="1200" err="1">
                <a:latin typeface="Consolas"/>
                <a:ea typeface="Verdana"/>
                <a:cs typeface="Arial"/>
              </a:rPr>
              <a:t>shootings_cleaned</a:t>
            </a:r>
            <a:r>
              <a:rPr lang="cs-CZ" sz="1200" dirty="0">
                <a:latin typeface="Consolas"/>
                <a:ea typeface="Verdana"/>
                <a:cs typeface="Arial"/>
              </a:rPr>
              <a:t> AS</a:t>
            </a:r>
            <a:endParaRPr lang="cs-CZ" sz="1200">
              <a:latin typeface="Consolas"/>
              <a:cs typeface="Arial"/>
            </a:endParaRPr>
          </a:p>
          <a:p>
            <a:pPr marL="170815" indent="-170815">
              <a:buNone/>
            </a:pPr>
            <a:r>
              <a:rPr lang="cs-CZ" sz="1200" dirty="0">
                <a:latin typeface="Consolas"/>
                <a:ea typeface="Verdana"/>
                <a:cs typeface="Arial"/>
              </a:rPr>
              <a:t>SELECT</a:t>
            </a:r>
            <a:endParaRPr lang="cs-CZ" sz="1200">
              <a:latin typeface="Consolas"/>
              <a:cs typeface="Arial"/>
            </a:endParaRPr>
          </a:p>
          <a:p>
            <a:pPr marL="170815" indent="-170815">
              <a:buNone/>
            </a:pPr>
            <a:r>
              <a:rPr lang="cs-CZ" sz="1200" dirty="0">
                <a:latin typeface="Consolas"/>
                <a:ea typeface="Verdana"/>
                <a:cs typeface="Arial"/>
              </a:rPr>
              <a:t>  TRIM(INITCAP(city)) AS </a:t>
            </a:r>
            <a:r>
              <a:rPr lang="cs-CZ" sz="1200" err="1">
                <a:latin typeface="Consolas"/>
                <a:ea typeface="Verdana"/>
                <a:cs typeface="Arial"/>
              </a:rPr>
              <a:t>city_clean</a:t>
            </a:r>
            <a:r>
              <a:rPr lang="cs-CZ" sz="1200" dirty="0">
                <a:latin typeface="Consolas"/>
                <a:ea typeface="Verdana"/>
                <a:cs typeface="Arial"/>
              </a:rPr>
              <a:t>,</a:t>
            </a:r>
            <a:endParaRPr lang="cs-CZ" sz="1200">
              <a:latin typeface="Consolas"/>
              <a:cs typeface="Arial"/>
            </a:endParaRPr>
          </a:p>
          <a:p>
            <a:pPr marL="170815" indent="-170815">
              <a:buNone/>
            </a:pPr>
            <a:r>
              <a:rPr lang="cs-CZ" sz="1200" dirty="0">
                <a:latin typeface="Consolas"/>
                <a:ea typeface="Verdana"/>
                <a:cs typeface="Arial"/>
              </a:rPr>
              <a:t>  TRIM(UPPER(</a:t>
            </a:r>
            <a:r>
              <a:rPr lang="cs-CZ" sz="1200" err="1">
                <a:latin typeface="Consolas"/>
                <a:ea typeface="Verdana"/>
                <a:cs typeface="Arial"/>
              </a:rPr>
              <a:t>state</a:t>
            </a:r>
            <a:r>
              <a:rPr lang="cs-CZ" sz="1200" dirty="0">
                <a:latin typeface="Consolas"/>
                <a:ea typeface="Verdana"/>
                <a:cs typeface="Arial"/>
              </a:rPr>
              <a:t>)) AS </a:t>
            </a:r>
            <a:r>
              <a:rPr lang="cs-CZ" sz="1200" err="1">
                <a:latin typeface="Consolas"/>
                <a:ea typeface="Verdana"/>
                <a:cs typeface="Arial"/>
              </a:rPr>
              <a:t>state_clean</a:t>
            </a:r>
            <a:r>
              <a:rPr lang="cs-CZ" sz="1200" dirty="0">
                <a:latin typeface="Consolas"/>
                <a:ea typeface="Verdana"/>
                <a:cs typeface="Arial"/>
              </a:rPr>
              <a:t>,</a:t>
            </a:r>
            <a:endParaRPr lang="cs-CZ" sz="1200">
              <a:latin typeface="Consolas"/>
              <a:cs typeface="Arial"/>
            </a:endParaRPr>
          </a:p>
          <a:p>
            <a:pPr marL="170815" indent="-170815">
              <a:buNone/>
            </a:pPr>
            <a:r>
              <a:rPr lang="cs-CZ" sz="1200" dirty="0">
                <a:latin typeface="Consolas"/>
                <a:ea typeface="Verdana"/>
                <a:cs typeface="Arial"/>
              </a:rPr>
              <a:t>  CONCAT(</a:t>
            </a:r>
            <a:r>
              <a:rPr lang="cs-CZ" sz="1200" err="1">
                <a:latin typeface="Consolas"/>
                <a:ea typeface="Verdana"/>
                <a:cs typeface="Arial"/>
              </a:rPr>
              <a:t>city_clean</a:t>
            </a:r>
            <a:r>
              <a:rPr lang="cs-CZ" sz="1200" dirty="0">
                <a:latin typeface="Consolas"/>
                <a:ea typeface="Verdana"/>
                <a:cs typeface="Arial"/>
              </a:rPr>
              <a:t>, ', ', </a:t>
            </a:r>
            <a:r>
              <a:rPr lang="cs-CZ" sz="1200" err="1">
                <a:latin typeface="Consolas"/>
                <a:ea typeface="Verdana"/>
                <a:cs typeface="Arial"/>
              </a:rPr>
              <a:t>state_clean</a:t>
            </a:r>
            <a:r>
              <a:rPr lang="cs-CZ" sz="1200" dirty="0">
                <a:latin typeface="Consolas"/>
                <a:ea typeface="Verdana"/>
                <a:cs typeface="Arial"/>
              </a:rPr>
              <a:t>) AS </a:t>
            </a:r>
            <a:r>
              <a:rPr lang="cs-CZ" sz="1200" err="1">
                <a:latin typeface="Consolas"/>
                <a:ea typeface="Verdana"/>
                <a:cs typeface="Arial"/>
              </a:rPr>
              <a:t>city_state</a:t>
            </a:r>
            <a:r>
              <a:rPr lang="cs-CZ" sz="1200" dirty="0">
                <a:latin typeface="Consolas"/>
                <a:ea typeface="Verdana"/>
                <a:cs typeface="Arial"/>
              </a:rPr>
              <a:t>,</a:t>
            </a:r>
            <a:endParaRPr lang="cs-CZ" sz="1200">
              <a:latin typeface="Consolas"/>
              <a:cs typeface="Arial"/>
            </a:endParaRPr>
          </a:p>
          <a:p>
            <a:pPr marL="170815" indent="-170815">
              <a:buNone/>
            </a:pPr>
            <a:r>
              <a:rPr lang="cs-CZ" sz="1200" dirty="0">
                <a:latin typeface="Consolas"/>
                <a:ea typeface="Verdana"/>
                <a:cs typeface="Arial"/>
              </a:rPr>
              <a:t>  ... další sloupce</a:t>
            </a:r>
            <a:endParaRPr lang="cs-CZ" sz="1200">
              <a:latin typeface="Consolas"/>
              <a:cs typeface="Arial"/>
            </a:endParaRPr>
          </a:p>
          <a:p>
            <a:pPr marL="170815" indent="-170815">
              <a:buNone/>
            </a:pPr>
            <a:r>
              <a:rPr lang="cs-CZ" sz="1200" dirty="0">
                <a:latin typeface="Consolas"/>
                <a:ea typeface="Verdana"/>
                <a:cs typeface="Arial"/>
              </a:rPr>
              <a:t>FROM </a:t>
            </a:r>
            <a:r>
              <a:rPr lang="cs-CZ" sz="1200" err="1">
                <a:latin typeface="Consolas"/>
                <a:ea typeface="Verdana"/>
                <a:cs typeface="Arial"/>
              </a:rPr>
              <a:t>shootings_raw</a:t>
            </a:r>
            <a:endParaRPr lang="cs-CZ" sz="1200">
              <a:latin typeface="Consolas"/>
              <a:cs typeface="Arial"/>
            </a:endParaRPr>
          </a:p>
          <a:p>
            <a:pPr marL="170815" indent="-170815">
              <a:buNone/>
            </a:pPr>
            <a:r>
              <a:rPr lang="cs-CZ" sz="1200" dirty="0">
                <a:latin typeface="Consolas"/>
                <a:ea typeface="Verdana"/>
                <a:cs typeface="Arial"/>
              </a:rPr>
              <a:t>WHERE city IS NOT NULL AND </a:t>
            </a:r>
            <a:r>
              <a:rPr lang="cs-CZ" sz="1200" err="1">
                <a:latin typeface="Consolas"/>
                <a:ea typeface="Verdana"/>
                <a:cs typeface="Arial"/>
              </a:rPr>
              <a:t>state</a:t>
            </a:r>
            <a:r>
              <a:rPr lang="cs-CZ" sz="1200" dirty="0">
                <a:latin typeface="Consolas"/>
                <a:ea typeface="Verdana"/>
                <a:cs typeface="Arial"/>
              </a:rPr>
              <a:t> IS NOT NULL;</a:t>
            </a:r>
            <a:endParaRPr lang="cs-CZ" sz="1200" dirty="0">
              <a:latin typeface="Consolas"/>
              <a:cs typeface="Arial"/>
            </a:endParaRPr>
          </a:p>
          <a:p>
            <a:pPr marL="170815" indent="-170815">
              <a:buNone/>
            </a:pPr>
            <a:endParaRPr lang="cs-CZ" sz="1600" dirty="0">
              <a:latin typeface="Consolas"/>
            </a:endParaRPr>
          </a:p>
          <a:p>
            <a:pPr marL="170815" indent="-170815">
              <a:buNone/>
            </a:pPr>
            <a:endParaRPr lang="cs-CZ" sz="1200" dirty="0">
              <a:latin typeface="Consolas"/>
              <a:ea typeface="Verdana"/>
              <a:cs typeface="Arial"/>
            </a:endParaRPr>
          </a:p>
          <a:p>
            <a:pPr marL="170815" indent="-170815"/>
            <a:endParaRPr lang="cs-CZ" sz="1800" dirty="0">
              <a:ea typeface="Verdana"/>
            </a:endParaRPr>
          </a:p>
          <a:p>
            <a:pPr marL="170815" indent="-170815"/>
            <a:endParaRPr lang="cs-CZ" sz="2000" dirty="0"/>
          </a:p>
          <a:p>
            <a:pPr marL="170815" indent="-170815"/>
            <a:endParaRPr lang="cs-CZ" sz="2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8D36C50A-CDEF-B036-B486-78219BEF21AC}"/>
              </a:ext>
            </a:extLst>
          </p:cNvPr>
          <p:cNvSpPr txBox="1"/>
          <p:nvPr/>
        </p:nvSpPr>
        <p:spPr>
          <a:xfrm>
            <a:off x="5052117" y="3431875"/>
            <a:ext cx="4094018" cy="29443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0815" indent="-170815">
              <a:spcBef>
                <a:spcPts val="750"/>
              </a:spcBef>
            </a:pPr>
            <a:r>
              <a:rPr lang="cs-CZ" sz="1200">
                <a:latin typeface="Consolas"/>
              </a:rPr>
              <a:t>-- Krok 2: Budgets cleaning</a:t>
            </a:r>
            <a:endParaRPr lang="en-US" sz="1200">
              <a:latin typeface="Consolas"/>
            </a:endParaRPr>
          </a:p>
          <a:p>
            <a:pPr marL="170815" indent="-170815">
              <a:spcBef>
                <a:spcPts val="750"/>
              </a:spcBef>
            </a:pPr>
            <a:r>
              <a:rPr lang="cs-CZ" sz="1200" dirty="0">
                <a:latin typeface="Consolas"/>
              </a:rPr>
              <a:t>CREATE TABLE </a:t>
            </a:r>
            <a:r>
              <a:rPr lang="cs-CZ" sz="1200" dirty="0" err="1">
                <a:latin typeface="Consolas"/>
              </a:rPr>
              <a:t>budgets_cleaned</a:t>
            </a:r>
            <a:r>
              <a:rPr lang="cs-CZ" sz="1200" dirty="0">
                <a:latin typeface="Consolas"/>
              </a:rPr>
              <a:t> AS</a:t>
            </a:r>
          </a:p>
          <a:p>
            <a:pPr marL="170815" indent="-170815">
              <a:spcBef>
                <a:spcPts val="750"/>
              </a:spcBef>
            </a:pPr>
            <a:r>
              <a:rPr lang="cs-CZ" sz="1200" dirty="0">
                <a:latin typeface="Consolas"/>
              </a:rPr>
              <a:t>SELECT</a:t>
            </a:r>
          </a:p>
          <a:p>
            <a:pPr marL="170815" indent="-170815">
              <a:spcBef>
                <a:spcPts val="750"/>
              </a:spcBef>
            </a:pPr>
            <a:r>
              <a:rPr lang="cs-CZ" sz="1200" dirty="0">
                <a:latin typeface="Consolas"/>
              </a:rPr>
              <a:t>  SPLIT(</a:t>
            </a:r>
            <a:r>
              <a:rPr lang="cs-CZ" sz="1200" dirty="0" err="1">
                <a:latin typeface="Consolas"/>
              </a:rPr>
              <a:t>city_name</a:t>
            </a:r>
            <a:r>
              <a:rPr lang="cs-CZ" sz="1200" dirty="0">
                <a:latin typeface="Consolas"/>
              </a:rPr>
              <a:t>, ':')[SAFE_OFFSET(1)] AS </a:t>
            </a:r>
            <a:r>
              <a:rPr lang="cs-CZ" sz="1200" dirty="0" err="1">
                <a:latin typeface="Consolas"/>
              </a:rPr>
              <a:t>city_clean</a:t>
            </a:r>
            <a:r>
              <a:rPr lang="cs-CZ" sz="1200" dirty="0">
                <a:latin typeface="Consolas"/>
              </a:rPr>
              <a:t>,</a:t>
            </a:r>
          </a:p>
          <a:p>
            <a:pPr marL="170815" indent="-170815">
              <a:spcBef>
                <a:spcPts val="750"/>
              </a:spcBef>
            </a:pPr>
            <a:r>
              <a:rPr lang="cs-CZ" sz="1200" dirty="0">
                <a:latin typeface="Consolas"/>
              </a:rPr>
              <a:t>  SPLIT(</a:t>
            </a:r>
            <a:r>
              <a:rPr lang="cs-CZ" sz="1200" dirty="0" err="1">
                <a:latin typeface="Consolas"/>
              </a:rPr>
              <a:t>city_name</a:t>
            </a:r>
            <a:r>
              <a:rPr lang="cs-CZ" sz="1200" dirty="0">
                <a:latin typeface="Consolas"/>
              </a:rPr>
              <a:t>, ':')[SAFE_OFFSET(0)] AS </a:t>
            </a:r>
            <a:r>
              <a:rPr lang="cs-CZ" sz="1200" dirty="0" err="1">
                <a:latin typeface="Consolas"/>
              </a:rPr>
              <a:t>state_clean</a:t>
            </a:r>
            <a:r>
              <a:rPr lang="cs-CZ" sz="1200" dirty="0">
                <a:latin typeface="Consolas"/>
              </a:rPr>
              <a:t>,</a:t>
            </a:r>
          </a:p>
          <a:p>
            <a:pPr marL="170815" indent="-170815">
              <a:spcBef>
                <a:spcPts val="750"/>
              </a:spcBef>
            </a:pPr>
            <a:r>
              <a:rPr lang="cs-CZ" sz="1200" dirty="0">
                <a:latin typeface="Consolas"/>
              </a:rPr>
              <a:t>  police * 1000000 AS </a:t>
            </a:r>
            <a:r>
              <a:rPr lang="cs-CZ" sz="1200" dirty="0" err="1">
                <a:latin typeface="Consolas"/>
              </a:rPr>
              <a:t>police_dollars</a:t>
            </a:r>
            <a:r>
              <a:rPr lang="cs-CZ" sz="1200" dirty="0">
                <a:latin typeface="Consolas"/>
              </a:rPr>
              <a:t>,  -- !!!</a:t>
            </a:r>
          </a:p>
          <a:p>
            <a:pPr marL="170815" indent="-170815">
              <a:spcBef>
                <a:spcPts val="750"/>
              </a:spcBef>
            </a:pPr>
            <a:r>
              <a:rPr lang="cs-CZ" sz="1200" dirty="0">
                <a:latin typeface="Consolas"/>
              </a:rPr>
              <a:t>  ... další sloupce</a:t>
            </a:r>
          </a:p>
          <a:p>
            <a:pPr marL="170815" indent="-170815">
              <a:spcBef>
                <a:spcPts val="750"/>
              </a:spcBef>
            </a:pPr>
            <a:r>
              <a:rPr lang="cs-CZ" sz="1200" dirty="0">
                <a:latin typeface="Consolas"/>
              </a:rPr>
              <a:t>FROM </a:t>
            </a:r>
            <a:r>
              <a:rPr lang="cs-CZ" sz="1200" dirty="0" err="1">
                <a:latin typeface="Consolas"/>
              </a:rPr>
              <a:t>budgets_raw</a:t>
            </a:r>
            <a:endParaRPr lang="cs-CZ" sz="1200">
              <a:latin typeface="Consolas"/>
            </a:endParaRPr>
          </a:p>
          <a:p>
            <a:pPr>
              <a:spcBef>
                <a:spcPts val="750"/>
              </a:spcBef>
            </a:pPr>
            <a:r>
              <a:rPr lang="cs-CZ" sz="1200" dirty="0">
                <a:latin typeface="Consolas"/>
              </a:rPr>
              <a:t>WHERE </a:t>
            </a:r>
            <a:r>
              <a:rPr lang="cs-CZ" sz="1200" dirty="0" err="1">
                <a:latin typeface="Consolas"/>
              </a:rPr>
              <a:t>city_name</a:t>
            </a:r>
            <a:r>
              <a:rPr lang="cs-CZ" sz="1200" dirty="0">
                <a:latin typeface="Consolas"/>
              </a:rPr>
              <a:t> LIKE '%:%';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1063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32C89-78E4-B975-205E-408642CA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572737-0D2B-777C-3231-39FC9B83B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19" y="1100016"/>
            <a:ext cx="7883452" cy="62382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2400" dirty="0" err="1">
                <a:latin typeface="Arial"/>
                <a:cs typeface="Arial"/>
              </a:rPr>
              <a:t>Workflow</a:t>
            </a:r>
            <a:r>
              <a:rPr lang="cs-CZ" sz="2400" dirty="0">
                <a:latin typeface="Arial"/>
                <a:cs typeface="Arial"/>
              </a:rPr>
              <a:t> zpracování dat - ETL </a:t>
            </a:r>
            <a:r>
              <a:rPr lang="cs-CZ" sz="2400" dirty="0" err="1">
                <a:latin typeface="Arial"/>
                <a:cs typeface="Arial"/>
              </a:rPr>
              <a:t>Pipeline</a:t>
            </a:r>
            <a:r>
              <a:rPr lang="cs-CZ" sz="2400" dirty="0">
                <a:latin typeface="Arial"/>
                <a:cs typeface="Arial"/>
              </a:rPr>
              <a:t> (detailní kroky)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A122E33F-8E18-5BED-8729-08DCC1FA4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11" y="186553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latin typeface="Arial"/>
                <a:cs typeface="Arial"/>
              </a:rPr>
              <a:t>Fáze 3: </a:t>
            </a:r>
            <a:r>
              <a:rPr lang="cs-CZ" sz="1800" b="1" err="1">
                <a:latin typeface="Arial"/>
                <a:cs typeface="Arial"/>
              </a:rPr>
              <a:t>Transform</a:t>
            </a:r>
            <a:r>
              <a:rPr lang="cs-CZ" sz="1800" b="1" dirty="0">
                <a:latin typeface="Arial"/>
                <a:cs typeface="Arial"/>
              </a:rPr>
              <a:t> - </a:t>
            </a:r>
            <a:r>
              <a:rPr lang="cs-CZ" sz="1800" b="1" err="1">
                <a:latin typeface="Arial"/>
                <a:cs typeface="Arial"/>
              </a:rPr>
              <a:t>Aggregation</a:t>
            </a:r>
            <a:endParaRPr lang="cs-CZ" sz="1800" b="1">
              <a:latin typeface="Arial"/>
              <a:cs typeface="Arial"/>
            </a:endParaRP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-- Krok 3: </a:t>
            </a:r>
            <a:r>
              <a:rPr lang="cs-CZ" sz="1200" err="1">
                <a:latin typeface="Consolas"/>
                <a:cs typeface="Arial"/>
              </a:rPr>
              <a:t>Budgets</a:t>
            </a:r>
            <a:r>
              <a:rPr lang="cs-CZ" sz="1200" dirty="0">
                <a:latin typeface="Consolas"/>
                <a:cs typeface="Arial"/>
              </a:rPr>
              <a:t> </a:t>
            </a:r>
            <a:r>
              <a:rPr lang="cs-CZ" sz="1200" err="1">
                <a:latin typeface="Consolas"/>
                <a:cs typeface="Arial"/>
              </a:rPr>
              <a:t>aggregation</a:t>
            </a:r>
            <a:r>
              <a:rPr lang="cs-CZ" sz="1200" dirty="0">
                <a:latin typeface="Consolas"/>
                <a:cs typeface="Arial"/>
              </a:rPr>
              <a:t> (per město)</a:t>
            </a:r>
            <a:endParaRPr lang="cs-CZ" sz="1200"/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CREATE TABLE </a:t>
            </a:r>
            <a:r>
              <a:rPr lang="cs-CZ" sz="1200" err="1">
                <a:latin typeface="Consolas"/>
                <a:cs typeface="Arial"/>
              </a:rPr>
              <a:t>budgets_aggregated</a:t>
            </a:r>
            <a:r>
              <a:rPr lang="cs-CZ" sz="1200" dirty="0">
                <a:latin typeface="Consolas"/>
                <a:cs typeface="Arial"/>
              </a:rPr>
              <a:t> AS</a:t>
            </a: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SELECT</a:t>
            </a: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  </a:t>
            </a:r>
            <a:r>
              <a:rPr lang="cs-CZ" sz="1200" err="1">
                <a:latin typeface="Consolas"/>
                <a:cs typeface="Arial"/>
              </a:rPr>
              <a:t>city_state</a:t>
            </a:r>
            <a:r>
              <a:rPr lang="cs-CZ" sz="1200" dirty="0">
                <a:latin typeface="Consolas"/>
                <a:cs typeface="Arial"/>
              </a:rPr>
              <a:t>,</a:t>
            </a: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  AVG(</a:t>
            </a:r>
            <a:r>
              <a:rPr lang="cs-CZ" sz="1200" err="1">
                <a:latin typeface="Consolas"/>
                <a:cs typeface="Arial"/>
              </a:rPr>
              <a:t>city_population</a:t>
            </a:r>
            <a:r>
              <a:rPr lang="cs-CZ" sz="1200" dirty="0">
                <a:latin typeface="Consolas"/>
                <a:cs typeface="Arial"/>
              </a:rPr>
              <a:t>) AS </a:t>
            </a:r>
            <a:r>
              <a:rPr lang="cs-CZ" sz="1200" err="1">
                <a:latin typeface="Consolas"/>
                <a:cs typeface="Arial"/>
              </a:rPr>
              <a:t>avg_city_population</a:t>
            </a:r>
            <a:r>
              <a:rPr lang="cs-CZ" sz="1200" dirty="0">
                <a:latin typeface="Consolas"/>
                <a:cs typeface="Arial"/>
              </a:rPr>
              <a:t>,</a:t>
            </a:r>
            <a:endParaRPr lang="cs-CZ" sz="1200">
              <a:latin typeface="Consolas"/>
            </a:endParaRP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  AVG(</a:t>
            </a:r>
            <a:r>
              <a:rPr lang="cs-CZ" sz="1200" err="1">
                <a:latin typeface="Consolas"/>
                <a:cs typeface="Arial"/>
              </a:rPr>
              <a:t>police_dollars</a:t>
            </a:r>
            <a:r>
              <a:rPr lang="cs-CZ" sz="1200" dirty="0">
                <a:latin typeface="Consolas"/>
                <a:cs typeface="Arial"/>
              </a:rPr>
              <a:t>) AS </a:t>
            </a:r>
            <a:r>
              <a:rPr lang="cs-CZ" sz="1200" err="1">
                <a:latin typeface="Consolas"/>
                <a:cs typeface="Arial"/>
              </a:rPr>
              <a:t>avg_police_dollars</a:t>
            </a:r>
            <a:r>
              <a:rPr lang="cs-CZ" sz="1200" dirty="0">
                <a:latin typeface="Consolas"/>
                <a:cs typeface="Arial"/>
              </a:rPr>
              <a:t>,</a:t>
            </a: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  ...</a:t>
            </a: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FROM </a:t>
            </a:r>
            <a:r>
              <a:rPr lang="cs-CZ" sz="1200" err="1">
                <a:latin typeface="Consolas"/>
                <a:cs typeface="Arial"/>
              </a:rPr>
              <a:t>budgets_cleaned</a:t>
            </a:r>
            <a:endParaRPr lang="cs-CZ" sz="1200">
              <a:latin typeface="Consolas"/>
              <a:cs typeface="Arial"/>
            </a:endParaRP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GROUP BY </a:t>
            </a:r>
            <a:r>
              <a:rPr lang="cs-CZ" sz="1200" err="1">
                <a:latin typeface="Consolas"/>
                <a:cs typeface="Arial"/>
              </a:rPr>
              <a:t>city_state</a:t>
            </a:r>
            <a:r>
              <a:rPr lang="cs-CZ" sz="1200" dirty="0">
                <a:latin typeface="Consolas"/>
                <a:cs typeface="Arial"/>
              </a:rPr>
              <a:t>;</a:t>
            </a: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-- Krok 4: </a:t>
            </a:r>
            <a:r>
              <a:rPr lang="cs-CZ" sz="1200" err="1">
                <a:latin typeface="Consolas"/>
                <a:cs typeface="Arial"/>
              </a:rPr>
              <a:t>Shootings</a:t>
            </a:r>
            <a:r>
              <a:rPr lang="cs-CZ" sz="1200" dirty="0">
                <a:latin typeface="Consolas"/>
                <a:cs typeface="Arial"/>
              </a:rPr>
              <a:t> </a:t>
            </a:r>
            <a:r>
              <a:rPr lang="cs-CZ" sz="1200" err="1">
                <a:latin typeface="Consolas"/>
                <a:cs typeface="Arial"/>
              </a:rPr>
              <a:t>aggregation</a:t>
            </a:r>
            <a:r>
              <a:rPr lang="cs-CZ" sz="1200" dirty="0">
                <a:latin typeface="Consolas"/>
                <a:cs typeface="Arial"/>
              </a:rPr>
              <a:t> (per město)</a:t>
            </a:r>
            <a:endParaRPr lang="en-US" sz="1200">
              <a:latin typeface="Consolas"/>
              <a:cs typeface="Arial"/>
            </a:endParaRP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CREATE TABLE </a:t>
            </a:r>
            <a:r>
              <a:rPr lang="cs-CZ" sz="1200" err="1">
                <a:latin typeface="Consolas"/>
                <a:cs typeface="Arial"/>
              </a:rPr>
              <a:t>shootings_aggregated</a:t>
            </a:r>
            <a:r>
              <a:rPr lang="cs-CZ" sz="1200" dirty="0">
                <a:latin typeface="Consolas"/>
                <a:cs typeface="Arial"/>
              </a:rPr>
              <a:t> AS</a:t>
            </a:r>
            <a:endParaRPr lang="en-US" sz="1200">
              <a:latin typeface="Consolas"/>
              <a:cs typeface="Arial"/>
            </a:endParaRP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SELECT</a:t>
            </a:r>
            <a:endParaRPr lang="en-US" sz="1200">
              <a:latin typeface="Consolas"/>
              <a:cs typeface="Arial"/>
            </a:endParaRP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  </a:t>
            </a:r>
            <a:r>
              <a:rPr lang="cs-CZ" sz="1200" err="1">
                <a:latin typeface="Consolas"/>
                <a:cs typeface="Arial"/>
              </a:rPr>
              <a:t>city_state</a:t>
            </a:r>
            <a:r>
              <a:rPr lang="cs-CZ" sz="1200" dirty="0">
                <a:latin typeface="Consolas"/>
                <a:cs typeface="Arial"/>
              </a:rPr>
              <a:t>,</a:t>
            </a:r>
            <a:endParaRPr lang="en-US" sz="1200">
              <a:latin typeface="Consolas"/>
              <a:cs typeface="Arial"/>
            </a:endParaRP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  COUNT(*) AS </a:t>
            </a:r>
            <a:r>
              <a:rPr lang="cs-CZ" sz="1200" err="1">
                <a:latin typeface="Consolas"/>
                <a:cs typeface="Arial"/>
              </a:rPr>
              <a:t>shooting_count</a:t>
            </a:r>
            <a:r>
              <a:rPr lang="cs-CZ" sz="1200" dirty="0">
                <a:latin typeface="Consolas"/>
                <a:cs typeface="Arial"/>
              </a:rPr>
              <a:t>,</a:t>
            </a:r>
            <a:endParaRPr lang="en-US" sz="1200">
              <a:latin typeface="Consolas"/>
              <a:cs typeface="Arial"/>
            </a:endParaRP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  AVG(</a:t>
            </a:r>
            <a:r>
              <a:rPr lang="cs-CZ" sz="1200" err="1">
                <a:latin typeface="Consolas"/>
                <a:cs typeface="Arial"/>
              </a:rPr>
              <a:t>age</a:t>
            </a:r>
            <a:r>
              <a:rPr lang="cs-CZ" sz="1200" dirty="0">
                <a:latin typeface="Consolas"/>
                <a:cs typeface="Arial"/>
              </a:rPr>
              <a:t>) AS </a:t>
            </a:r>
            <a:r>
              <a:rPr lang="cs-CZ" sz="1200" err="1">
                <a:latin typeface="Consolas"/>
                <a:cs typeface="Arial"/>
              </a:rPr>
              <a:t>avg_victim_age</a:t>
            </a:r>
            <a:r>
              <a:rPr lang="cs-CZ" sz="1200" dirty="0">
                <a:latin typeface="Consolas"/>
                <a:cs typeface="Arial"/>
              </a:rPr>
              <a:t>,</a:t>
            </a:r>
            <a:endParaRPr lang="en-US" sz="1200">
              <a:latin typeface="Consolas"/>
              <a:cs typeface="Arial"/>
            </a:endParaRP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  ...</a:t>
            </a:r>
            <a:endParaRPr lang="en-US" sz="1200">
              <a:latin typeface="Consolas"/>
              <a:cs typeface="Arial"/>
            </a:endParaRPr>
          </a:p>
          <a:p>
            <a:pPr marL="513715" lvl="1" indent="-170815">
              <a:buNone/>
            </a:pPr>
            <a:r>
              <a:rPr lang="cs-CZ" sz="1200" dirty="0">
                <a:latin typeface="Consolas"/>
                <a:cs typeface="Arial"/>
              </a:rPr>
              <a:t>FROM </a:t>
            </a:r>
            <a:r>
              <a:rPr lang="cs-CZ" sz="1200" err="1">
                <a:latin typeface="Consolas"/>
                <a:cs typeface="Arial"/>
              </a:rPr>
              <a:t>shootings_cleaned</a:t>
            </a:r>
            <a:endParaRPr lang="cs-CZ" sz="1200">
              <a:latin typeface="Consolas"/>
              <a:cs typeface="Arial"/>
            </a:endParaRPr>
          </a:p>
          <a:p>
            <a:pPr marL="170815" lvl="1" indent="0">
              <a:buNone/>
            </a:pPr>
            <a:r>
              <a:rPr lang="cs-CZ" sz="1200" dirty="0">
                <a:latin typeface="Consolas"/>
                <a:cs typeface="Arial"/>
              </a:rPr>
              <a:t>GROUP BY </a:t>
            </a:r>
            <a:r>
              <a:rPr lang="cs-CZ" sz="1200" err="1">
                <a:latin typeface="Consolas"/>
                <a:cs typeface="Arial"/>
              </a:rPr>
              <a:t>city_state</a:t>
            </a:r>
            <a:r>
              <a:rPr lang="cs-CZ" sz="1200" dirty="0">
                <a:latin typeface="Consolas"/>
                <a:cs typeface="Arial"/>
              </a:rPr>
              <a:t>;</a:t>
            </a:r>
            <a:endParaRPr lang="cs-CZ" sz="1200" dirty="0">
              <a:cs typeface="Arial"/>
            </a:endParaRPr>
          </a:p>
          <a:p>
            <a:pPr marL="513715" lvl="1" indent="-342900">
              <a:buFont typeface="Courier New" panose="020B0604020202020204" pitchFamily="34" charset="0"/>
              <a:buChar char="o"/>
            </a:pPr>
            <a:endParaRPr lang="cs-CZ" sz="1500" b="1" dirty="0">
              <a:ea typeface="Verdana"/>
            </a:endParaRPr>
          </a:p>
          <a:p>
            <a:pPr marL="170815" indent="-170815"/>
            <a:endParaRPr lang="cs-CZ" sz="1200" dirty="0">
              <a:latin typeface="Consolas"/>
              <a:ea typeface="Verdana"/>
            </a:endParaRPr>
          </a:p>
          <a:p>
            <a:pPr marL="170815" indent="-170815">
              <a:buNone/>
            </a:pPr>
            <a:endParaRPr lang="cs-CZ" sz="1600" dirty="0">
              <a:latin typeface="Consolas"/>
              <a:ea typeface="Verdana"/>
            </a:endParaRPr>
          </a:p>
          <a:p>
            <a:pPr marL="170815" indent="-170815">
              <a:buNone/>
            </a:pPr>
            <a:endParaRPr lang="cs-CZ" sz="1200" dirty="0">
              <a:latin typeface="Consolas"/>
              <a:ea typeface="Verdana"/>
            </a:endParaRPr>
          </a:p>
          <a:p>
            <a:pPr marL="170815" indent="-170815"/>
            <a:endParaRPr lang="cs-CZ" sz="1800" dirty="0">
              <a:ea typeface="Verdana"/>
            </a:endParaRPr>
          </a:p>
          <a:p>
            <a:pPr marL="170815" indent="-170815"/>
            <a:endParaRPr lang="cs-CZ" sz="2000" dirty="0"/>
          </a:p>
          <a:p>
            <a:pPr marL="170815" indent="-170815"/>
            <a:endParaRPr lang="cs-CZ" sz="2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42712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A0F64-B3B6-36F5-4271-0F7F2BE8D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BC0D86-58E3-FBE7-B87E-5CC55315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19" y="1100016"/>
            <a:ext cx="7883452" cy="62382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2400" dirty="0" err="1">
                <a:latin typeface="Arial"/>
                <a:cs typeface="Arial"/>
              </a:rPr>
              <a:t>Workflow</a:t>
            </a:r>
            <a:r>
              <a:rPr lang="cs-CZ" sz="2400" dirty="0">
                <a:latin typeface="Arial"/>
                <a:cs typeface="Arial"/>
              </a:rPr>
              <a:t> zpracování dat - ETL </a:t>
            </a:r>
            <a:r>
              <a:rPr lang="cs-CZ" sz="2400" dirty="0" err="1">
                <a:latin typeface="Arial"/>
                <a:cs typeface="Arial"/>
              </a:rPr>
              <a:t>Pipeline</a:t>
            </a:r>
            <a:r>
              <a:rPr lang="cs-CZ" sz="2400" dirty="0">
                <a:latin typeface="Arial"/>
                <a:cs typeface="Arial"/>
              </a:rPr>
              <a:t> (detailní kroky)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FF84314-0B21-7C0E-78E4-4A688D0F7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11" y="186553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latin typeface="Arial"/>
                <a:cs typeface="Arial"/>
              </a:rPr>
              <a:t>Fáze 4: </a:t>
            </a:r>
            <a:r>
              <a:rPr lang="cs-CZ" sz="1800" b="1" dirty="0" err="1">
                <a:latin typeface="Arial"/>
                <a:cs typeface="Arial"/>
              </a:rPr>
              <a:t>Transform</a:t>
            </a:r>
            <a:r>
              <a:rPr lang="cs-CZ" sz="1800" b="1" dirty="0">
                <a:latin typeface="Arial"/>
                <a:cs typeface="Arial"/>
              </a:rPr>
              <a:t> - </a:t>
            </a:r>
            <a:r>
              <a:rPr lang="cs-CZ" sz="1800" b="1" dirty="0" err="1">
                <a:latin typeface="Arial"/>
                <a:cs typeface="Arial"/>
              </a:rPr>
              <a:t>Integration</a:t>
            </a:r>
            <a:endParaRPr lang="cs-CZ" sz="1800" b="1" dirty="0">
              <a:latin typeface="Arial"/>
              <a:cs typeface="Arial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-- Krok 5: Master </a:t>
            </a:r>
            <a:r>
              <a:rPr lang="cs-CZ" sz="1400" err="1">
                <a:latin typeface="Consolas"/>
                <a:cs typeface="Arial"/>
              </a:rPr>
              <a:t>dataset</a:t>
            </a:r>
            <a:r>
              <a:rPr lang="cs-CZ" sz="1400" dirty="0">
                <a:latin typeface="Consolas"/>
                <a:cs typeface="Arial"/>
              </a:rPr>
              <a:t> (INNER JOIN)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CREATE TABLE </a:t>
            </a:r>
            <a:r>
              <a:rPr lang="cs-CZ" sz="1400" err="1">
                <a:latin typeface="Consolas"/>
                <a:cs typeface="Arial"/>
              </a:rPr>
              <a:t>master_dataset</a:t>
            </a:r>
            <a:r>
              <a:rPr lang="cs-CZ" sz="1400" dirty="0">
                <a:latin typeface="Consolas"/>
                <a:cs typeface="Arial"/>
              </a:rPr>
              <a:t> AS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SELECT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 s.*,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 b.*,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 -- </a:t>
            </a:r>
            <a:r>
              <a:rPr lang="cs-CZ" sz="1400" err="1">
                <a:latin typeface="Consolas"/>
                <a:cs typeface="Arial"/>
              </a:rPr>
              <a:t>Derived</a:t>
            </a:r>
            <a:r>
              <a:rPr lang="cs-CZ" sz="1400" dirty="0">
                <a:latin typeface="Consolas"/>
                <a:cs typeface="Arial"/>
              </a:rPr>
              <a:t> metriky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 </a:t>
            </a:r>
            <a:r>
              <a:rPr lang="cs-CZ" sz="1400" err="1">
                <a:latin typeface="Consolas"/>
                <a:cs typeface="Arial"/>
              </a:rPr>
              <a:t>s.shooting_count</a:t>
            </a:r>
            <a:r>
              <a:rPr lang="cs-CZ" sz="1400" dirty="0">
                <a:latin typeface="Consolas"/>
                <a:cs typeface="Arial"/>
              </a:rPr>
              <a:t> / </a:t>
            </a:r>
            <a:r>
              <a:rPr lang="cs-CZ" sz="1400" err="1">
                <a:latin typeface="Consolas"/>
                <a:cs typeface="Arial"/>
              </a:rPr>
              <a:t>b.avg_city_population</a:t>
            </a:r>
            <a:r>
              <a:rPr lang="cs-CZ" sz="1400" dirty="0">
                <a:latin typeface="Consolas"/>
                <a:cs typeface="Arial"/>
              </a:rPr>
              <a:t> * 100000 AS shooting_rate_per_100k,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 </a:t>
            </a:r>
            <a:r>
              <a:rPr lang="cs-CZ" sz="1400" err="1">
                <a:latin typeface="Consolas"/>
                <a:cs typeface="Arial"/>
              </a:rPr>
              <a:t>b.avg_police_dollars</a:t>
            </a:r>
            <a:r>
              <a:rPr lang="cs-CZ" sz="1400" dirty="0">
                <a:latin typeface="Consolas"/>
                <a:cs typeface="Arial"/>
              </a:rPr>
              <a:t> / </a:t>
            </a:r>
            <a:r>
              <a:rPr lang="cs-CZ" sz="1400" err="1">
                <a:latin typeface="Consolas"/>
                <a:cs typeface="Arial"/>
              </a:rPr>
              <a:t>b.avg_city_population</a:t>
            </a:r>
            <a:r>
              <a:rPr lang="cs-CZ" sz="1400" dirty="0">
                <a:latin typeface="Consolas"/>
                <a:cs typeface="Arial"/>
              </a:rPr>
              <a:t> AS </a:t>
            </a:r>
            <a:r>
              <a:rPr lang="cs-CZ" sz="1400" err="1">
                <a:latin typeface="Consolas"/>
                <a:cs typeface="Arial"/>
              </a:rPr>
              <a:t>police_budget_per_capita</a:t>
            </a:r>
            <a:endParaRPr lang="en-US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FROM </a:t>
            </a:r>
            <a:r>
              <a:rPr lang="cs-CZ" sz="1400" err="1">
                <a:latin typeface="Consolas"/>
                <a:cs typeface="Arial"/>
              </a:rPr>
              <a:t>shootings_aggregated</a:t>
            </a:r>
            <a:r>
              <a:rPr lang="cs-CZ" sz="1400" dirty="0">
                <a:latin typeface="Consolas"/>
                <a:cs typeface="Arial"/>
              </a:rPr>
              <a:t> s</a:t>
            </a:r>
            <a:endParaRPr lang="en-US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INNER JOIN </a:t>
            </a:r>
            <a:r>
              <a:rPr lang="cs-CZ" sz="1400" err="1">
                <a:latin typeface="Consolas"/>
                <a:cs typeface="Arial"/>
              </a:rPr>
              <a:t>budgets_aggregated</a:t>
            </a:r>
            <a:r>
              <a:rPr lang="cs-CZ" sz="1400" dirty="0">
                <a:latin typeface="Consolas"/>
                <a:cs typeface="Arial"/>
              </a:rPr>
              <a:t> b</a:t>
            </a:r>
            <a:endParaRPr lang="en-US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ON </a:t>
            </a:r>
            <a:r>
              <a:rPr lang="cs-CZ" sz="1400" err="1">
                <a:latin typeface="Consolas"/>
                <a:cs typeface="Arial"/>
              </a:rPr>
              <a:t>s.city_state</a:t>
            </a:r>
            <a:r>
              <a:rPr lang="cs-CZ" sz="1400" dirty="0">
                <a:latin typeface="Consolas"/>
                <a:cs typeface="Arial"/>
              </a:rPr>
              <a:t> = </a:t>
            </a:r>
            <a:r>
              <a:rPr lang="cs-CZ" sz="1400" err="1">
                <a:latin typeface="Consolas"/>
                <a:cs typeface="Arial"/>
              </a:rPr>
              <a:t>b.city_state</a:t>
            </a:r>
            <a:r>
              <a:rPr lang="cs-CZ" sz="1400" dirty="0">
                <a:latin typeface="Consolas"/>
                <a:cs typeface="Arial"/>
              </a:rPr>
              <a:t>;</a:t>
            </a:r>
            <a:endParaRPr lang="cs-CZ" sz="1600">
              <a:latin typeface="Consolas"/>
            </a:endParaRPr>
          </a:p>
          <a:p>
            <a:pPr marL="513715" lvl="1" indent="-342900">
              <a:buFont typeface="Courier New" panose="020B0604020202020204" pitchFamily="34" charset="0"/>
              <a:buChar char="o"/>
            </a:pPr>
            <a:endParaRPr lang="cs-CZ" sz="1500" b="1" dirty="0">
              <a:ea typeface="Verdana"/>
            </a:endParaRPr>
          </a:p>
          <a:p>
            <a:pPr marL="170815" indent="-170815"/>
            <a:endParaRPr lang="cs-CZ" sz="1200" dirty="0">
              <a:latin typeface="Consolas"/>
              <a:ea typeface="Verdana"/>
            </a:endParaRPr>
          </a:p>
          <a:p>
            <a:pPr marL="170815" indent="-170815">
              <a:buNone/>
            </a:pPr>
            <a:endParaRPr lang="cs-CZ" sz="1600" dirty="0">
              <a:latin typeface="Consolas"/>
              <a:ea typeface="Verdana"/>
            </a:endParaRPr>
          </a:p>
          <a:p>
            <a:pPr marL="170815" indent="-170815">
              <a:buNone/>
            </a:pPr>
            <a:endParaRPr lang="cs-CZ" sz="1200" dirty="0">
              <a:latin typeface="Consolas"/>
              <a:ea typeface="Verdana"/>
            </a:endParaRPr>
          </a:p>
          <a:p>
            <a:pPr marL="170815" indent="-170815"/>
            <a:endParaRPr lang="cs-CZ" sz="1800" dirty="0">
              <a:ea typeface="Verdana"/>
            </a:endParaRPr>
          </a:p>
          <a:p>
            <a:pPr marL="170815" indent="-170815"/>
            <a:endParaRPr lang="cs-CZ" sz="2000" dirty="0"/>
          </a:p>
          <a:p>
            <a:pPr marL="170815" indent="-170815"/>
            <a:endParaRPr lang="cs-CZ" sz="2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35351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05F3-FB4C-9957-DAA7-538A348F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7AB55C-B43C-2A4F-EDFA-8FF8D2BF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19" y="1100016"/>
            <a:ext cx="7883452" cy="62382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2400" dirty="0" err="1">
                <a:latin typeface="Arial"/>
                <a:cs typeface="Arial"/>
              </a:rPr>
              <a:t>Workflow</a:t>
            </a:r>
            <a:r>
              <a:rPr lang="cs-CZ" sz="2400" dirty="0">
                <a:latin typeface="Arial"/>
                <a:cs typeface="Arial"/>
              </a:rPr>
              <a:t> zpracování dat - ETL </a:t>
            </a:r>
            <a:r>
              <a:rPr lang="cs-CZ" sz="2400" dirty="0" err="1">
                <a:latin typeface="Arial"/>
                <a:cs typeface="Arial"/>
              </a:rPr>
              <a:t>Pipeline</a:t>
            </a:r>
            <a:r>
              <a:rPr lang="cs-CZ" sz="2400" dirty="0">
                <a:latin typeface="Arial"/>
                <a:cs typeface="Arial"/>
              </a:rPr>
              <a:t> (detailní kroky)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E8C64116-82B1-56D4-21BC-5B4998C80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11" y="186553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latin typeface="Arial"/>
                <a:cs typeface="Arial"/>
              </a:rPr>
              <a:t>Fáze 5: </a:t>
            </a:r>
            <a:r>
              <a:rPr lang="cs-CZ" sz="1800" b="1" dirty="0" err="1">
                <a:latin typeface="Arial"/>
                <a:cs typeface="Arial"/>
              </a:rPr>
              <a:t>Transform</a:t>
            </a:r>
            <a:r>
              <a:rPr lang="cs-CZ" sz="1800" b="1" dirty="0">
                <a:latin typeface="Arial"/>
                <a:cs typeface="Arial"/>
              </a:rPr>
              <a:t> - </a:t>
            </a:r>
            <a:r>
              <a:rPr lang="cs-CZ" sz="1800" b="1" dirty="0" err="1">
                <a:latin typeface="Arial"/>
                <a:cs typeface="Arial"/>
              </a:rPr>
              <a:t>Categorization</a:t>
            </a:r>
            <a:endParaRPr lang="cs-CZ" sz="1800" b="1" dirty="0">
              <a:latin typeface="Arial"/>
              <a:cs typeface="Arial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-- Krok 6: Kategorizace (</a:t>
            </a:r>
            <a:r>
              <a:rPr lang="cs-CZ" sz="1400" err="1">
                <a:latin typeface="Consolas"/>
                <a:cs typeface="Arial"/>
              </a:rPr>
              <a:t>tercily</a:t>
            </a:r>
            <a:r>
              <a:rPr lang="cs-CZ" sz="1400" dirty="0">
                <a:latin typeface="Consolas"/>
                <a:cs typeface="Arial"/>
              </a:rPr>
              <a:t>)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CREATE TABLE </a:t>
            </a:r>
            <a:r>
              <a:rPr lang="cs-CZ" sz="1400" err="1">
                <a:latin typeface="Consolas"/>
                <a:cs typeface="Arial"/>
              </a:rPr>
              <a:t>master_dataset_categorized</a:t>
            </a:r>
            <a:r>
              <a:rPr lang="cs-CZ" sz="1400" dirty="0">
                <a:latin typeface="Consolas"/>
                <a:cs typeface="Arial"/>
              </a:rPr>
              <a:t> AS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SELECT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 *,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 CASE NTILE(3) OVER (ORDER BY </a:t>
            </a:r>
            <a:r>
              <a:rPr lang="cs-CZ" sz="1400" err="1">
                <a:latin typeface="Consolas"/>
                <a:cs typeface="Arial"/>
              </a:rPr>
              <a:t>police_budget_per_capita</a:t>
            </a:r>
            <a:r>
              <a:rPr lang="cs-CZ" sz="1400" dirty="0">
                <a:latin typeface="Consolas"/>
                <a:cs typeface="Arial"/>
              </a:rPr>
              <a:t>)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   WHEN 1 THEN '</a:t>
            </a:r>
            <a:r>
              <a:rPr lang="cs-CZ" sz="1400" err="1">
                <a:latin typeface="Consolas"/>
                <a:cs typeface="Arial"/>
              </a:rPr>
              <a:t>Low_Budget</a:t>
            </a:r>
            <a:r>
              <a:rPr lang="cs-CZ" sz="1400" dirty="0">
                <a:latin typeface="Consolas"/>
                <a:cs typeface="Arial"/>
              </a:rPr>
              <a:t>'</a:t>
            </a:r>
            <a:endParaRPr lang="en-US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   WHEN 2 THEN '</a:t>
            </a:r>
            <a:r>
              <a:rPr lang="cs-CZ" sz="1400" err="1">
                <a:latin typeface="Consolas"/>
                <a:cs typeface="Arial"/>
              </a:rPr>
              <a:t>Medium_Budget</a:t>
            </a:r>
            <a:r>
              <a:rPr lang="cs-CZ" sz="1400" dirty="0">
                <a:latin typeface="Consolas"/>
                <a:cs typeface="Arial"/>
              </a:rPr>
              <a:t>'</a:t>
            </a:r>
            <a:endParaRPr lang="en-US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   WHEN 3 THEN '</a:t>
            </a:r>
            <a:r>
              <a:rPr lang="cs-CZ" sz="1400" err="1">
                <a:latin typeface="Consolas"/>
                <a:cs typeface="Arial"/>
              </a:rPr>
              <a:t>High_Budget</a:t>
            </a:r>
            <a:r>
              <a:rPr lang="cs-CZ" sz="1400" dirty="0">
                <a:latin typeface="Consolas"/>
                <a:cs typeface="Arial"/>
              </a:rPr>
              <a:t>'</a:t>
            </a:r>
            <a:endParaRPr lang="en-US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 END AS </a:t>
            </a:r>
            <a:r>
              <a:rPr lang="cs-CZ" sz="1400" err="1">
                <a:latin typeface="Consolas"/>
                <a:cs typeface="Arial"/>
              </a:rPr>
              <a:t>budget_category</a:t>
            </a:r>
            <a:r>
              <a:rPr lang="cs-CZ" sz="1400" dirty="0">
                <a:latin typeface="Consolas"/>
                <a:cs typeface="Arial"/>
              </a:rPr>
              <a:t>,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  ...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FROM </a:t>
            </a:r>
            <a:r>
              <a:rPr lang="cs-CZ" sz="1400" err="1">
                <a:latin typeface="Consolas"/>
                <a:cs typeface="Arial"/>
              </a:rPr>
              <a:t>master_dataset</a:t>
            </a:r>
            <a:r>
              <a:rPr lang="cs-CZ" sz="1400" dirty="0">
                <a:latin typeface="Consolas"/>
                <a:cs typeface="Arial"/>
              </a:rPr>
              <a:t>;</a:t>
            </a:r>
            <a:endParaRPr lang="cs-CZ" sz="1400">
              <a:latin typeface="Consolas"/>
            </a:endParaRPr>
          </a:p>
          <a:p>
            <a:pPr marL="513715" lvl="1" indent="-170815">
              <a:buNone/>
            </a:pPr>
            <a:r>
              <a:rPr lang="cs-CZ" sz="1400" dirty="0">
                <a:latin typeface="Consolas"/>
                <a:cs typeface="Arial"/>
              </a:rPr>
              <a:t>```</a:t>
            </a:r>
            <a:endParaRPr lang="cs-CZ" sz="1400" dirty="0">
              <a:latin typeface="Consolas"/>
            </a:endParaRPr>
          </a:p>
          <a:p>
            <a:pPr marL="513715" lvl="1" indent="-170815">
              <a:buNone/>
            </a:pPr>
            <a:endParaRPr lang="cs-CZ" sz="1200" dirty="0">
              <a:latin typeface="Consolas"/>
              <a:ea typeface="Verdana"/>
              <a:cs typeface="Arial"/>
            </a:endParaRPr>
          </a:p>
          <a:p>
            <a:pPr marL="170815" indent="-170815">
              <a:buFont typeface="Arial"/>
              <a:buChar char="•"/>
            </a:pPr>
            <a:r>
              <a:rPr lang="cs-CZ" sz="1800" b="1" dirty="0">
                <a:latin typeface="Arial"/>
                <a:ea typeface="Verdana"/>
                <a:cs typeface="Arial"/>
              </a:rPr>
              <a:t>Fáze 6: </a:t>
            </a:r>
            <a:r>
              <a:rPr lang="cs-CZ" sz="1800" b="1" err="1">
                <a:latin typeface="Arial"/>
                <a:ea typeface="Verdana"/>
                <a:cs typeface="Arial"/>
              </a:rPr>
              <a:t>Load</a:t>
            </a:r>
            <a:endParaRPr lang="cs-CZ" sz="1800" b="1" dirty="0" err="1">
              <a:latin typeface="Arial"/>
              <a:ea typeface="Verdana"/>
              <a:cs typeface="Arial"/>
            </a:endParaRPr>
          </a:p>
          <a:p>
            <a:pPr marL="513715" lvl="1" indent="-170815">
              <a:buFont typeface="Courier New"/>
              <a:buChar char="o"/>
            </a:pPr>
            <a:r>
              <a:rPr lang="cs-CZ" sz="1500" dirty="0" err="1">
                <a:latin typeface="Arial"/>
                <a:ea typeface="Verdana"/>
                <a:cs typeface="Arial"/>
              </a:rPr>
              <a:t>BigQuery</a:t>
            </a:r>
            <a:r>
              <a:rPr lang="cs-CZ" sz="1500" dirty="0">
                <a:latin typeface="Arial"/>
                <a:ea typeface="Verdana"/>
                <a:cs typeface="Arial"/>
              </a:rPr>
              <a:t> export tabulek do Google </a:t>
            </a:r>
            <a:r>
              <a:rPr lang="cs-CZ" sz="1500" dirty="0" err="1">
                <a:latin typeface="Arial"/>
                <a:ea typeface="Verdana"/>
                <a:cs typeface="Arial"/>
              </a:rPr>
              <a:t>Buckets</a:t>
            </a:r>
            <a:r>
              <a:rPr lang="cs-CZ" sz="1500" dirty="0">
                <a:latin typeface="Arial"/>
                <a:ea typeface="Verdana"/>
                <a:cs typeface="Arial"/>
              </a:rPr>
              <a:t> z Google </a:t>
            </a:r>
            <a:r>
              <a:rPr lang="cs-CZ" sz="1500" dirty="0" err="1">
                <a:latin typeface="Arial"/>
                <a:ea typeface="Verdana"/>
                <a:cs typeface="Arial"/>
              </a:rPr>
              <a:t>Bucket</a:t>
            </a:r>
            <a:r>
              <a:rPr lang="cs-CZ" sz="1500" dirty="0">
                <a:latin typeface="Arial"/>
                <a:ea typeface="Verdana"/>
                <a:cs typeface="Arial"/>
              </a:rPr>
              <a:t> exportovat jako soubor CSV formátu</a:t>
            </a:r>
            <a:endParaRPr lang="cs-CZ" sz="1500" dirty="0">
              <a:ea typeface="Verdana"/>
            </a:endParaRPr>
          </a:p>
          <a:p>
            <a:pPr marL="856615" lvl="2" indent="-170815">
              <a:buFont typeface="Wingdings"/>
              <a:buChar char="§"/>
            </a:pPr>
            <a:endParaRPr lang="cs-CZ" sz="1200" dirty="0">
              <a:ea typeface="Verdana"/>
            </a:endParaRPr>
          </a:p>
          <a:p>
            <a:pPr marL="856615" lvl="2" indent="-170815">
              <a:buFont typeface="Courier New"/>
              <a:buChar char="o"/>
            </a:pPr>
            <a:endParaRPr lang="cs-CZ" sz="1200" dirty="0">
              <a:ea typeface="Verdana"/>
            </a:endParaRPr>
          </a:p>
          <a:p>
            <a:pPr marL="513715" lvl="1" indent="-342900">
              <a:buFont typeface="Courier New" panose="020B0604020202020204" pitchFamily="34" charset="0"/>
              <a:buChar char="o"/>
            </a:pPr>
            <a:endParaRPr lang="cs-CZ" sz="1500" b="1" dirty="0">
              <a:ea typeface="Verdana"/>
            </a:endParaRPr>
          </a:p>
          <a:p>
            <a:pPr marL="170815" indent="-170815"/>
            <a:endParaRPr lang="cs-CZ" sz="1200" dirty="0">
              <a:latin typeface="Consolas"/>
              <a:ea typeface="Verdana"/>
            </a:endParaRPr>
          </a:p>
          <a:p>
            <a:pPr marL="170815" indent="-170815">
              <a:buNone/>
            </a:pPr>
            <a:endParaRPr lang="cs-CZ" sz="1600" dirty="0">
              <a:latin typeface="Consolas"/>
              <a:ea typeface="Verdana"/>
            </a:endParaRPr>
          </a:p>
          <a:p>
            <a:pPr marL="170815" indent="-170815">
              <a:buNone/>
            </a:pPr>
            <a:endParaRPr lang="cs-CZ" sz="1200" dirty="0">
              <a:latin typeface="Consolas"/>
              <a:ea typeface="Verdana"/>
            </a:endParaRPr>
          </a:p>
          <a:p>
            <a:pPr marL="170815" indent="-170815"/>
            <a:endParaRPr lang="cs-CZ" sz="1800" dirty="0">
              <a:ea typeface="Verdana"/>
            </a:endParaRPr>
          </a:p>
          <a:p>
            <a:pPr marL="170815" indent="-170815"/>
            <a:endParaRPr lang="cs-CZ" sz="2000" dirty="0"/>
          </a:p>
          <a:p>
            <a:pPr marL="170815" indent="-170815"/>
            <a:endParaRPr lang="cs-CZ" sz="2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297568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EDCC6-5036-DBEE-C08C-2F3F36D3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1B9445-137E-1896-E8CF-CB48839F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Souhrn SQL transformací v </a:t>
            </a:r>
            <a:r>
              <a:rPr lang="cs-CZ" dirty="0" err="1">
                <a:latin typeface="Arial"/>
                <a:cs typeface="Arial"/>
              </a:rPr>
              <a:t>BigQuery</a:t>
            </a:r>
            <a:endParaRPr lang="cs-CZ" dirty="0" err="1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64A589A3-7E47-BA4C-CE7F-290C539CA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latin typeface="Arial"/>
                <a:cs typeface="Arial"/>
              </a:rPr>
              <a:t>Celkem: 8 SQL dotazů (CREATE TABLE </a:t>
            </a:r>
            <a:r>
              <a:rPr lang="cs-CZ" sz="1800" b="1" dirty="0" err="1">
                <a:latin typeface="Arial"/>
                <a:cs typeface="Arial"/>
              </a:rPr>
              <a:t>statements</a:t>
            </a:r>
            <a:r>
              <a:rPr lang="cs-CZ" sz="1800" b="1" dirty="0">
                <a:latin typeface="Arial"/>
                <a:cs typeface="Arial"/>
              </a:rPr>
              <a:t>)</a:t>
            </a:r>
            <a:endParaRPr lang="cs-CZ" sz="1800"/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Fáze 1: </a:t>
            </a:r>
            <a:r>
              <a:rPr lang="cs-CZ" sz="1600" b="1" err="1">
                <a:latin typeface="Arial"/>
                <a:cs typeface="Arial"/>
              </a:rPr>
              <a:t>Cleaning</a:t>
            </a:r>
            <a:r>
              <a:rPr lang="cs-CZ" sz="1600" b="1" dirty="0">
                <a:latin typeface="Arial"/>
                <a:cs typeface="Arial"/>
              </a:rPr>
              <a:t> (3 dotazy)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1. </a:t>
            </a:r>
            <a:r>
              <a:rPr lang="cs-CZ" sz="1600" dirty="0" err="1">
                <a:latin typeface="Arial"/>
                <a:cs typeface="Arial"/>
              </a:rPr>
              <a:t>budgets_cleaned</a:t>
            </a:r>
            <a:r>
              <a:rPr lang="cs-CZ" sz="1600" dirty="0">
                <a:latin typeface="Arial"/>
                <a:cs typeface="Arial"/>
              </a:rPr>
              <a:t> - SPLIT city </a:t>
            </a:r>
            <a:r>
              <a:rPr lang="cs-CZ" sz="1600" dirty="0" err="1">
                <a:latin typeface="Arial"/>
                <a:cs typeface="Arial"/>
              </a:rPr>
              <a:t>names</a:t>
            </a:r>
            <a:r>
              <a:rPr lang="cs-CZ" sz="1600" dirty="0">
                <a:latin typeface="Arial"/>
                <a:cs typeface="Arial"/>
              </a:rPr>
              <a:t>, konverze milionů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2. </a:t>
            </a:r>
            <a:r>
              <a:rPr lang="cs-CZ" sz="1600" dirty="0" err="1">
                <a:latin typeface="Arial"/>
                <a:cs typeface="Arial"/>
              </a:rPr>
              <a:t>shootings_cleaned</a:t>
            </a:r>
            <a:r>
              <a:rPr lang="cs-CZ" sz="1600" dirty="0">
                <a:latin typeface="Arial"/>
                <a:cs typeface="Arial"/>
              </a:rPr>
              <a:t> - Normalizace </a:t>
            </a:r>
            <a:r>
              <a:rPr lang="cs-CZ" sz="1600" dirty="0" err="1">
                <a:latin typeface="Arial"/>
                <a:cs typeface="Arial"/>
              </a:rPr>
              <a:t>city_state</a:t>
            </a: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Fáze 2: </a:t>
            </a:r>
            <a:r>
              <a:rPr lang="cs-CZ" sz="1600" b="1" err="1">
                <a:latin typeface="Arial"/>
                <a:cs typeface="Arial"/>
              </a:rPr>
              <a:t>Aggregation</a:t>
            </a:r>
            <a:r>
              <a:rPr lang="cs-CZ" sz="1600" b="1" dirty="0">
                <a:latin typeface="Arial"/>
                <a:cs typeface="Arial"/>
              </a:rPr>
              <a:t> (2 dotazy)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4. </a:t>
            </a:r>
            <a:r>
              <a:rPr lang="cs-CZ" sz="1600" dirty="0" err="1">
                <a:latin typeface="Arial"/>
                <a:cs typeface="Arial"/>
              </a:rPr>
              <a:t>budgets_aggregated</a:t>
            </a:r>
            <a:r>
              <a:rPr lang="cs-CZ" sz="1600" dirty="0">
                <a:latin typeface="Arial"/>
                <a:cs typeface="Arial"/>
              </a:rPr>
              <a:t> - GROUP BY city, AVG </a:t>
            </a:r>
            <a:r>
              <a:rPr lang="cs-CZ" sz="1600" dirty="0" err="1">
                <a:latin typeface="Arial"/>
                <a:cs typeface="Arial"/>
              </a:rPr>
              <a:t>across</a:t>
            </a:r>
            <a:r>
              <a:rPr lang="cs-CZ" sz="1600" dirty="0">
                <a:latin typeface="Arial"/>
                <a:cs typeface="Arial"/>
              </a:rPr>
              <a:t> </a:t>
            </a:r>
            <a:r>
              <a:rPr lang="cs-CZ" sz="1600" dirty="0" err="1">
                <a:latin typeface="Arial"/>
                <a:cs typeface="Arial"/>
              </a:rPr>
              <a:t>years</a:t>
            </a:r>
            <a:endParaRPr lang="cs-CZ" sz="1600" dirty="0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5. </a:t>
            </a:r>
            <a:r>
              <a:rPr lang="cs-CZ" sz="1600" err="1">
                <a:latin typeface="Arial"/>
                <a:cs typeface="Arial"/>
              </a:rPr>
              <a:t>shootings_aggregated</a:t>
            </a:r>
            <a:r>
              <a:rPr lang="cs-CZ" sz="1600" dirty="0">
                <a:latin typeface="Arial"/>
                <a:cs typeface="Arial"/>
              </a:rPr>
              <a:t> - GROUP BY city, </a:t>
            </a:r>
            <a:r>
              <a:rPr lang="cs-CZ" sz="1600" err="1">
                <a:latin typeface="Arial"/>
                <a:cs typeface="Arial"/>
              </a:rPr>
              <a:t>stats</a:t>
            </a:r>
            <a:r>
              <a:rPr lang="cs-CZ" sz="1600" dirty="0">
                <a:latin typeface="Arial"/>
                <a:cs typeface="Arial"/>
              </a:rPr>
              <a:t> (COUNT, AVG, %)</a:t>
            </a: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Fáze 3: </a:t>
            </a:r>
            <a:r>
              <a:rPr lang="cs-CZ" sz="1600" b="1" err="1">
                <a:latin typeface="Arial"/>
                <a:cs typeface="Arial"/>
              </a:rPr>
              <a:t>Integration</a:t>
            </a:r>
            <a:r>
              <a:rPr lang="cs-CZ" sz="1600" b="1" dirty="0">
                <a:latin typeface="Arial"/>
                <a:cs typeface="Arial"/>
              </a:rPr>
              <a:t> (3 dotazy)</a:t>
            </a:r>
            <a:endParaRPr lang="en-US" sz="1600">
              <a:latin typeface="Arial"/>
              <a:cs typeface="Arial"/>
            </a:endParaRPr>
          </a:p>
          <a:p>
            <a:pPr marL="513715" lvl="1" indent="-170815">
              <a:buFont typeface="Courier New,monospace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6. </a:t>
            </a:r>
            <a:r>
              <a:rPr lang="cs-CZ" sz="1600" err="1">
                <a:latin typeface="Arial"/>
                <a:cs typeface="Arial"/>
              </a:rPr>
              <a:t>master_dataset</a:t>
            </a:r>
            <a:r>
              <a:rPr lang="cs-CZ" sz="1600" dirty="0">
                <a:latin typeface="Arial"/>
                <a:cs typeface="Arial"/>
              </a:rPr>
              <a:t> - INNER JOIN + </a:t>
            </a:r>
            <a:r>
              <a:rPr lang="cs-CZ" sz="1600" err="1">
                <a:latin typeface="Arial"/>
                <a:cs typeface="Arial"/>
              </a:rPr>
              <a:t>derived</a:t>
            </a:r>
            <a:r>
              <a:rPr lang="cs-CZ" sz="1600" dirty="0">
                <a:latin typeface="Arial"/>
                <a:cs typeface="Arial"/>
              </a:rPr>
              <a:t> </a:t>
            </a:r>
            <a:r>
              <a:rPr lang="cs-CZ" sz="1600" err="1">
                <a:latin typeface="Arial"/>
                <a:cs typeface="Arial"/>
              </a:rPr>
              <a:t>metrics</a:t>
            </a:r>
            <a:endParaRPr lang="cs-CZ" sz="1600"/>
          </a:p>
          <a:p>
            <a:pPr marL="513715" lvl="1" indent="-170815">
              <a:buFont typeface="Courier New,monospace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7. </a:t>
            </a:r>
            <a:r>
              <a:rPr lang="cs-CZ" sz="1600" dirty="0" err="1">
                <a:latin typeface="Arial"/>
                <a:cs typeface="Arial"/>
              </a:rPr>
              <a:t>master_dataset_categorized</a:t>
            </a:r>
            <a:r>
              <a:rPr lang="cs-CZ" sz="1600" dirty="0">
                <a:latin typeface="Arial"/>
                <a:cs typeface="Arial"/>
              </a:rPr>
              <a:t> - NTILE </a:t>
            </a:r>
            <a:r>
              <a:rPr lang="cs-CZ" sz="1600" dirty="0" err="1">
                <a:latin typeface="Arial"/>
                <a:cs typeface="Arial"/>
              </a:rPr>
              <a:t>tercily</a:t>
            </a:r>
            <a:r>
              <a:rPr lang="cs-CZ" sz="1600" dirty="0">
                <a:latin typeface="Arial"/>
                <a:cs typeface="Arial"/>
              </a:rPr>
              <a:t> + CASE</a:t>
            </a:r>
            <a:endParaRPr lang="cs-CZ" sz="1600" dirty="0"/>
          </a:p>
          <a:p>
            <a:pPr marL="513715" lvl="1" indent="-170815">
              <a:buFont typeface="Courier New,monospace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8. </a:t>
            </a:r>
            <a:r>
              <a:rPr lang="cs-CZ" sz="1600" err="1">
                <a:latin typeface="Arial"/>
                <a:cs typeface="Arial"/>
              </a:rPr>
              <a:t>shootings_detailed_categorized</a:t>
            </a:r>
            <a:r>
              <a:rPr lang="cs-CZ" sz="1600" dirty="0">
                <a:latin typeface="Arial"/>
                <a:cs typeface="Arial"/>
              </a:rPr>
              <a:t> - JOIN + </a:t>
            </a:r>
            <a:r>
              <a:rPr lang="cs-CZ" sz="1600" err="1">
                <a:latin typeface="Arial"/>
                <a:cs typeface="Arial"/>
              </a:rPr>
              <a:t>kategorize</a:t>
            </a:r>
            <a:endParaRPr lang="cs-CZ" sz="1600" dirty="0">
              <a:latin typeface="Arial"/>
              <a:cs typeface="Arial"/>
            </a:endParaRP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Fáze 4: Export (3 tabulky)</a:t>
            </a:r>
            <a:endParaRPr lang="en-US" sz="1600">
              <a:latin typeface="Arial"/>
              <a:cs typeface="Arial"/>
            </a:endParaRPr>
          </a:p>
          <a:p>
            <a:pPr marL="513715" lvl="1" indent="-170815">
              <a:buFont typeface="Courier New,monospace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master_dataset_categorized.csv</a:t>
            </a:r>
            <a:endParaRPr lang="en-US" sz="1600" dirty="0">
              <a:latin typeface="Arial"/>
              <a:cs typeface="Arial"/>
            </a:endParaRPr>
          </a:p>
          <a:p>
            <a:pPr marL="513715" lvl="1" indent="-170815">
              <a:buFont typeface="Courier New,monospace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shootings_detailed_categorized.csv</a:t>
            </a:r>
          </a:p>
          <a:p>
            <a:pPr marL="342900" lvl="1" indent="0">
              <a:buNone/>
            </a:pPr>
            <a:endParaRPr lang="cs-CZ" sz="1500" b="1" dirty="0"/>
          </a:p>
          <a:p>
            <a:pPr marL="170815" indent="-170815"/>
            <a:endParaRPr lang="cs-CZ" sz="2000" dirty="0"/>
          </a:p>
          <a:p>
            <a:pPr marL="170815" indent="-170815"/>
            <a:endParaRPr lang="cs-CZ" sz="2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1470217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F5E62-87A9-DFE4-A9A1-7DE40C3C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CDE399-8592-BD80-94F3-1F5B4ABA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34" y="679720"/>
            <a:ext cx="7779544" cy="689952"/>
          </a:xfrm>
        </p:spPr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Grafický návrh </a:t>
            </a:r>
            <a:r>
              <a:rPr lang="cs-CZ" dirty="0" err="1">
                <a:latin typeface="Arial"/>
                <a:cs typeface="Arial"/>
              </a:rPr>
              <a:t>PowerBI</a:t>
            </a:r>
            <a:r>
              <a:rPr lang="cs-CZ" dirty="0">
                <a:latin typeface="Arial"/>
                <a:cs typeface="Arial"/>
              </a:rPr>
              <a:t> reportu</a:t>
            </a:r>
            <a:endParaRPr lang="cs-CZ" dirty="0"/>
          </a:p>
        </p:txBody>
      </p:sp>
      <p:graphicFrame>
        <p:nvGraphicFramePr>
          <p:cNvPr id="7" name="Zástupný obsah 6">
            <a:extLst>
              <a:ext uri="{FF2B5EF4-FFF2-40B4-BE49-F238E27FC236}">
                <a16:creationId xmlns:a16="http://schemas.microsoft.com/office/drawing/2014/main" id="{56BC519D-5A7C-3D5E-E006-E1156D35BB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514704"/>
              </p:ext>
            </p:extLst>
          </p:nvPr>
        </p:nvGraphicFramePr>
        <p:xfrm>
          <a:off x="3332" y="1023974"/>
          <a:ext cx="9129599" cy="58591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2399">
                  <a:extLst>
                    <a:ext uri="{9D8B030D-6E8A-4147-A177-3AD203B41FA5}">
                      <a16:colId xmlns:a16="http://schemas.microsoft.com/office/drawing/2014/main" val="4064058523"/>
                    </a:ext>
                  </a:extLst>
                </a:gridCol>
                <a:gridCol w="2291032">
                  <a:extLst>
                    <a:ext uri="{9D8B030D-6E8A-4147-A177-3AD203B41FA5}">
                      <a16:colId xmlns:a16="http://schemas.microsoft.com/office/drawing/2014/main" val="2150023701"/>
                    </a:ext>
                  </a:extLst>
                </a:gridCol>
                <a:gridCol w="2273769">
                  <a:extLst>
                    <a:ext uri="{9D8B030D-6E8A-4147-A177-3AD203B41FA5}">
                      <a16:colId xmlns:a16="http://schemas.microsoft.com/office/drawing/2014/main" val="437868331"/>
                    </a:ext>
                  </a:extLst>
                </a:gridCol>
                <a:gridCol w="2282399">
                  <a:extLst>
                    <a:ext uri="{9D8B030D-6E8A-4147-A177-3AD203B41FA5}">
                      <a16:colId xmlns:a16="http://schemas.microsoft.com/office/drawing/2014/main" val="1530966005"/>
                    </a:ext>
                  </a:extLst>
                </a:gridCol>
              </a:tblGrid>
              <a:tr h="4659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s-CZ" b="1" dirty="0">
                          <a:solidFill>
                            <a:srgbClr val="FFFFFF"/>
                          </a:solidFill>
                          <a:effectLst/>
                        </a:rPr>
                        <a:t>Stránka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s-CZ" b="1" dirty="0">
                          <a:solidFill>
                            <a:srgbClr val="FFFFFF"/>
                          </a:solidFill>
                          <a:effectLst/>
                        </a:rPr>
                        <a:t>Účel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s-CZ" b="1" dirty="0">
                          <a:solidFill>
                            <a:srgbClr val="FFFFFF"/>
                          </a:solidFill>
                          <a:effectLst/>
                        </a:rPr>
                        <a:t>Hlavní vizualizace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s-CZ" b="1" dirty="0">
                          <a:solidFill>
                            <a:srgbClr val="FFFFFF"/>
                          </a:solidFill>
                          <a:effectLst/>
                        </a:rPr>
                        <a:t>Klíčové metriky</a:t>
                      </a:r>
                      <a:endParaRPr lang="cs-CZ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978912"/>
                  </a:ext>
                </a:extLst>
              </a:tr>
              <a:tr h="156725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400" b="1" i="0" u="none" strike="noStrike" noProof="0" dirty="0">
                          <a:effectLst/>
                          <a:latin typeface="Calibri"/>
                        </a:rPr>
                        <a:t>PAGE 1:</a:t>
                      </a:r>
                      <a:endParaRPr lang="cs-CZ" sz="140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Budget vs. </a:t>
                      </a:r>
                      <a:r>
                        <a:rPr lang="cs-CZ" sz="1400" b="0" i="0" u="none" strike="noStrike" noProof="0" err="1">
                          <a:effectLst/>
                          <a:latin typeface="Calibri"/>
                        </a:rPr>
                        <a:t>Shooting</a:t>
                      </a: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 </a:t>
                      </a:r>
                      <a:r>
                        <a:rPr lang="cs-CZ" sz="1400" b="0" i="0" u="none" strike="noStrike" noProof="0" err="1">
                          <a:effectLst/>
                          <a:latin typeface="Calibri"/>
                        </a:rPr>
                        <a:t>Analysis</a:t>
                      </a:r>
                      <a:endParaRPr lang="cs-CZ" sz="140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Analýza vztahu mezi rozpočty a mírou střeleb</a:t>
                      </a:r>
                      <a:endParaRPr lang="cs-CZ" sz="140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4 KPI karty</a:t>
                      </a:r>
                      <a:endParaRPr lang="cs-CZ" sz="1100" b="0" i="0" u="none" strike="noStrike" noProof="0">
                        <a:latin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Detailní tabulka měst</a:t>
                      </a:r>
                      <a:endParaRPr lang="cs-CZ" sz="11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2 </a:t>
                      </a:r>
                      <a:r>
                        <a:rPr lang="cs-CZ" sz="1100" b="0" i="0" u="none" strike="noStrike" noProof="0" dirty="0" err="1">
                          <a:effectLst/>
                          <a:latin typeface="Calibri"/>
                        </a:rPr>
                        <a:t>Scatter</a:t>
                      </a: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 ploty (Budget vs </a:t>
                      </a:r>
                      <a:r>
                        <a:rPr lang="cs-CZ" sz="1100" b="0" i="0" u="none" strike="noStrike" noProof="0" dirty="0" err="1">
                          <a:effectLst/>
                          <a:latin typeface="Calibri"/>
                        </a:rPr>
                        <a:t>Rate</a:t>
                      </a: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, Budget vs </a:t>
                      </a:r>
                      <a:r>
                        <a:rPr lang="cs-CZ" sz="1100" b="0" i="0" u="none" strike="noStrike" noProof="0" dirty="0" err="1">
                          <a:effectLst/>
                          <a:latin typeface="Calibri"/>
                        </a:rPr>
                        <a:t>Count</a:t>
                      </a: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)</a:t>
                      </a:r>
                      <a:endParaRPr lang="cs-CZ" sz="11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Sloupcový graf (Průměrná míra dle rozpočtu)</a:t>
                      </a:r>
                      <a:endParaRPr lang="cs-CZ" sz="11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Horizontální bar chart (Top města)</a:t>
                      </a:r>
                      <a:endParaRPr lang="cs-CZ" sz="110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400" b="0" i="0" u="none" strike="noStrike" noProof="0">
                          <a:effectLst/>
                          <a:latin typeface="Calibri"/>
                        </a:rPr>
                        <a:t>• Průměrný rozpočet: 2,62K</a:t>
                      </a:r>
                      <a:endParaRPr lang="cs-CZ" sz="14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400" b="0" i="0" u="none" strike="noStrike" noProof="0">
                          <a:effectLst/>
                          <a:latin typeface="Calibri"/>
                        </a:rPr>
                        <a:t>• Korelace: 0,29</a:t>
                      </a:r>
                      <a:endParaRPr lang="cs-CZ" sz="14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• Počet obětí: 1,669K</a:t>
                      </a:r>
                      <a:endParaRPr lang="cs-CZ" sz="1400"/>
                    </a:p>
                    <a:p>
                      <a:pPr lvl="0">
                        <a:buNone/>
                      </a:pPr>
                      <a:r>
                        <a:rPr lang="cs-CZ" sz="1400" b="0" i="0" u="none" strike="noStrike" noProof="0">
                          <a:effectLst/>
                          <a:latin typeface="Calibri"/>
                        </a:rPr>
                        <a:t>• Počet měst: 174</a:t>
                      </a:r>
                      <a:endParaRPr lang="cs-CZ" sz="140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0713"/>
                  </a:ext>
                </a:extLst>
              </a:tr>
              <a:tr h="173668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400" b="1" i="0" u="none" strike="noStrike" noProof="0" dirty="0">
                          <a:effectLst/>
                          <a:latin typeface="Calibri"/>
                        </a:rPr>
                        <a:t>PAGE 2:</a:t>
                      </a:r>
                      <a:endParaRPr lang="cs-CZ" sz="140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cs-CZ" sz="1400" b="0" i="0" u="none" strike="noStrike" noProof="0" err="1">
                          <a:effectLst/>
                          <a:latin typeface="Calibri"/>
                        </a:rPr>
                        <a:t>Geographic</a:t>
                      </a: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 </a:t>
                      </a:r>
                      <a:r>
                        <a:rPr lang="cs-CZ" sz="1400" b="0" i="0" u="none" strike="noStrike" noProof="0" err="1">
                          <a:effectLst/>
                          <a:latin typeface="Calibri"/>
                        </a:rPr>
                        <a:t>Distribution</a:t>
                      </a:r>
                      <a:endParaRPr lang="cs-CZ" sz="140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Geografická analýza rozložení </a:t>
                      </a:r>
                      <a:r>
                        <a:rPr lang="cs-CZ" sz="1400" b="0" i="0" u="none" strike="noStrike" noProof="0" err="1">
                          <a:effectLst/>
                          <a:latin typeface="Calibri"/>
                        </a:rPr>
                        <a:t>střelb</a:t>
                      </a: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 a rozpočtů</a:t>
                      </a:r>
                      <a:endParaRPr lang="cs-CZ" sz="140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Geografická mapa USA</a:t>
                      </a:r>
                      <a:endParaRPr lang="cs-CZ" sz="11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Tabulka států (míra střelby na 100k)</a:t>
                      </a:r>
                      <a:endParaRPr lang="cs-CZ" sz="11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Sloupcový graf (Města dle incidentů)</a:t>
                      </a:r>
                      <a:endParaRPr lang="cs-CZ" sz="1100" b="0" i="0" u="none" strike="noStrike" noProof="0">
                        <a:latin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</a:t>
                      </a:r>
                      <a:r>
                        <a:rPr lang="cs-CZ" sz="1100" b="0" i="0" u="none" strike="noStrike" noProof="0" dirty="0" err="1">
                          <a:effectLst/>
                          <a:latin typeface="Calibri"/>
                        </a:rPr>
                        <a:t>Donut</a:t>
                      </a: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 chart (Rasové rozdělení obětí)</a:t>
                      </a:r>
                      <a:endParaRPr lang="cs-CZ" sz="11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</a:t>
                      </a:r>
                      <a:r>
                        <a:rPr lang="cs-CZ" sz="1100" b="0" i="0" u="none" strike="noStrike" noProof="0" dirty="0" err="1">
                          <a:effectLst/>
                          <a:latin typeface="Calibri"/>
                        </a:rPr>
                        <a:t>Stacked</a:t>
                      </a: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 bar chart (Státy × Budget kategorie)</a:t>
                      </a:r>
                      <a:endParaRPr lang="cs-CZ" sz="1100" b="0" i="0" u="none" strike="noStrike" noProof="0">
                        <a:latin typeface="Calibri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• Celkový počet incidentů: 1705</a:t>
                      </a:r>
                      <a:endParaRPr lang="cs-CZ" sz="14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• Rasové složení (Black 36,3%, </a:t>
                      </a:r>
                      <a:r>
                        <a:rPr lang="cs-CZ" sz="1400" b="0" i="0" u="none" strike="noStrike" noProof="0" err="1">
                          <a:effectLst/>
                          <a:latin typeface="Calibri"/>
                        </a:rPr>
                        <a:t>White</a:t>
                      </a: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 29%, </a:t>
                      </a:r>
                      <a:r>
                        <a:rPr lang="cs-CZ" sz="1400" b="0" i="0" u="none" strike="noStrike" noProof="0" err="1">
                          <a:effectLst/>
                          <a:latin typeface="Calibri"/>
                        </a:rPr>
                        <a:t>Hispanic</a:t>
                      </a: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 21,3%)</a:t>
                      </a:r>
                      <a:endParaRPr lang="cs-CZ" sz="1400"/>
                    </a:p>
                    <a:p>
                      <a:pPr lvl="0">
                        <a:buNone/>
                      </a:pP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• Míra úmrtnosti na 100k obyvatel</a:t>
                      </a:r>
                      <a:endParaRPr lang="cs-CZ" sz="140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254471"/>
                  </a:ext>
                </a:extLst>
              </a:tr>
              <a:tr h="208614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400" b="1" i="0" u="none" strike="noStrike" noProof="0" dirty="0">
                          <a:effectLst/>
                          <a:latin typeface="Calibri"/>
                        </a:rPr>
                        <a:t>PAGE 3:</a:t>
                      </a:r>
                      <a:endParaRPr lang="cs-CZ" sz="140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Incident </a:t>
                      </a:r>
                      <a:r>
                        <a:rPr lang="cs-CZ" sz="1400" b="0" i="0" u="none" strike="noStrike" noProof="0" err="1">
                          <a:effectLst/>
                          <a:latin typeface="Calibri"/>
                        </a:rPr>
                        <a:t>Circumstances</a:t>
                      </a: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 &amp; </a:t>
                      </a:r>
                      <a:r>
                        <a:rPr lang="cs-CZ" sz="1400" b="0" i="0" u="none" strike="noStrike" noProof="0" err="1">
                          <a:effectLst/>
                          <a:latin typeface="Calibri"/>
                        </a:rPr>
                        <a:t>Patterns</a:t>
                      </a:r>
                      <a:endParaRPr lang="cs-CZ" sz="140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400" b="0" i="0" u="none" strike="noStrike" noProof="0" dirty="0">
                          <a:effectLst/>
                          <a:latin typeface="Calibri"/>
                        </a:rPr>
                        <a:t>Detailní analýza okolností a vzorců incidentů</a:t>
                      </a:r>
                      <a:endParaRPr lang="cs-CZ" sz="140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</a:t>
                      </a:r>
                      <a:r>
                        <a:rPr lang="cs-CZ" sz="1100" b="0" i="0" u="none" strike="noStrike" noProof="0" dirty="0" err="1">
                          <a:effectLst/>
                          <a:latin typeface="Calibri"/>
                        </a:rPr>
                        <a:t>Multiple</a:t>
                      </a: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 </a:t>
                      </a:r>
                      <a:r>
                        <a:rPr lang="cs-CZ" sz="1100" b="0" i="0" u="none" strike="noStrike" noProof="0" dirty="0" err="1">
                          <a:effectLst/>
                          <a:latin typeface="Calibri"/>
                        </a:rPr>
                        <a:t>stacked</a:t>
                      </a: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 bar </a:t>
                      </a:r>
                      <a:r>
                        <a:rPr lang="cs-CZ" sz="1100" b="0" i="0" u="none" strike="noStrike" noProof="0" dirty="0" err="1">
                          <a:effectLst/>
                          <a:latin typeface="Calibri"/>
                        </a:rPr>
                        <a:t>charts</a:t>
                      </a: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:</a:t>
                      </a:r>
                      <a:endParaRPr lang="cs-CZ" sz="11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 - Hrozba × Výzbroj</a:t>
                      </a:r>
                      <a:endParaRPr lang="cs-CZ" sz="11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 - Rasa × Výzbroj × Budget</a:t>
                      </a:r>
                      <a:endParaRPr lang="cs-CZ" sz="11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 - Velikost populace × Body </a:t>
                      </a:r>
                      <a:r>
                        <a:rPr lang="cs-CZ" sz="1100" b="0" i="0" u="none" strike="noStrike" noProof="0" dirty="0" err="1">
                          <a:effectLst/>
                          <a:latin typeface="Calibri"/>
                        </a:rPr>
                        <a:t>camera</a:t>
                      </a:r>
                      <a:endParaRPr lang="cs-CZ" sz="11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 - Duševní nemoc × Výzbroj</a:t>
                      </a:r>
                      <a:endParaRPr lang="cs-CZ" sz="11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 - Typ útěku × Výzbroj</a:t>
                      </a:r>
                      <a:endParaRPr lang="cs-CZ" sz="11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2 Pie </a:t>
                      </a:r>
                      <a:r>
                        <a:rPr lang="cs-CZ" sz="1100" b="0" i="0" u="none" strike="noStrike" noProof="0" err="1">
                          <a:effectLst/>
                          <a:latin typeface="Calibri"/>
                        </a:rPr>
                        <a:t>charts</a:t>
                      </a: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 (Pohlaví, Body </a:t>
                      </a:r>
                      <a:r>
                        <a:rPr lang="cs-CZ" sz="1100" b="0" i="0" u="none" strike="noStrike" noProof="0" err="1">
                          <a:effectLst/>
                          <a:latin typeface="Calibri"/>
                        </a:rPr>
                        <a:t>camera</a:t>
                      </a: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)</a:t>
                      </a:r>
                      <a:endParaRPr lang="cs-CZ" sz="1100"/>
                    </a:p>
                    <a:p>
                      <a:pPr lvl="0">
                        <a:buNone/>
                      </a:pPr>
                      <a:r>
                        <a:rPr lang="cs-CZ" sz="1100" b="0" i="0" u="none" strike="noStrike" noProof="0" dirty="0">
                          <a:effectLst/>
                          <a:latin typeface="Calibri"/>
                        </a:rPr>
                        <a:t>• Kontingenční tabulka (kategorie hrozby)</a:t>
                      </a:r>
                      <a:endParaRPr lang="cs-CZ" sz="110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cs-CZ" sz="1400" err="1">
                          <a:effectLst/>
                        </a:rPr>
                        <a:t>Correlation</a:t>
                      </a:r>
                      <a:r>
                        <a:rPr lang="cs-CZ" sz="1400" dirty="0">
                          <a:effectLst/>
                        </a:rPr>
                        <a:t> (r)</a:t>
                      </a:r>
                      <a:br>
                        <a:rPr lang="cs-CZ" sz="1400" dirty="0">
                          <a:effectLst/>
                        </a:rPr>
                      </a:br>
                      <a:r>
                        <a:rPr lang="cs-CZ" sz="1400" dirty="0">
                          <a:effectLst/>
                        </a:rPr>
                        <a:t>Budget per Capita</a:t>
                      </a:r>
                      <a:br>
                        <a:rPr lang="cs-CZ" sz="1400" dirty="0">
                          <a:effectLst/>
                        </a:rPr>
                      </a:br>
                      <a:r>
                        <a:rPr lang="cs-CZ" sz="1400" err="1">
                          <a:effectLst/>
                        </a:rPr>
                        <a:t>Shooting</a:t>
                      </a:r>
                      <a:r>
                        <a:rPr lang="cs-CZ" sz="1400" dirty="0">
                          <a:effectLst/>
                        </a:rPr>
                        <a:t> </a:t>
                      </a:r>
                      <a:r>
                        <a:rPr lang="cs-CZ" sz="1400" err="1">
                          <a:effectLst/>
                        </a:rPr>
                        <a:t>Rate</a:t>
                      </a:r>
                      <a:endParaRPr lang="cs-CZ" sz="1400"/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2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86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64DF9-FC15-F1D4-6E46-3AA0267C5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7C71D1-316F-D7FD-10C1-8BEA70F3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problémy při návrhu procesu zpracování dat 1/7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17563395-3332-0B03-CDA8-8995C28B5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2400" b="1" dirty="0">
                <a:latin typeface="Arial"/>
                <a:cs typeface="Arial"/>
              </a:rPr>
              <a:t>Problém 1: Nekonzistentní formáty názvů měst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Popis: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Source data měla různé formáty city </a:t>
            </a:r>
            <a:r>
              <a:rPr lang="cs-CZ" sz="1600" err="1">
                <a:latin typeface="Arial"/>
                <a:cs typeface="Arial"/>
              </a:rPr>
              <a:t>names</a:t>
            </a:r>
            <a:endParaRPr lang="cs-CZ" sz="1600">
              <a:latin typeface="Arial"/>
              <a:cs typeface="Arial"/>
            </a:endParaRP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Budgets</a:t>
            </a:r>
            <a:r>
              <a:rPr lang="cs-CZ" sz="1600" dirty="0">
                <a:latin typeface="Arial"/>
                <a:cs typeface="Arial"/>
              </a:rPr>
              <a:t>: "AK: </a:t>
            </a:r>
            <a:r>
              <a:rPr lang="cs-CZ" sz="1600" err="1">
                <a:latin typeface="Arial"/>
                <a:cs typeface="Arial"/>
              </a:rPr>
              <a:t>Anchorage</a:t>
            </a:r>
            <a:r>
              <a:rPr lang="cs-CZ" sz="1600" dirty="0">
                <a:latin typeface="Arial"/>
                <a:cs typeface="Arial"/>
              </a:rPr>
              <a:t>", "CA: Los Angeles"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Shootings</a:t>
            </a:r>
            <a:r>
              <a:rPr lang="cs-CZ" sz="1600" dirty="0">
                <a:latin typeface="Arial"/>
                <a:cs typeface="Arial"/>
              </a:rPr>
              <a:t>: "</a:t>
            </a:r>
            <a:r>
              <a:rPr lang="cs-CZ" sz="1600" err="1">
                <a:latin typeface="Arial"/>
                <a:cs typeface="Arial"/>
              </a:rPr>
              <a:t>Anchorage</a:t>
            </a:r>
            <a:r>
              <a:rPr lang="cs-CZ" sz="1600" dirty="0">
                <a:latin typeface="Arial"/>
                <a:cs typeface="Arial"/>
              </a:rPr>
              <a:t>", "Los Angeles"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Dopad na projekt: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Nemožnost propojit </a:t>
            </a:r>
            <a:r>
              <a:rPr lang="cs-CZ" sz="1600" err="1">
                <a:latin typeface="Arial"/>
                <a:cs typeface="Arial"/>
              </a:rPr>
              <a:t>datasety</a:t>
            </a:r>
            <a:r>
              <a:rPr lang="cs-CZ" sz="1600" dirty="0">
                <a:latin typeface="Arial"/>
                <a:cs typeface="Arial"/>
              </a:rPr>
              <a:t> pomocí INNER JOIN</a:t>
            </a:r>
            <a:endParaRPr lang="cs-CZ" sz="160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Řešení v </a:t>
            </a:r>
            <a:r>
              <a:rPr lang="cs-CZ" sz="2000" dirty="0" err="1">
                <a:latin typeface="Arial"/>
                <a:cs typeface="Arial"/>
              </a:rPr>
              <a:t>BigQuery</a:t>
            </a:r>
            <a:r>
              <a:rPr lang="cs-CZ" sz="2000" dirty="0">
                <a:latin typeface="Arial"/>
                <a:cs typeface="Arial"/>
              </a:rPr>
              <a:t> SQL:</a:t>
            </a:r>
            <a:endParaRPr lang="cs-CZ" sz="20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 err="1">
                <a:latin typeface="Arial"/>
                <a:cs typeface="Arial"/>
              </a:rPr>
              <a:t>Budgets</a:t>
            </a:r>
            <a:r>
              <a:rPr lang="cs-CZ" sz="1600" dirty="0">
                <a:latin typeface="Arial"/>
                <a:cs typeface="Arial"/>
              </a:rPr>
              <a:t> </a:t>
            </a:r>
            <a:r>
              <a:rPr lang="cs-CZ" sz="1600" dirty="0" err="1">
                <a:latin typeface="Arial"/>
                <a:cs typeface="Arial"/>
              </a:rPr>
              <a:t>cleaning</a:t>
            </a:r>
            <a:r>
              <a:rPr lang="cs-CZ" sz="1600" dirty="0">
                <a:latin typeface="Arial"/>
                <a:cs typeface="Arial"/>
              </a:rPr>
              <a:t> (</a:t>
            </a:r>
            <a:r>
              <a:rPr lang="cs-CZ" sz="1600" dirty="0" err="1">
                <a:latin typeface="Arial"/>
                <a:cs typeface="Arial"/>
              </a:rPr>
              <a:t>cleaning_budgets_raw.sql</a:t>
            </a:r>
            <a:r>
              <a:rPr lang="cs-CZ" sz="1600" dirty="0">
                <a:latin typeface="Arial"/>
                <a:cs typeface="Arial"/>
              </a:rPr>
              <a:t>)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 err="1">
                <a:latin typeface="Arial"/>
                <a:cs typeface="Arial"/>
              </a:rPr>
              <a:t>Shootings</a:t>
            </a:r>
            <a:r>
              <a:rPr lang="cs-CZ" sz="1600" dirty="0">
                <a:latin typeface="Arial"/>
                <a:cs typeface="Arial"/>
              </a:rPr>
              <a:t> </a:t>
            </a:r>
            <a:r>
              <a:rPr lang="cs-CZ" sz="1600" dirty="0" err="1">
                <a:latin typeface="Arial"/>
                <a:cs typeface="Arial"/>
              </a:rPr>
              <a:t>cleaning</a:t>
            </a:r>
            <a:r>
              <a:rPr lang="cs-CZ" sz="1600" dirty="0">
                <a:latin typeface="Arial"/>
                <a:cs typeface="Arial"/>
              </a:rPr>
              <a:t> (</a:t>
            </a:r>
            <a:r>
              <a:rPr lang="cs-CZ" sz="1600" dirty="0" err="1">
                <a:latin typeface="Arial"/>
                <a:cs typeface="Arial"/>
              </a:rPr>
              <a:t>cleaning_shooting_raw.sql</a:t>
            </a:r>
            <a:r>
              <a:rPr lang="cs-CZ" sz="1600" dirty="0">
                <a:latin typeface="Arial"/>
                <a:cs typeface="Arial"/>
              </a:rPr>
              <a:t>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Výsledek:</a:t>
            </a:r>
            <a:endParaRPr lang="cs-CZ" sz="200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Jednotný formát: "</a:t>
            </a:r>
            <a:r>
              <a:rPr lang="cs-CZ" sz="1600" err="1">
                <a:latin typeface="Arial"/>
                <a:cs typeface="Arial"/>
              </a:rPr>
              <a:t>Anchorage</a:t>
            </a:r>
            <a:r>
              <a:rPr lang="cs-CZ" sz="1600" dirty="0">
                <a:latin typeface="Arial"/>
                <a:cs typeface="Arial"/>
              </a:rPr>
              <a:t>, AK", "Los Angeles, CA"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Úspěšně propojeno 174 měst (79.8% </a:t>
            </a:r>
            <a:r>
              <a:rPr lang="cs-CZ" sz="1600" err="1">
                <a:latin typeface="Arial"/>
                <a:cs typeface="Arial"/>
              </a:rPr>
              <a:t>coverage</a:t>
            </a:r>
            <a:r>
              <a:rPr lang="cs-CZ" sz="1600" dirty="0">
                <a:latin typeface="Arial"/>
                <a:cs typeface="Arial"/>
              </a:rPr>
              <a:t>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112781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A6B19-D38C-EE92-66B9-85294150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FA141B-6673-DF31-1709-2B71472F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problémy při návrhu procesu zpracování dat 2/7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FE20289F-1709-9F7C-C929-1064A8EB1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2400" b="1" dirty="0">
                <a:latin typeface="Arial"/>
                <a:cs typeface="Arial"/>
              </a:rPr>
              <a:t>Problém 2: Chybné jednotky v rozpočtových datech</a:t>
            </a:r>
            <a:r>
              <a:rPr lang="cs-CZ" sz="2400" dirty="0">
                <a:latin typeface="Arial"/>
                <a:cs typeface="Arial"/>
              </a:rPr>
              <a:t> </a:t>
            </a:r>
            <a:endParaRPr lang="cs-CZ" sz="2400" b="1" dirty="0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Popis: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Sloupec police obsahoval hodnoty 266, 320, 1140...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Per capita výpočty vracely $0.0012 - $0.028 (tj. 0.12¢ - 2.8¢ na obyvatele)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Reálný police budget v USA je ~$300-500 per capita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Příčina: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Dataset</a:t>
            </a:r>
            <a:r>
              <a:rPr lang="cs-CZ" sz="1600" dirty="0">
                <a:latin typeface="Arial"/>
                <a:cs typeface="Arial"/>
              </a:rPr>
              <a:t> používal miliony dolarů jako jednotku bez dokumentace</a:t>
            </a:r>
            <a:endParaRPr lang="cs-CZ" sz="160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police = 266 = $266,000,000 (ne $266)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Řešení v </a:t>
            </a:r>
            <a:r>
              <a:rPr lang="cs-CZ" sz="2000" err="1">
                <a:latin typeface="Arial"/>
                <a:cs typeface="Arial"/>
              </a:rPr>
              <a:t>BigQuery</a:t>
            </a:r>
            <a:r>
              <a:rPr lang="cs-CZ" sz="2000" dirty="0">
                <a:latin typeface="Arial"/>
                <a:cs typeface="Arial"/>
              </a:rPr>
              <a:t> SQL:</a:t>
            </a:r>
            <a:endParaRPr lang="cs-CZ" sz="200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cleaning_budgets_raw.sql</a:t>
            </a:r>
            <a:endParaRPr lang="cs-CZ" sz="1600" dirty="0">
              <a:latin typeface="Arial"/>
              <a:cs typeface="Arial"/>
            </a:endParaRP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police_shootings_master.sql</a:t>
            </a:r>
            <a:endParaRPr lang="cs-CZ" sz="1600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Výsledek:</a:t>
            </a:r>
            <a:endParaRPr lang="cs-CZ" sz="20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Správné hodnoty: $266M - $1.14B celkový budget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Per capita: $185 - $527 (realistické hodnoty místo $0.0012)</a:t>
            </a:r>
            <a:endParaRPr lang="cs-CZ" sz="18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2492138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94AD5-AE82-B2B7-D533-E53F4C43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545958-DC06-4114-1EB8-FB756B70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problémy při návrhu procesu zpracování dat 3/7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0CB5163C-B269-23CC-A3E8-F8F68E47A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2400" b="1" dirty="0">
                <a:latin typeface="Arial"/>
                <a:cs typeface="Arial"/>
              </a:rPr>
              <a:t>Problém 3: </a:t>
            </a:r>
            <a:r>
              <a:rPr lang="cs-CZ" sz="2400" b="1" dirty="0" err="1">
                <a:latin typeface="Arial"/>
                <a:cs typeface="Arial"/>
              </a:rPr>
              <a:t>Missing</a:t>
            </a:r>
            <a:r>
              <a:rPr lang="cs-CZ" sz="2400" b="1" dirty="0">
                <a:latin typeface="Arial"/>
                <a:cs typeface="Arial"/>
              </a:rPr>
              <a:t> </a:t>
            </a:r>
            <a:r>
              <a:rPr lang="cs-CZ" sz="2400" b="1" dirty="0" err="1">
                <a:latin typeface="Arial"/>
                <a:cs typeface="Arial"/>
              </a:rPr>
              <a:t>values</a:t>
            </a:r>
            <a:r>
              <a:rPr lang="cs-CZ" sz="2400" b="1" dirty="0">
                <a:latin typeface="Arial"/>
                <a:cs typeface="Arial"/>
              </a:rPr>
              <a:t> v demografických datech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Popis: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race</a:t>
            </a:r>
            <a:r>
              <a:rPr lang="cs-CZ" sz="1600" dirty="0">
                <a:latin typeface="Arial"/>
                <a:cs typeface="Arial"/>
              </a:rPr>
              <a:t>: 7.2% </a:t>
            </a:r>
            <a:r>
              <a:rPr lang="cs-CZ" sz="1600" err="1">
                <a:latin typeface="Arial"/>
                <a:cs typeface="Arial"/>
              </a:rPr>
              <a:t>missing</a:t>
            </a:r>
            <a:r>
              <a:rPr lang="cs-CZ" sz="1600" dirty="0">
                <a:latin typeface="Arial"/>
                <a:cs typeface="Arial"/>
              </a:rPr>
              <a:t> (400/5,552 řádků)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age</a:t>
            </a:r>
            <a:r>
              <a:rPr lang="cs-CZ" sz="1600" dirty="0">
                <a:latin typeface="Arial"/>
                <a:cs typeface="Arial"/>
              </a:rPr>
              <a:t>: 3.1% </a:t>
            </a:r>
            <a:r>
              <a:rPr lang="cs-CZ" sz="1600" err="1">
                <a:latin typeface="Arial"/>
                <a:cs typeface="Arial"/>
              </a:rPr>
              <a:t>missing</a:t>
            </a:r>
            <a:r>
              <a:rPr lang="cs-CZ" sz="1600" dirty="0">
                <a:latin typeface="Arial"/>
                <a:cs typeface="Arial"/>
              </a:rPr>
              <a:t> (172 řádků)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1.8% </a:t>
            </a:r>
            <a:r>
              <a:rPr lang="cs-CZ" sz="1600" err="1">
                <a:latin typeface="Arial"/>
                <a:cs typeface="Arial"/>
              </a:rPr>
              <a:t>missing</a:t>
            </a:r>
            <a:r>
              <a:rPr lang="cs-CZ" sz="1600" dirty="0">
                <a:latin typeface="Arial"/>
                <a:cs typeface="Arial"/>
              </a:rPr>
              <a:t> (100 řádků)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mental_illness</a:t>
            </a:r>
            <a:r>
              <a:rPr lang="cs-CZ" sz="1600" dirty="0">
                <a:latin typeface="Arial"/>
                <a:cs typeface="Arial"/>
              </a:rPr>
              <a:t>: označeno pouze ve ~25% případů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Řešení v </a:t>
            </a:r>
            <a:r>
              <a:rPr lang="cs-CZ" sz="2000" err="1">
                <a:latin typeface="Arial"/>
                <a:cs typeface="Arial"/>
              </a:rPr>
              <a:t>BigQuery</a:t>
            </a:r>
            <a:r>
              <a:rPr lang="cs-CZ" sz="2000" dirty="0">
                <a:latin typeface="Arial"/>
                <a:cs typeface="Arial"/>
              </a:rPr>
              <a:t> SQL:</a:t>
            </a:r>
            <a:endParaRPr lang="cs-CZ" sz="200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shootings_detailed_categorized.sql</a:t>
            </a:r>
            <a:endParaRPr lang="cs-CZ" sz="1600" dirty="0">
              <a:latin typeface="Arial"/>
              <a:cs typeface="Arial"/>
            </a:endParaRP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remove_nongender_record.sql</a:t>
            </a:r>
            <a:endParaRPr lang="cs-CZ" sz="1600" dirty="0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Výsledek:</a:t>
            </a:r>
            <a:endParaRPr lang="cs-CZ" sz="20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Power</a:t>
            </a:r>
            <a:r>
              <a:rPr lang="cs-CZ" sz="1600" dirty="0">
                <a:latin typeface="Arial"/>
                <a:cs typeface="Arial"/>
              </a:rPr>
              <a:t> BI: Všechna data zachována (NULL hodnoty zobrazí jako prázdné)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Mining</a:t>
            </a:r>
            <a:r>
              <a:rPr lang="cs-CZ" sz="1600" dirty="0">
                <a:latin typeface="Arial"/>
                <a:cs typeface="Arial"/>
              </a:rPr>
              <a:t>: Export pouze řádků bez NULL v klíčových sloupcích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Gender </a:t>
            </a:r>
            <a:r>
              <a:rPr lang="cs-CZ" sz="1600" err="1">
                <a:latin typeface="Arial"/>
                <a:cs typeface="Arial"/>
              </a:rPr>
              <a:t>cleanup</a:t>
            </a:r>
            <a:r>
              <a:rPr lang="cs-CZ" sz="1600" dirty="0">
                <a:latin typeface="Arial"/>
                <a:cs typeface="Arial"/>
              </a:rPr>
              <a:t>: DELETE </a:t>
            </a:r>
            <a:r>
              <a:rPr lang="cs-CZ" sz="1600" err="1">
                <a:latin typeface="Arial"/>
                <a:cs typeface="Arial"/>
              </a:rPr>
              <a:t>statement</a:t>
            </a:r>
            <a:r>
              <a:rPr lang="cs-CZ" sz="1600" dirty="0">
                <a:latin typeface="Arial"/>
                <a:cs typeface="Arial"/>
              </a:rPr>
              <a:t> pro problematické záznamy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90.7% </a:t>
            </a:r>
            <a:r>
              <a:rPr lang="cs-CZ" sz="1600" err="1">
                <a:latin typeface="Arial"/>
                <a:cs typeface="Arial"/>
              </a:rPr>
              <a:t>retention</a:t>
            </a:r>
            <a:r>
              <a:rPr lang="cs-CZ" sz="1600" dirty="0">
                <a:latin typeface="Arial"/>
                <a:cs typeface="Arial"/>
              </a:rPr>
              <a:t> pro data </a:t>
            </a:r>
            <a:r>
              <a:rPr lang="cs-CZ" sz="1600" err="1">
                <a:latin typeface="Arial"/>
                <a:cs typeface="Arial"/>
              </a:rPr>
              <a:t>mining</a:t>
            </a:r>
            <a:endParaRPr lang="cs-CZ" sz="1600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106995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0761D-7339-9325-1DA5-FA53E1FDD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FDA05F-D504-BF77-C22E-AA0EF559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problémy při návrhu procesu zpracování dat 4/7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A8DBB294-9EC3-871A-A714-0185B5320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2400" b="1" dirty="0">
                <a:latin typeface="Arial"/>
                <a:cs typeface="Arial"/>
              </a:rPr>
              <a:t>Problém 4: Lokalizační konflikt v </a:t>
            </a:r>
            <a:r>
              <a:rPr lang="cs-CZ" sz="2400" b="1" dirty="0" err="1">
                <a:latin typeface="Arial"/>
                <a:cs typeface="Arial"/>
              </a:rPr>
              <a:t>Power</a:t>
            </a:r>
            <a:r>
              <a:rPr lang="cs-CZ" sz="2400" b="1" dirty="0">
                <a:latin typeface="Arial"/>
                <a:cs typeface="Arial"/>
              </a:rPr>
              <a:t> BI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400" dirty="0">
                <a:latin typeface="Arial"/>
                <a:cs typeface="Arial"/>
              </a:rPr>
              <a:t>Popis: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>
                <a:latin typeface="Arial"/>
                <a:cs typeface="Arial"/>
              </a:rPr>
              <a:t>Při importu dat z CSV do </a:t>
            </a:r>
            <a:r>
              <a:rPr lang="cs-CZ" sz="1800" dirty="0" err="1">
                <a:latin typeface="Arial"/>
                <a:cs typeface="Arial"/>
              </a:rPr>
              <a:t>Power</a:t>
            </a:r>
            <a:r>
              <a:rPr lang="cs-CZ" sz="1800" dirty="0">
                <a:latin typeface="Arial"/>
                <a:cs typeface="Arial"/>
              </a:rPr>
              <a:t> BI je defaultně nastavená desetinná tečka namísto čárky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>
                <a:latin typeface="Arial"/>
                <a:cs typeface="Arial"/>
              </a:rPr>
              <a:t>Desetinná čísla pak byly automaticky nastaveno jakožto datový typ STRING.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400" dirty="0">
                <a:latin typeface="Arial"/>
                <a:cs typeface="Arial"/>
              </a:rPr>
              <a:t>Řešení v </a:t>
            </a:r>
            <a:r>
              <a:rPr lang="cs-CZ" sz="2400" err="1">
                <a:latin typeface="Arial"/>
                <a:cs typeface="Arial"/>
              </a:rPr>
              <a:t>BigQuery</a:t>
            </a:r>
            <a:r>
              <a:rPr lang="cs-CZ" sz="2400" dirty="0">
                <a:latin typeface="Arial"/>
                <a:cs typeface="Arial"/>
              </a:rPr>
              <a:t> SQL:</a:t>
            </a:r>
            <a:endParaRPr lang="cs-CZ" sz="240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err="1">
                <a:latin typeface="Arial"/>
                <a:cs typeface="Arial"/>
              </a:rPr>
              <a:t>Replace</a:t>
            </a:r>
            <a:r>
              <a:rPr lang="cs-CZ" sz="1800" dirty="0">
                <a:latin typeface="Arial"/>
                <a:cs typeface="Arial"/>
              </a:rPr>
              <a:t> </a:t>
            </a:r>
            <a:r>
              <a:rPr lang="cs-CZ" sz="1800" err="1">
                <a:latin typeface="Arial"/>
                <a:cs typeface="Arial"/>
              </a:rPr>
              <a:t>values</a:t>
            </a:r>
            <a:r>
              <a:rPr lang="cs-CZ" sz="1800" dirty="0">
                <a:latin typeface="Arial"/>
                <a:cs typeface="Arial"/>
              </a:rPr>
              <a:t> v </a:t>
            </a:r>
            <a:r>
              <a:rPr lang="cs-CZ" sz="1800" err="1">
                <a:latin typeface="Arial"/>
                <a:cs typeface="Arial"/>
              </a:rPr>
              <a:t>Power</a:t>
            </a:r>
            <a:r>
              <a:rPr lang="cs-CZ" sz="1800" dirty="0">
                <a:latin typeface="Arial"/>
                <a:cs typeface="Arial"/>
              </a:rPr>
              <a:t> BI z tečky na čárku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>
                <a:latin typeface="Arial"/>
                <a:cs typeface="Arial"/>
              </a:rPr>
              <a:t>Změna datového typu u špatně označených dat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400" dirty="0">
                <a:latin typeface="Arial"/>
                <a:cs typeface="Arial"/>
              </a:rPr>
              <a:t>Výsledek:</a:t>
            </a:r>
            <a:endParaRPr lang="cs-CZ" sz="24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>
                <a:latin typeface="Arial"/>
                <a:cs typeface="Arial"/>
              </a:rPr>
              <a:t>Všechna čísla správně importována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err="1">
                <a:latin typeface="Arial"/>
                <a:cs typeface="Arial"/>
              </a:rPr>
              <a:t>Decimal</a:t>
            </a:r>
            <a:r>
              <a:rPr lang="cs-CZ" sz="1800" dirty="0">
                <a:latin typeface="Arial"/>
                <a:cs typeface="Arial"/>
              </a:rPr>
              <a:t> </a:t>
            </a:r>
            <a:r>
              <a:rPr lang="cs-CZ" sz="1800" err="1">
                <a:latin typeface="Arial"/>
                <a:cs typeface="Arial"/>
              </a:rPr>
              <a:t>places</a:t>
            </a:r>
            <a:r>
              <a:rPr lang="cs-CZ" sz="1800" dirty="0">
                <a:latin typeface="Arial"/>
                <a:cs typeface="Arial"/>
              </a:rPr>
              <a:t> zobrazeny korektně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390464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9BFCA-72D4-0E18-1957-B31C22DC5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8574A7-2AC9-0F10-62EE-D016360A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problémy při návrhu procesu zpracování dat 5/7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D0ACA603-7814-95D0-4A74-6CE6BAA8C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2400" b="1" dirty="0">
                <a:latin typeface="Arial"/>
                <a:cs typeface="Arial"/>
              </a:rPr>
              <a:t>Problém 5: Příliš mnoho kategorií v kategoriálních proměnných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400" dirty="0">
                <a:latin typeface="Arial"/>
                <a:cs typeface="Arial"/>
              </a:rPr>
              <a:t>Popis:</a:t>
            </a:r>
          </a:p>
          <a:p>
            <a:pPr marL="856615" indent="-170815"/>
            <a:r>
              <a:rPr lang="cs-CZ" sz="1800" dirty="0" err="1">
                <a:latin typeface="Arial"/>
                <a:cs typeface="Arial"/>
              </a:rPr>
              <a:t>armed</a:t>
            </a:r>
            <a:r>
              <a:rPr lang="cs-CZ" sz="1800" dirty="0">
                <a:latin typeface="Arial"/>
                <a:cs typeface="Arial"/>
              </a:rPr>
              <a:t> sloupec měl 90+ unikátních </a:t>
            </a:r>
            <a:r>
              <a:rPr lang="cs-CZ" sz="1800" dirty="0" err="1">
                <a:latin typeface="Arial"/>
                <a:cs typeface="Arial"/>
              </a:rPr>
              <a:t>hodnots</a:t>
            </a:r>
            <a:endParaRPr lang="cs-CZ" sz="1800">
              <a:latin typeface="Arial"/>
              <a:cs typeface="Arial"/>
            </a:endParaRPr>
          </a:p>
          <a:p>
            <a:pPr marL="513715" lvl="1" indent="-170815">
              <a:buFont typeface="Courier New,monospace" panose="020B0604020202020204" pitchFamily="34" charset="0"/>
              <a:buChar char="o"/>
            </a:pPr>
            <a:r>
              <a:rPr lang="cs-CZ" sz="2400" dirty="0">
                <a:latin typeface="Arial"/>
                <a:cs typeface="Arial"/>
              </a:rPr>
              <a:t>Dopad na </a:t>
            </a:r>
            <a:r>
              <a:rPr lang="cs-CZ" sz="2400" dirty="0" err="1">
                <a:latin typeface="Arial"/>
                <a:cs typeface="Arial"/>
              </a:rPr>
              <a:t>datamining</a:t>
            </a:r>
            <a:r>
              <a:rPr lang="cs-CZ" sz="2400" dirty="0">
                <a:latin typeface="Arial"/>
                <a:cs typeface="Arial"/>
              </a:rPr>
              <a:t>:</a:t>
            </a:r>
            <a:endParaRPr lang="en-US" sz="2400" dirty="0">
              <a:latin typeface="Arial"/>
              <a:cs typeface="Arial"/>
            </a:endParaRPr>
          </a:p>
          <a:p>
            <a:pPr marL="856615" indent="-170815">
              <a:buFont typeface="Courier New,monospace" panose="020B0604020202020204" pitchFamily="34" charset="0"/>
              <a:buChar char="o"/>
            </a:pPr>
            <a:r>
              <a:rPr lang="cs-CZ" sz="1800" dirty="0">
                <a:latin typeface="Arial"/>
                <a:cs typeface="Arial"/>
              </a:rPr>
              <a:t>4ft-Miner našel 10,000+ pravidel (většina irelevantních)</a:t>
            </a:r>
            <a:endParaRPr lang="cs-CZ" dirty="0"/>
          </a:p>
          <a:p>
            <a:pPr marL="856615" indent="-170815">
              <a:buFont typeface="Courier New,monospace" panose="020B0604020202020204" pitchFamily="34" charset="0"/>
              <a:buChar char="o"/>
            </a:pPr>
            <a:r>
              <a:rPr lang="cs-CZ" sz="1800" dirty="0">
                <a:latin typeface="Arial"/>
                <a:cs typeface="Arial"/>
              </a:rPr>
              <a:t>Kontingenční tabulky měly 90x90 buněk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400" dirty="0">
                <a:latin typeface="Arial"/>
                <a:cs typeface="Arial"/>
              </a:rPr>
              <a:t>Řešení v </a:t>
            </a:r>
            <a:r>
              <a:rPr lang="cs-CZ" sz="2400" err="1">
                <a:latin typeface="Arial"/>
                <a:cs typeface="Arial"/>
              </a:rPr>
              <a:t>BigQuery</a:t>
            </a:r>
            <a:r>
              <a:rPr lang="cs-CZ" sz="2400" dirty="0">
                <a:latin typeface="Arial"/>
                <a:cs typeface="Arial"/>
              </a:rPr>
              <a:t> SQL:</a:t>
            </a:r>
            <a:endParaRPr lang="cs-CZ" sz="240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 err="1">
                <a:latin typeface="Arial"/>
                <a:cs typeface="Arial"/>
              </a:rPr>
              <a:t>shootings_detailed_categorized.sql</a:t>
            </a:r>
            <a:endParaRPr lang="cs-CZ" sz="1800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400" dirty="0">
                <a:latin typeface="Arial"/>
                <a:cs typeface="Arial"/>
              </a:rPr>
              <a:t>Výsledek:</a:t>
            </a:r>
            <a:endParaRPr lang="cs-CZ" sz="24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>
                <a:latin typeface="Arial"/>
                <a:cs typeface="Arial"/>
              </a:rPr>
              <a:t>90+ kategorií → 4 kategorie (</a:t>
            </a:r>
            <a:r>
              <a:rPr lang="cs-CZ" sz="1800" dirty="0" err="1">
                <a:latin typeface="Arial"/>
                <a:cs typeface="Arial"/>
              </a:rPr>
              <a:t>Unarmed</a:t>
            </a:r>
            <a:r>
              <a:rPr lang="cs-CZ" sz="1800" dirty="0">
                <a:latin typeface="Arial"/>
                <a:cs typeface="Arial"/>
              </a:rPr>
              <a:t>/</a:t>
            </a:r>
            <a:r>
              <a:rPr lang="cs-CZ" sz="1800" dirty="0" err="1">
                <a:latin typeface="Arial"/>
                <a:cs typeface="Arial"/>
              </a:rPr>
              <a:t>Gun</a:t>
            </a:r>
            <a:r>
              <a:rPr lang="cs-CZ" sz="1800" dirty="0">
                <a:latin typeface="Arial"/>
                <a:cs typeface="Arial"/>
              </a:rPr>
              <a:t>/</a:t>
            </a:r>
            <a:r>
              <a:rPr lang="cs-CZ" sz="1800" dirty="0" err="1">
                <a:latin typeface="Arial"/>
                <a:cs typeface="Arial"/>
              </a:rPr>
              <a:t>Blade</a:t>
            </a:r>
            <a:r>
              <a:rPr lang="cs-CZ" sz="1800" dirty="0">
                <a:latin typeface="Arial"/>
                <a:cs typeface="Arial"/>
              </a:rPr>
              <a:t>/</a:t>
            </a:r>
            <a:r>
              <a:rPr lang="cs-CZ" sz="1800" dirty="0" err="1">
                <a:latin typeface="Arial"/>
                <a:cs typeface="Arial"/>
              </a:rPr>
              <a:t>Other</a:t>
            </a:r>
            <a:r>
              <a:rPr lang="cs-CZ" sz="1800" dirty="0">
                <a:latin typeface="Arial"/>
                <a:cs typeface="Arial"/>
              </a:rPr>
              <a:t>)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 err="1">
                <a:latin typeface="Arial"/>
                <a:cs typeface="Arial"/>
              </a:rPr>
              <a:t>Association</a:t>
            </a:r>
            <a:r>
              <a:rPr lang="cs-CZ" sz="1800" dirty="0">
                <a:latin typeface="Arial"/>
                <a:cs typeface="Arial"/>
              </a:rPr>
              <a:t> </a:t>
            </a:r>
            <a:r>
              <a:rPr lang="cs-CZ" sz="1800" dirty="0" err="1">
                <a:latin typeface="Arial"/>
                <a:cs typeface="Arial"/>
              </a:rPr>
              <a:t>rules</a:t>
            </a:r>
            <a:r>
              <a:rPr lang="cs-CZ" sz="1800" dirty="0">
                <a:latin typeface="Arial"/>
                <a:cs typeface="Arial"/>
              </a:rPr>
              <a:t> interpretovatelné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>
                <a:latin typeface="Arial"/>
                <a:cs typeface="Arial"/>
              </a:rPr>
              <a:t>Vizualizace čitelné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306827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CC789-13F2-FA73-2A3F-D48FDFA0A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81526F-366B-6A21-59EF-0556D1FE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problémy při návrhu procesu zpracování dat 6/7 - 2/2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EC2500D-7384-B760-2F87-FBE7EB0ED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latin typeface="Arial"/>
                <a:cs typeface="Arial"/>
              </a:rPr>
              <a:t>Problém 6: Nutnost kategorizace 13 proměnných pro data </a:t>
            </a:r>
            <a:r>
              <a:rPr lang="cs-CZ" sz="1800" b="1" dirty="0" err="1">
                <a:latin typeface="Arial"/>
                <a:cs typeface="Arial"/>
              </a:rPr>
              <a:t>mining</a:t>
            </a:r>
            <a:endParaRPr lang="cs-CZ" sz="1800" b="1" dirty="0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Popis:</a:t>
            </a:r>
          </a:p>
          <a:p>
            <a:pPr marL="856615" indent="-170815"/>
            <a:r>
              <a:rPr lang="cs-CZ" sz="1600" err="1">
                <a:latin typeface="Arial"/>
                <a:cs typeface="Arial"/>
              </a:rPr>
              <a:t>Association</a:t>
            </a:r>
            <a:r>
              <a:rPr lang="cs-CZ" sz="1600" dirty="0">
                <a:latin typeface="Arial"/>
                <a:cs typeface="Arial"/>
              </a:rPr>
              <a:t> rule </a:t>
            </a:r>
            <a:r>
              <a:rPr lang="cs-CZ" sz="1600" err="1">
                <a:latin typeface="Arial"/>
                <a:cs typeface="Arial"/>
              </a:rPr>
              <a:t>mining</a:t>
            </a:r>
            <a:r>
              <a:rPr lang="cs-CZ" sz="1600" dirty="0">
                <a:latin typeface="Arial"/>
                <a:cs typeface="Arial"/>
              </a:rPr>
              <a:t> nástroje (4ft-Miner, CF-</a:t>
            </a:r>
            <a:r>
              <a:rPr lang="cs-CZ" sz="1600" err="1">
                <a:latin typeface="Arial"/>
                <a:cs typeface="Arial"/>
              </a:rPr>
              <a:t>Miner</a:t>
            </a:r>
            <a:r>
              <a:rPr lang="cs-CZ" sz="1600" dirty="0">
                <a:latin typeface="Arial"/>
                <a:cs typeface="Arial"/>
              </a:rPr>
              <a:t>, SD4ft-Miner) vyžadují kategoriální data</a:t>
            </a:r>
          </a:p>
          <a:p>
            <a:pPr marL="856615" indent="-170815"/>
            <a:r>
              <a:rPr lang="cs-CZ" sz="1600" err="1">
                <a:latin typeface="Arial"/>
                <a:cs typeface="Arial"/>
              </a:rPr>
              <a:t>Dataset</a:t>
            </a:r>
            <a:r>
              <a:rPr lang="cs-CZ" sz="1600" dirty="0">
                <a:latin typeface="Arial"/>
                <a:cs typeface="Arial"/>
              </a:rPr>
              <a:t> obsahoval spojité proměnné (budget, </a:t>
            </a:r>
            <a:r>
              <a:rPr lang="cs-CZ" sz="1600" err="1">
                <a:latin typeface="Arial"/>
                <a:cs typeface="Arial"/>
              </a:rPr>
              <a:t>shooting_rate</a:t>
            </a:r>
            <a:r>
              <a:rPr lang="cs-CZ" sz="1600" dirty="0">
                <a:latin typeface="Arial"/>
                <a:cs typeface="Arial"/>
              </a:rPr>
              <a:t>, </a:t>
            </a:r>
            <a:r>
              <a:rPr lang="cs-CZ" sz="1600" err="1">
                <a:latin typeface="Arial"/>
                <a:cs typeface="Arial"/>
              </a:rPr>
              <a:t>age</a:t>
            </a:r>
            <a:r>
              <a:rPr lang="cs-CZ" sz="1600" dirty="0">
                <a:latin typeface="Arial"/>
                <a:cs typeface="Arial"/>
              </a:rPr>
              <a:t>) a </a:t>
            </a:r>
            <a:r>
              <a:rPr lang="cs-CZ" sz="1600" err="1">
                <a:latin typeface="Arial"/>
                <a:cs typeface="Arial"/>
              </a:rPr>
              <a:t>vysokodimenzionální</a:t>
            </a:r>
            <a:r>
              <a:rPr lang="cs-CZ" sz="1600" dirty="0">
                <a:latin typeface="Arial"/>
                <a:cs typeface="Arial"/>
              </a:rPr>
              <a:t> kategoriální (</a:t>
            </a:r>
            <a:r>
              <a:rPr lang="cs-CZ" sz="1600" err="1">
                <a:latin typeface="Arial"/>
                <a:cs typeface="Arial"/>
              </a:rPr>
              <a:t>armed</a:t>
            </a:r>
            <a:r>
              <a:rPr lang="cs-CZ" sz="1600" dirty="0">
                <a:latin typeface="Arial"/>
                <a:cs typeface="Arial"/>
              </a:rPr>
              <a:t>: 90+ hodnot)</a:t>
            </a:r>
          </a:p>
          <a:p>
            <a:pPr marL="856615" indent="-170815"/>
            <a:r>
              <a:rPr lang="cs-CZ" sz="1600" dirty="0">
                <a:latin typeface="Arial"/>
                <a:cs typeface="Arial"/>
              </a:rPr>
              <a:t>Potřeba vytvořit smysluplné kategorie pro 13 různých proměnných:  Master </a:t>
            </a:r>
            <a:r>
              <a:rPr lang="cs-CZ" sz="1600" err="1">
                <a:latin typeface="Arial"/>
                <a:cs typeface="Arial"/>
              </a:rPr>
              <a:t>dataset</a:t>
            </a:r>
            <a:r>
              <a:rPr lang="cs-CZ" sz="1600" dirty="0">
                <a:latin typeface="Arial"/>
                <a:cs typeface="Arial"/>
              </a:rPr>
              <a:t> (7 kategorizací):</a:t>
            </a:r>
            <a:endParaRPr lang="cs-CZ" sz="1600"/>
          </a:p>
          <a:p>
            <a:pPr marL="1199515" lvl="2" indent="-170815">
              <a:spcBef>
                <a:spcPts val="375"/>
              </a:spcBef>
              <a:buFont typeface="Wingdings" panose="020B0604020202020204" pitchFamily="34" charset="0"/>
              <a:buChar char="§"/>
            </a:pPr>
            <a:r>
              <a:rPr lang="cs-CZ" sz="1000" err="1">
                <a:latin typeface="Arial"/>
                <a:cs typeface="Arial"/>
              </a:rPr>
              <a:t>budget_category</a:t>
            </a:r>
            <a:r>
              <a:rPr lang="cs-CZ" sz="1000" dirty="0">
                <a:latin typeface="Arial"/>
                <a:cs typeface="Arial"/>
              </a:rPr>
              <a:t> - </a:t>
            </a:r>
            <a:r>
              <a:rPr lang="cs-CZ" sz="1000" err="1">
                <a:latin typeface="Arial"/>
                <a:cs typeface="Arial"/>
              </a:rPr>
              <a:t>Low</a:t>
            </a:r>
            <a:r>
              <a:rPr lang="cs-CZ" sz="1000" dirty="0">
                <a:latin typeface="Arial"/>
                <a:cs typeface="Arial"/>
              </a:rPr>
              <a:t>/Medium/</a:t>
            </a:r>
            <a:r>
              <a:rPr lang="cs-CZ" sz="1000" err="1">
                <a:latin typeface="Arial"/>
                <a:cs typeface="Arial"/>
              </a:rPr>
              <a:t>High</a:t>
            </a:r>
            <a:r>
              <a:rPr lang="cs-CZ" sz="1000" dirty="0">
                <a:latin typeface="Arial"/>
                <a:cs typeface="Arial"/>
              </a:rPr>
              <a:t> Budget</a:t>
            </a:r>
            <a:endParaRPr lang="cs-CZ" sz="1000"/>
          </a:p>
          <a:p>
            <a:pPr marL="1199515" lvl="3" indent="-170815"/>
            <a:r>
              <a:rPr lang="cs-CZ" sz="1100" err="1">
                <a:latin typeface="Arial"/>
                <a:cs typeface="Arial"/>
              </a:rPr>
              <a:t>shooting_frequency</a:t>
            </a:r>
            <a:r>
              <a:rPr lang="cs-CZ" sz="1100" dirty="0">
                <a:latin typeface="Arial"/>
                <a:cs typeface="Arial"/>
              </a:rPr>
              <a:t> - </a:t>
            </a:r>
            <a:r>
              <a:rPr lang="cs-CZ" sz="1100" err="1">
                <a:latin typeface="Arial"/>
                <a:cs typeface="Arial"/>
              </a:rPr>
              <a:t>Few</a:t>
            </a:r>
            <a:r>
              <a:rPr lang="cs-CZ" sz="1100" dirty="0">
                <a:latin typeface="Arial"/>
                <a:cs typeface="Arial"/>
              </a:rPr>
              <a:t>/Medium/Many </a:t>
            </a:r>
            <a:r>
              <a:rPr lang="cs-CZ" sz="1100" err="1">
                <a:latin typeface="Arial"/>
                <a:cs typeface="Arial"/>
              </a:rPr>
              <a:t>Shootings</a:t>
            </a:r>
            <a:endParaRPr lang="cs-CZ" sz="1100"/>
          </a:p>
          <a:p>
            <a:pPr marL="1199515" lvl="3" indent="-170815"/>
            <a:r>
              <a:rPr lang="cs-CZ" sz="1100" err="1">
                <a:latin typeface="Arial"/>
                <a:cs typeface="Arial"/>
              </a:rPr>
              <a:t>shooting_rate_category</a:t>
            </a:r>
            <a:r>
              <a:rPr lang="cs-CZ" sz="1100" dirty="0">
                <a:latin typeface="Arial"/>
                <a:cs typeface="Arial"/>
              </a:rPr>
              <a:t> - </a:t>
            </a:r>
            <a:r>
              <a:rPr lang="cs-CZ" sz="1100" err="1">
                <a:latin typeface="Arial"/>
                <a:cs typeface="Arial"/>
              </a:rPr>
              <a:t>Low</a:t>
            </a:r>
            <a:r>
              <a:rPr lang="cs-CZ" sz="1100" dirty="0">
                <a:latin typeface="Arial"/>
                <a:cs typeface="Arial"/>
              </a:rPr>
              <a:t>/Medium/</a:t>
            </a:r>
            <a:r>
              <a:rPr lang="cs-CZ" sz="1100" err="1">
                <a:latin typeface="Arial"/>
                <a:cs typeface="Arial"/>
              </a:rPr>
              <a:t>High</a:t>
            </a:r>
            <a:r>
              <a:rPr lang="cs-CZ" sz="1100" dirty="0">
                <a:latin typeface="Arial"/>
                <a:cs typeface="Arial"/>
              </a:rPr>
              <a:t> </a:t>
            </a:r>
            <a:r>
              <a:rPr lang="cs-CZ" sz="1100" err="1">
                <a:latin typeface="Arial"/>
                <a:cs typeface="Arial"/>
              </a:rPr>
              <a:t>Rate</a:t>
            </a:r>
            <a:endParaRPr lang="cs-CZ" sz="1100"/>
          </a:p>
          <a:p>
            <a:pPr marL="1199515" lvl="3" indent="-170815"/>
            <a:r>
              <a:rPr lang="cs-CZ" sz="1100" err="1">
                <a:latin typeface="Arial"/>
                <a:cs typeface="Arial"/>
              </a:rPr>
              <a:t>population_size</a:t>
            </a:r>
            <a:r>
              <a:rPr lang="cs-CZ" sz="1100" dirty="0">
                <a:latin typeface="Arial"/>
                <a:cs typeface="Arial"/>
              </a:rPr>
              <a:t> - </a:t>
            </a:r>
            <a:r>
              <a:rPr lang="cs-CZ" sz="1100" err="1">
                <a:latin typeface="Arial"/>
                <a:cs typeface="Arial"/>
              </a:rPr>
              <a:t>Small</a:t>
            </a:r>
            <a:r>
              <a:rPr lang="cs-CZ" sz="1100" dirty="0">
                <a:latin typeface="Arial"/>
                <a:cs typeface="Arial"/>
              </a:rPr>
              <a:t>/Medium/</a:t>
            </a:r>
            <a:r>
              <a:rPr lang="cs-CZ" sz="1100" err="1">
                <a:latin typeface="Arial"/>
                <a:cs typeface="Arial"/>
              </a:rPr>
              <a:t>Large</a:t>
            </a:r>
            <a:endParaRPr lang="cs-CZ" sz="1100"/>
          </a:p>
          <a:p>
            <a:pPr marL="1199515" lvl="3" indent="-170815"/>
            <a:r>
              <a:rPr lang="cs-CZ" sz="1100" err="1">
                <a:latin typeface="Arial"/>
                <a:cs typeface="Arial"/>
              </a:rPr>
              <a:t>unarmed_category</a:t>
            </a:r>
            <a:r>
              <a:rPr lang="cs-CZ" sz="1100" dirty="0">
                <a:latin typeface="Arial"/>
                <a:cs typeface="Arial"/>
              </a:rPr>
              <a:t> - </a:t>
            </a:r>
            <a:r>
              <a:rPr lang="cs-CZ" sz="1100" err="1">
                <a:latin typeface="Arial"/>
                <a:cs typeface="Arial"/>
              </a:rPr>
              <a:t>None</a:t>
            </a:r>
            <a:r>
              <a:rPr lang="cs-CZ" sz="1100" dirty="0">
                <a:latin typeface="Arial"/>
                <a:cs typeface="Arial"/>
              </a:rPr>
              <a:t>/</a:t>
            </a:r>
            <a:r>
              <a:rPr lang="cs-CZ" sz="1100" err="1">
                <a:latin typeface="Arial"/>
                <a:cs typeface="Arial"/>
              </a:rPr>
              <a:t>Some</a:t>
            </a:r>
            <a:r>
              <a:rPr lang="cs-CZ" sz="1100" dirty="0">
                <a:latin typeface="Arial"/>
                <a:cs typeface="Arial"/>
              </a:rPr>
              <a:t>/Many </a:t>
            </a:r>
            <a:r>
              <a:rPr lang="cs-CZ" sz="1100" err="1">
                <a:latin typeface="Arial"/>
                <a:cs typeface="Arial"/>
              </a:rPr>
              <a:t>Unarmed</a:t>
            </a:r>
            <a:endParaRPr lang="cs-CZ" sz="1100"/>
          </a:p>
          <a:p>
            <a:pPr marL="1199515" lvl="3" indent="-170815"/>
            <a:r>
              <a:rPr lang="cs-CZ" sz="1100" err="1">
                <a:latin typeface="Arial"/>
                <a:cs typeface="Arial"/>
              </a:rPr>
              <a:t>minority_category</a:t>
            </a:r>
            <a:r>
              <a:rPr lang="cs-CZ" sz="1100" dirty="0">
                <a:latin typeface="Arial"/>
                <a:cs typeface="Arial"/>
              </a:rPr>
              <a:t> - </a:t>
            </a:r>
            <a:r>
              <a:rPr lang="cs-CZ" sz="1100" err="1">
                <a:latin typeface="Arial"/>
                <a:cs typeface="Arial"/>
              </a:rPr>
              <a:t>Low</a:t>
            </a:r>
            <a:r>
              <a:rPr lang="cs-CZ" sz="1100" dirty="0">
                <a:latin typeface="Arial"/>
                <a:cs typeface="Arial"/>
              </a:rPr>
              <a:t>/Medium/</a:t>
            </a:r>
            <a:r>
              <a:rPr lang="cs-CZ" sz="1100" err="1">
                <a:latin typeface="Arial"/>
                <a:cs typeface="Arial"/>
              </a:rPr>
              <a:t>High</a:t>
            </a:r>
            <a:r>
              <a:rPr lang="cs-CZ" sz="1100" dirty="0">
                <a:latin typeface="Arial"/>
                <a:cs typeface="Arial"/>
              </a:rPr>
              <a:t> Minority</a:t>
            </a:r>
            <a:endParaRPr lang="cs-CZ" sz="1100"/>
          </a:p>
          <a:p>
            <a:pPr marL="1199515" lvl="3" indent="-170815"/>
            <a:r>
              <a:rPr lang="cs-CZ" sz="1100" err="1">
                <a:latin typeface="Arial"/>
                <a:cs typeface="Arial"/>
              </a:rPr>
              <a:t>mental_illness_category</a:t>
            </a:r>
            <a:r>
              <a:rPr lang="cs-CZ" sz="1100" dirty="0">
                <a:latin typeface="Arial"/>
                <a:cs typeface="Arial"/>
              </a:rPr>
              <a:t> - </a:t>
            </a:r>
            <a:r>
              <a:rPr lang="cs-CZ" sz="1100" err="1">
                <a:latin typeface="Arial"/>
                <a:cs typeface="Arial"/>
              </a:rPr>
              <a:t>Rare</a:t>
            </a:r>
            <a:r>
              <a:rPr lang="cs-CZ" sz="1100" dirty="0">
                <a:latin typeface="Arial"/>
                <a:cs typeface="Arial"/>
              </a:rPr>
              <a:t>/</a:t>
            </a:r>
            <a:r>
              <a:rPr lang="cs-CZ" sz="1100" err="1">
                <a:latin typeface="Arial"/>
                <a:cs typeface="Arial"/>
              </a:rPr>
              <a:t>Some</a:t>
            </a:r>
            <a:r>
              <a:rPr lang="cs-CZ" sz="1100" dirty="0">
                <a:latin typeface="Arial"/>
                <a:cs typeface="Arial"/>
              </a:rPr>
              <a:t>/</a:t>
            </a:r>
            <a:r>
              <a:rPr lang="cs-CZ" sz="1100" err="1">
                <a:latin typeface="Arial"/>
                <a:cs typeface="Arial"/>
              </a:rPr>
              <a:t>Frequent</a:t>
            </a:r>
            <a:r>
              <a:rPr lang="cs-CZ" sz="1100" dirty="0">
                <a:latin typeface="Arial"/>
                <a:cs typeface="Arial"/>
              </a:rPr>
              <a:t> </a:t>
            </a:r>
            <a:r>
              <a:rPr lang="cs-CZ" sz="1100" err="1">
                <a:latin typeface="Arial"/>
                <a:cs typeface="Arial"/>
              </a:rPr>
              <a:t>Mental</a:t>
            </a:r>
            <a:endParaRPr lang="cs-CZ" sz="1100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Řešení:</a:t>
            </a:r>
            <a:endParaRPr lang="cs-CZ" sz="160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400" err="1">
                <a:latin typeface="Arial"/>
                <a:cs typeface="Arial"/>
              </a:rPr>
              <a:t>police_shootings_master_dataset_categorized.sql</a:t>
            </a:r>
            <a:endParaRPr lang="cs-CZ" sz="1400"/>
          </a:p>
          <a:p>
            <a:pPr marL="1199515" lvl="3" indent="-170815"/>
            <a:endParaRPr lang="cs-CZ" sz="105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114226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B37D1-D6CA-457C-D55D-FD8426C70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7300CD-9043-37D3-83D7-D6D038AA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problémy při návrhu procesu zpracování dat 6/7 - 2/2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33FE851A-DED8-596E-B307-7CB2360B2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2400" b="1" dirty="0">
                <a:latin typeface="Arial"/>
                <a:cs typeface="Arial"/>
              </a:rPr>
              <a:t>Problém 6: Nutnost kategorizace 13 proměnných pro data </a:t>
            </a:r>
            <a:r>
              <a:rPr lang="cs-CZ" sz="2400" b="1" dirty="0" err="1">
                <a:latin typeface="Arial"/>
                <a:cs typeface="Arial"/>
              </a:rPr>
              <a:t>mining</a:t>
            </a:r>
            <a:endParaRPr lang="cs-CZ" sz="2400" b="1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400" dirty="0">
                <a:latin typeface="Arial"/>
                <a:cs typeface="Arial"/>
              </a:rPr>
              <a:t>Výsledek:</a:t>
            </a:r>
            <a:endParaRPr lang="cs-CZ" sz="2400">
              <a:latin typeface="Arial"/>
              <a:cs typeface="Arial"/>
            </a:endParaRPr>
          </a:p>
          <a:p>
            <a:pPr marL="856615" indent="-170815"/>
            <a:r>
              <a:rPr lang="cs-CZ" sz="2000" dirty="0">
                <a:latin typeface="Arial"/>
                <a:cs typeface="Arial"/>
              </a:rPr>
              <a:t>13 kategorizací vytvořeno celkem</a:t>
            </a:r>
          </a:p>
          <a:p>
            <a:pPr marL="11995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3 data-</a:t>
            </a:r>
            <a:r>
              <a:rPr lang="cs-CZ" sz="2000" dirty="0" err="1">
                <a:latin typeface="Arial"/>
                <a:cs typeface="Arial"/>
              </a:rPr>
              <a:t>driven</a:t>
            </a:r>
            <a:r>
              <a:rPr lang="cs-CZ" sz="2000" dirty="0">
                <a:latin typeface="Arial"/>
                <a:cs typeface="Arial"/>
              </a:rPr>
              <a:t> (NTILE </a:t>
            </a:r>
            <a:r>
              <a:rPr lang="cs-CZ" sz="2000" dirty="0" err="1">
                <a:latin typeface="Arial"/>
                <a:cs typeface="Arial"/>
              </a:rPr>
              <a:t>tercily</a:t>
            </a:r>
            <a:r>
              <a:rPr lang="cs-CZ" sz="2000" dirty="0">
                <a:latin typeface="Arial"/>
                <a:cs typeface="Arial"/>
              </a:rPr>
              <a:t>)</a:t>
            </a:r>
          </a:p>
          <a:p>
            <a:pPr marL="11995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7 </a:t>
            </a:r>
            <a:r>
              <a:rPr lang="cs-CZ" sz="2000" dirty="0" err="1">
                <a:latin typeface="Arial"/>
                <a:cs typeface="Arial"/>
              </a:rPr>
              <a:t>domain-driven</a:t>
            </a:r>
            <a:r>
              <a:rPr lang="cs-CZ" sz="2000" dirty="0">
                <a:latin typeface="Arial"/>
                <a:cs typeface="Arial"/>
              </a:rPr>
              <a:t> (</a:t>
            </a:r>
            <a:r>
              <a:rPr lang="cs-CZ" sz="2000" dirty="0" err="1">
                <a:latin typeface="Arial"/>
                <a:cs typeface="Arial"/>
              </a:rPr>
              <a:t>custom</a:t>
            </a:r>
            <a:r>
              <a:rPr lang="cs-CZ" sz="2000" dirty="0">
                <a:latin typeface="Arial"/>
                <a:cs typeface="Arial"/>
              </a:rPr>
              <a:t> </a:t>
            </a:r>
            <a:r>
              <a:rPr lang="cs-CZ" sz="2000" dirty="0" err="1">
                <a:latin typeface="Arial"/>
                <a:cs typeface="Arial"/>
              </a:rPr>
              <a:t>thresholds</a:t>
            </a:r>
            <a:r>
              <a:rPr lang="cs-CZ" sz="2000" dirty="0">
                <a:latin typeface="Arial"/>
                <a:cs typeface="Arial"/>
              </a:rPr>
              <a:t>)</a:t>
            </a:r>
          </a:p>
          <a:p>
            <a:pPr marL="1199515" lvl="1" indent="-170815">
              <a:buFont typeface="Courier New" panose="020B0604020202020204" pitchFamily="34" charset="0"/>
              <a:buChar char="o"/>
            </a:pPr>
            <a:r>
              <a:rPr lang="cs-CZ" sz="2000" dirty="0">
                <a:latin typeface="Arial"/>
                <a:cs typeface="Arial"/>
              </a:rPr>
              <a:t>3 simplifikace (</a:t>
            </a:r>
            <a:r>
              <a:rPr lang="cs-CZ" sz="2000" dirty="0" err="1">
                <a:latin typeface="Arial"/>
                <a:cs typeface="Arial"/>
              </a:rPr>
              <a:t>race</a:t>
            </a:r>
            <a:r>
              <a:rPr lang="cs-CZ" sz="2000" dirty="0">
                <a:latin typeface="Arial"/>
                <a:cs typeface="Arial"/>
              </a:rPr>
              <a:t>, </a:t>
            </a:r>
            <a:r>
              <a:rPr lang="cs-CZ" sz="2000" dirty="0" err="1">
                <a:latin typeface="Arial"/>
                <a:cs typeface="Arial"/>
              </a:rPr>
              <a:t>threat</a:t>
            </a:r>
            <a:r>
              <a:rPr lang="cs-CZ" sz="2000" dirty="0">
                <a:latin typeface="Arial"/>
                <a:cs typeface="Arial"/>
              </a:rPr>
              <a:t>, </a:t>
            </a:r>
            <a:r>
              <a:rPr lang="cs-CZ" sz="2000" dirty="0" err="1">
                <a:latin typeface="Arial"/>
                <a:cs typeface="Arial"/>
              </a:rPr>
              <a:t>armed</a:t>
            </a:r>
            <a:r>
              <a:rPr lang="cs-CZ" sz="2000" dirty="0">
                <a:latin typeface="Arial"/>
                <a:cs typeface="Arial"/>
              </a:rPr>
              <a:t> redukce)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400" dirty="0">
                <a:latin typeface="Arial"/>
                <a:cs typeface="Arial"/>
              </a:rPr>
              <a:t>Mix přístupů:</a:t>
            </a:r>
            <a:endParaRPr lang="cs-CZ" sz="240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>
                <a:latin typeface="Arial"/>
                <a:cs typeface="Arial"/>
              </a:rPr>
              <a:t>NTILE: kde nemáme </a:t>
            </a:r>
            <a:r>
              <a:rPr lang="cs-CZ" sz="1800" dirty="0" err="1">
                <a:latin typeface="Arial"/>
                <a:cs typeface="Arial"/>
              </a:rPr>
              <a:t>domain</a:t>
            </a:r>
            <a:r>
              <a:rPr lang="cs-CZ" sz="1800" dirty="0">
                <a:latin typeface="Arial"/>
                <a:cs typeface="Arial"/>
              </a:rPr>
              <a:t> </a:t>
            </a:r>
            <a:r>
              <a:rPr lang="cs-CZ" sz="1800" dirty="0" err="1">
                <a:latin typeface="Arial"/>
                <a:cs typeface="Arial"/>
              </a:rPr>
              <a:t>knowledge</a:t>
            </a:r>
            <a:r>
              <a:rPr lang="cs-CZ" sz="1800" dirty="0">
                <a:latin typeface="Arial"/>
                <a:cs typeface="Arial"/>
              </a:rPr>
              <a:t> → zajištění balance</a:t>
            </a:r>
            <a:endParaRPr lang="cs-CZ" sz="18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 err="1">
                <a:latin typeface="Arial"/>
                <a:cs typeface="Arial"/>
              </a:rPr>
              <a:t>Custom</a:t>
            </a:r>
            <a:r>
              <a:rPr lang="cs-CZ" sz="1800" dirty="0">
                <a:latin typeface="Arial"/>
                <a:cs typeface="Arial"/>
              </a:rPr>
              <a:t>: kde máme </a:t>
            </a:r>
            <a:r>
              <a:rPr lang="cs-CZ" sz="1800" dirty="0" err="1">
                <a:latin typeface="Arial"/>
                <a:cs typeface="Arial"/>
              </a:rPr>
              <a:t>domain</a:t>
            </a:r>
            <a:r>
              <a:rPr lang="cs-CZ" sz="1800" dirty="0">
                <a:latin typeface="Arial"/>
                <a:cs typeface="Arial"/>
              </a:rPr>
              <a:t> </a:t>
            </a:r>
            <a:r>
              <a:rPr lang="cs-CZ" sz="1800" dirty="0" err="1">
                <a:latin typeface="Arial"/>
                <a:cs typeface="Arial"/>
              </a:rPr>
              <a:t>knowledge</a:t>
            </a:r>
            <a:r>
              <a:rPr lang="cs-CZ" sz="1800" dirty="0">
                <a:latin typeface="Arial"/>
                <a:cs typeface="Arial"/>
              </a:rPr>
              <a:t> → zajištění </a:t>
            </a:r>
            <a:r>
              <a:rPr lang="cs-CZ" sz="1800" dirty="0" err="1">
                <a:latin typeface="Arial"/>
                <a:cs typeface="Arial"/>
              </a:rPr>
              <a:t>interpretability</a:t>
            </a:r>
            <a:endParaRPr lang="cs-CZ" sz="1800" dirty="0">
              <a:latin typeface="Arial"/>
              <a:cs typeface="Arial"/>
            </a:endParaRP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800" dirty="0">
                <a:latin typeface="Arial"/>
                <a:cs typeface="Arial"/>
              </a:rPr>
              <a:t>IN() </a:t>
            </a:r>
            <a:r>
              <a:rPr lang="cs-CZ" sz="1800" dirty="0" err="1">
                <a:latin typeface="Arial"/>
                <a:cs typeface="Arial"/>
              </a:rPr>
              <a:t>matching</a:t>
            </a:r>
            <a:r>
              <a:rPr lang="cs-CZ" sz="1800" dirty="0">
                <a:latin typeface="Arial"/>
                <a:cs typeface="Arial"/>
              </a:rPr>
              <a:t>: pro redukci </a:t>
            </a:r>
            <a:r>
              <a:rPr lang="cs-CZ" sz="1800" dirty="0" err="1">
                <a:latin typeface="Arial"/>
                <a:cs typeface="Arial"/>
              </a:rPr>
              <a:t>vysokodimenzionálních</a:t>
            </a:r>
            <a:r>
              <a:rPr lang="cs-CZ" sz="1800" dirty="0">
                <a:latin typeface="Arial"/>
                <a:cs typeface="Arial"/>
              </a:rPr>
              <a:t> kategorií</a:t>
            </a:r>
          </a:p>
          <a:p>
            <a:pPr marL="1199515" lvl="3" indent="-170815"/>
            <a:endParaRPr lang="cs-CZ" sz="105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165210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7768-26E5-C135-2F0B-CA36C5EA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D432BF-A863-EE88-7597-DC79A7D6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problémy při návrhu procesu zpracování dat 7/7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DBC7CE48-C36C-5BBB-53AB-5DDD9D985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2400" b="1" dirty="0">
                <a:latin typeface="Arial"/>
                <a:cs typeface="Arial"/>
              </a:rPr>
              <a:t>Problém 7: JOIN </a:t>
            </a:r>
            <a:r>
              <a:rPr lang="cs-CZ" sz="2400" b="1" err="1">
                <a:latin typeface="Arial"/>
                <a:cs typeface="Arial"/>
              </a:rPr>
              <a:t>loss</a:t>
            </a:r>
            <a:r>
              <a:rPr lang="cs-CZ" sz="2400" b="1" dirty="0">
                <a:latin typeface="Arial"/>
                <a:cs typeface="Arial"/>
              </a:rPr>
              <a:t> - ztráta 20% měst</a:t>
            </a:r>
            <a:endParaRPr lang="cs-CZ" sz="2400" b="1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Popis:</a:t>
            </a:r>
          </a:p>
          <a:p>
            <a:pPr marL="856615" indent="-170815"/>
            <a:r>
              <a:rPr lang="cs-CZ" sz="1600" err="1">
                <a:latin typeface="Arial"/>
                <a:cs typeface="Arial"/>
              </a:rPr>
              <a:t>Shootings</a:t>
            </a:r>
            <a:r>
              <a:rPr lang="cs-CZ" sz="1600" dirty="0">
                <a:latin typeface="Arial"/>
                <a:cs typeface="Arial"/>
              </a:rPr>
              <a:t> </a:t>
            </a:r>
            <a:r>
              <a:rPr lang="cs-CZ" sz="1600" err="1">
                <a:latin typeface="Arial"/>
                <a:cs typeface="Arial"/>
              </a:rPr>
              <a:t>dataset</a:t>
            </a:r>
            <a:r>
              <a:rPr lang="cs-CZ" sz="1600" dirty="0">
                <a:latin typeface="Arial"/>
                <a:cs typeface="Arial"/>
              </a:rPr>
              <a:t>: 218 </a:t>
            </a:r>
            <a:r>
              <a:rPr lang="cs-CZ" sz="1600" err="1">
                <a:latin typeface="Arial"/>
                <a:cs typeface="Arial"/>
              </a:rPr>
              <a:t>unique</a:t>
            </a:r>
            <a:r>
              <a:rPr lang="cs-CZ" sz="1600" dirty="0">
                <a:latin typeface="Arial"/>
                <a:cs typeface="Arial"/>
              </a:rPr>
              <a:t> </a:t>
            </a:r>
            <a:r>
              <a:rPr lang="cs-CZ" sz="1600" err="1">
                <a:latin typeface="Arial"/>
                <a:cs typeface="Arial"/>
              </a:rPr>
              <a:t>cities</a:t>
            </a:r>
            <a:endParaRPr lang="cs-CZ" sz="1600">
              <a:latin typeface="Arial"/>
              <a:cs typeface="Arial"/>
            </a:endParaRPr>
          </a:p>
          <a:p>
            <a:pPr marL="856615" indent="-170815"/>
            <a:r>
              <a:rPr lang="cs-CZ" sz="1600" err="1">
                <a:latin typeface="Arial"/>
                <a:cs typeface="Arial"/>
              </a:rPr>
              <a:t>Budgets</a:t>
            </a:r>
            <a:r>
              <a:rPr lang="cs-CZ" sz="1600" dirty="0">
                <a:latin typeface="Arial"/>
                <a:cs typeface="Arial"/>
              </a:rPr>
              <a:t> </a:t>
            </a:r>
            <a:r>
              <a:rPr lang="cs-CZ" sz="1600" err="1">
                <a:latin typeface="Arial"/>
                <a:cs typeface="Arial"/>
              </a:rPr>
              <a:t>dataset</a:t>
            </a:r>
            <a:r>
              <a:rPr lang="cs-CZ" sz="1600" dirty="0">
                <a:latin typeface="Arial"/>
                <a:cs typeface="Arial"/>
              </a:rPr>
              <a:t>: 218 </a:t>
            </a:r>
            <a:r>
              <a:rPr lang="cs-CZ" sz="1600" err="1">
                <a:latin typeface="Arial"/>
                <a:cs typeface="Arial"/>
              </a:rPr>
              <a:t>unique</a:t>
            </a:r>
            <a:r>
              <a:rPr lang="cs-CZ" sz="1600" dirty="0">
                <a:latin typeface="Arial"/>
                <a:cs typeface="Arial"/>
              </a:rPr>
              <a:t> </a:t>
            </a:r>
            <a:r>
              <a:rPr lang="cs-CZ" sz="1600" err="1">
                <a:latin typeface="Arial"/>
                <a:cs typeface="Arial"/>
              </a:rPr>
              <a:t>cities</a:t>
            </a:r>
            <a:endParaRPr lang="cs-CZ" sz="1600">
              <a:latin typeface="Arial"/>
              <a:cs typeface="Arial"/>
            </a:endParaRPr>
          </a:p>
          <a:p>
            <a:pPr marL="856615" indent="-170815"/>
            <a:r>
              <a:rPr lang="cs-CZ" sz="1600" dirty="0">
                <a:latin typeface="Arial"/>
                <a:cs typeface="Arial"/>
              </a:rPr>
              <a:t>Po INNER JOIN: 174 </a:t>
            </a:r>
            <a:r>
              <a:rPr lang="cs-CZ" sz="1600" err="1">
                <a:latin typeface="Arial"/>
                <a:cs typeface="Arial"/>
              </a:rPr>
              <a:t>cities</a:t>
            </a:r>
            <a:r>
              <a:rPr lang="cs-CZ" sz="1600" dirty="0">
                <a:latin typeface="Arial"/>
                <a:cs typeface="Arial"/>
              </a:rPr>
              <a:t> (79.8% </a:t>
            </a:r>
            <a:r>
              <a:rPr lang="cs-CZ" sz="1600" err="1">
                <a:latin typeface="Arial"/>
                <a:cs typeface="Arial"/>
              </a:rPr>
              <a:t>retention</a:t>
            </a:r>
            <a:r>
              <a:rPr lang="cs-CZ" sz="1600" dirty="0">
                <a:latin typeface="Arial"/>
                <a:cs typeface="Arial"/>
              </a:rPr>
              <a:t>)</a:t>
            </a:r>
          </a:p>
          <a:p>
            <a:pPr marL="856615" indent="-170815"/>
            <a:r>
              <a:rPr lang="cs-CZ" sz="1600" dirty="0">
                <a:latin typeface="Arial"/>
                <a:cs typeface="Arial"/>
              </a:rPr>
              <a:t>Ztráta: 44 měst (20.2%)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Analýza </a:t>
            </a:r>
            <a:r>
              <a:rPr lang="cs-CZ" sz="1600" dirty="0" err="1">
                <a:latin typeface="Arial"/>
                <a:cs typeface="Arial"/>
              </a:rPr>
              <a:t>příčini</a:t>
            </a:r>
            <a:r>
              <a:rPr lang="cs-CZ" sz="1600" dirty="0">
                <a:latin typeface="Arial"/>
                <a:cs typeface="Arial"/>
              </a:rPr>
              <a:t>:</a:t>
            </a: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1. City </a:t>
            </a:r>
            <a:r>
              <a:rPr lang="cs-CZ" sz="1600" dirty="0" err="1">
                <a:latin typeface="Arial"/>
                <a:cs typeface="Arial"/>
              </a:rPr>
              <a:t>name</a:t>
            </a:r>
            <a:r>
              <a:rPr lang="cs-CZ" sz="1600" dirty="0">
                <a:latin typeface="Arial"/>
                <a:cs typeface="Arial"/>
              </a:rPr>
              <a:t> </a:t>
            </a:r>
            <a:r>
              <a:rPr lang="cs-CZ" sz="1600" dirty="0" err="1">
                <a:latin typeface="Arial"/>
                <a:cs typeface="Arial"/>
              </a:rPr>
              <a:t>mismatch</a:t>
            </a:r>
            <a:r>
              <a:rPr lang="cs-CZ" sz="1600" dirty="0">
                <a:latin typeface="Arial"/>
                <a:cs typeface="Arial"/>
              </a:rPr>
              <a:t> přes normalizaci</a:t>
            </a:r>
          </a:p>
          <a:p>
            <a:pPr marL="1199515" lvl="3" indent="-170815"/>
            <a:r>
              <a:rPr lang="cs-CZ" sz="1600" dirty="0" err="1">
                <a:latin typeface="Arial"/>
                <a:cs typeface="Arial"/>
              </a:rPr>
              <a:t>Shootings</a:t>
            </a:r>
            <a:r>
              <a:rPr lang="cs-CZ" sz="1600" dirty="0">
                <a:latin typeface="Arial"/>
                <a:cs typeface="Arial"/>
              </a:rPr>
              <a:t>: "St. Louis, MO" X </a:t>
            </a:r>
            <a:r>
              <a:rPr lang="cs-CZ" sz="1600" dirty="0" err="1">
                <a:latin typeface="Arial"/>
                <a:cs typeface="Arial"/>
              </a:rPr>
              <a:t>Budgets</a:t>
            </a:r>
            <a:r>
              <a:rPr lang="cs-CZ" sz="1600" dirty="0">
                <a:latin typeface="Arial"/>
                <a:cs typeface="Arial"/>
              </a:rPr>
              <a:t>: "Saint Louis, MO"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2. Města bez budget dat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dirty="0">
                <a:latin typeface="Arial"/>
                <a:cs typeface="Arial"/>
              </a:rPr>
              <a:t>3. Časové nepoužití</a:t>
            </a:r>
          </a:p>
          <a:p>
            <a:pPr marL="1199515" lvl="3" indent="-170815"/>
            <a:r>
              <a:rPr lang="cs-CZ" sz="1600" err="1">
                <a:latin typeface="Arial"/>
                <a:cs typeface="Arial"/>
              </a:rPr>
              <a:t>Shootings</a:t>
            </a:r>
            <a:r>
              <a:rPr lang="cs-CZ" sz="1600" dirty="0">
                <a:latin typeface="Arial"/>
                <a:cs typeface="Arial"/>
              </a:rPr>
              <a:t> v roce 2020, ale poslední </a:t>
            </a:r>
            <a:r>
              <a:rPr lang="cs-CZ" sz="1600" err="1">
                <a:latin typeface="Arial"/>
                <a:cs typeface="Arial"/>
              </a:rPr>
              <a:t>budgets</a:t>
            </a:r>
            <a:r>
              <a:rPr lang="cs-CZ" sz="1600" dirty="0">
                <a:latin typeface="Arial"/>
                <a:cs typeface="Arial"/>
              </a:rPr>
              <a:t> = 2015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latin typeface="Arial"/>
                <a:cs typeface="Arial"/>
              </a:rPr>
              <a:t>Řešení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600" err="1">
                <a:latin typeface="Arial"/>
                <a:cs typeface="Arial"/>
              </a:rPr>
              <a:t>Police_shootings_master.sql</a:t>
            </a:r>
            <a:endParaRPr lang="cs-CZ" sz="1600" dirty="0" err="1">
              <a:latin typeface="Arial"/>
              <a:cs typeface="Arial"/>
            </a:endParaRPr>
          </a:p>
          <a:p>
            <a:pPr marL="1199515" lvl="3" indent="-170815"/>
            <a:endParaRPr lang="cs-CZ" sz="105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376637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9D125-41CC-447A-96FE-3B46FA69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91CB99-1D30-7FA1-A082-E047D757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Arial"/>
                <a:cs typeface="Arial"/>
              </a:rPr>
              <a:t>Závěry BI analýzy - 1/2 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0B09E-5BC4-D273-8EFD-DE2D95F06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Vztah rozpočtu a četnosti střeleb.</a:t>
            </a:r>
            <a:endParaRPr lang="cs-CZ" sz="1800">
              <a:solidFill>
                <a:srgbClr val="000000"/>
              </a:solidFill>
            </a:endParaRPr>
          </a:p>
          <a:p>
            <a:pPr marL="800100" lvl="1" indent="-457200">
              <a:buFont typeface="Courier New"/>
              <a:buChar char="o"/>
            </a:pP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Klíčové zjištění: Korelace mezi policejním rozpočtem per capita a mírou </a:t>
            </a:r>
            <a:r>
              <a:rPr lang="cs-CZ" sz="1600" err="1">
                <a:solidFill>
                  <a:srgbClr val="000000"/>
                </a:solidFill>
                <a:latin typeface="Arial"/>
                <a:cs typeface="Arial"/>
              </a:rPr>
              <a:t>střelb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je extrémně slabá (r = 0,09)</a:t>
            </a:r>
          </a:p>
          <a:p>
            <a:pPr marL="1143000" lvl="2" indent="-457200">
              <a:buFont typeface="Wingdings"/>
              <a:buChar char="§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Města s vysokým rozpočtem na policii NEMAJÍ statisticky významně nižší míru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střelb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než města s nízkým rozpočtem</a:t>
            </a:r>
          </a:p>
          <a:p>
            <a:pPr marL="1143000" lvl="2" indent="-457200">
              <a:buFont typeface="Wingdings"/>
              <a:buChar char="§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Průměrná míra střelby je podobná napříč všemi rozpočtovými kategoriemi (~4,5-5,5 na 100k obyvatel)</a:t>
            </a:r>
          </a:p>
          <a:p>
            <a:pPr marL="1143000" lvl="2" indent="-457200">
              <a:buFont typeface="Wingdings"/>
              <a:buChar char="§"/>
            </a:pP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Policy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implikace: Samotné navyšování policejních rozpočtů pravděpodobně není efektivní strategie pro snížení počtu policejních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střelb</a:t>
            </a: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1143000" lvl="2" indent="-457200">
              <a:buFont typeface="Wingdings"/>
              <a:buChar char="§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Geografické vzorce</a:t>
            </a:r>
            <a:r>
              <a:rPr lang="cs-CZ" sz="18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.</a:t>
            </a:r>
            <a:endParaRPr lang="cs-CZ" sz="1800" dirty="0">
              <a:solidFill>
                <a:srgbClr val="000000"/>
              </a:solidFill>
            </a:endParaRPr>
          </a:p>
          <a:p>
            <a:pPr marL="800100" lvl="1" indent="-457200">
              <a:buFont typeface="Courier New" panose="020B0604020202020204" pitchFamily="34" charset="0"/>
              <a:buChar char="o"/>
            </a:pP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Koncentrace incidentů</a:t>
            </a:r>
            <a:r>
              <a:rPr lang="cs-CZ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  <a:p>
            <a:pPr marL="1143000" lvl="2" indent="-457200">
              <a:buFont typeface="Wingdings" panose="020B0604020202020204" pitchFamily="34" charset="0"/>
              <a:buChar char="§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Kalifornie a Texas výrazně dominují v absolutním počtu policejních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střelb</a:t>
            </a: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143000" lvl="2" indent="-457200">
              <a:buFont typeface="Wingdings" panose="020B0604020202020204" pitchFamily="34" charset="0"/>
              <a:buChar char="§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Velká města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Large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population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 vykazují vyšší absolutní počty, ale po normalizaci na populaci jsou rozdíly menší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lnSpc>
                <a:spcPct val="110000"/>
              </a:lnSpc>
              <a:buAutoNum type="arabicPeriod"/>
            </a:pPr>
            <a:endParaRPr lang="cs-CZ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08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8C5C1-83A9-1940-F031-AC599176C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F55ED7-A23D-1EA2-49DB-E74DAEB2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Arial"/>
                <a:cs typeface="Arial"/>
              </a:rPr>
              <a:t>Závěry BI analýzy - 2/2 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2FC27E0-316B-4453-035E-FEA1D2D15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cs-CZ" sz="1800" dirty="0">
                <a:solidFill>
                  <a:srgbClr val="009881"/>
                </a:solidFill>
                <a:latin typeface="Arial"/>
                <a:ea typeface="+mj-ea"/>
                <a:cs typeface="Arial"/>
              </a:rPr>
              <a:t>3.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 Demografické charakteristiky obětí</a:t>
            </a:r>
            <a:endParaRPr lang="cs-CZ" sz="1800" dirty="0">
              <a:solidFill>
                <a:srgbClr val="000000"/>
              </a:solidFill>
            </a:endParaRPr>
          </a:p>
          <a:p>
            <a:pPr marL="628650" lvl="1" indent="-285750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Rasové složení obětí:</a:t>
            </a:r>
          </a:p>
          <a:p>
            <a:pPr marL="1143000" lvl="2" indent="-170815">
              <a:buFont typeface="Wingdings"/>
              <a:buChar char="§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Black: 36,3% (výrazně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nadreprezentováno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vzhledem k ~13% podílu na populaci USA)</a:t>
            </a:r>
          </a:p>
          <a:p>
            <a:pPr marL="1143000" lvl="2" indent="-170815">
              <a:buFont typeface="Wingdings"/>
              <a:buChar char="§"/>
            </a:pP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White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 29,03%</a:t>
            </a:r>
          </a:p>
          <a:p>
            <a:pPr marL="1143000" lvl="2" indent="-170815">
              <a:buFont typeface="Wingdings"/>
              <a:buChar char="§"/>
            </a:pP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Hispanic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 21,3%</a:t>
            </a:r>
          </a:p>
          <a:p>
            <a:pPr marL="1143000" lvl="2" indent="-170815">
              <a:buFont typeface="Wingdings"/>
              <a:buChar char="§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Rasové disparity jsou patrné i po kontrole na populační velikost a rozpočet města</a:t>
            </a:r>
          </a:p>
          <a:p>
            <a:pPr marL="628650" lvl="1" indent="-285750">
              <a:buFont typeface="Courier New,monospace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Další demografické faktory:</a:t>
            </a:r>
          </a:p>
          <a:p>
            <a:pPr marL="1143000" lvl="2" indent="-170815">
              <a:buFont typeface="Wingdings,Sans-Serif"/>
              <a:buChar char="§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Naprostá většina obětí jsou muži (~96%)</a:t>
            </a:r>
          </a:p>
          <a:p>
            <a:pPr marL="1143000" lvl="2" indent="-457200">
              <a:buFont typeface="Wingdings"/>
              <a:buChar char="§"/>
            </a:pPr>
            <a:endParaRPr lang="cs-CZ" sz="1400" dirty="0"/>
          </a:p>
          <a:p>
            <a:pPr marL="0" indent="0">
              <a:buNone/>
            </a:pPr>
            <a:r>
              <a:rPr lang="cs-CZ" sz="1800" dirty="0">
                <a:solidFill>
                  <a:srgbClr val="009881"/>
                </a:solidFill>
                <a:latin typeface="Arial"/>
                <a:ea typeface="+mj-ea"/>
                <a:cs typeface="Arial"/>
              </a:rPr>
              <a:t>4.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  Okolnosti incidentů</a:t>
            </a:r>
            <a:endParaRPr lang="cs-CZ" sz="1800" dirty="0">
              <a:solidFill>
                <a:srgbClr val="000000"/>
              </a:solidFill>
            </a:endParaRPr>
          </a:p>
          <a:p>
            <a:pPr marL="800100" lvl="1" indent="-457200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Typ výzbroje:</a:t>
            </a:r>
          </a:p>
          <a:p>
            <a:pPr marL="1143000" lvl="2" indent="-457200">
              <a:buFont typeface="Wingdings" panose="020B0604020202020204" pitchFamily="34" charset="0"/>
              <a:buChar char="§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Majority obětí byla ozbrojená (nejvíce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gun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, druhá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blade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1143000" lvl="2" indent="-457200">
              <a:buFont typeface="Wingdings" panose="020B0604020202020204" pitchFamily="34" charset="0"/>
              <a:buChar char="§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Kategorie "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Unarmed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" představuje významnou menšinu případů</a:t>
            </a:r>
          </a:p>
          <a:p>
            <a:pPr marL="800100" lvl="1" indent="-457200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Threat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assessment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  <a:p>
            <a:pPr marL="1143000" lvl="2" indent="-457200">
              <a:buFont typeface="Wingdings" panose="020B0604020202020204" pitchFamily="34" charset="0"/>
              <a:buChar char="§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Většina incidentů klasifikována jako "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Attack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" (64,99%)</a:t>
            </a:r>
          </a:p>
          <a:p>
            <a:pPr marL="800100" lvl="1" indent="-457200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Body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cameras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  <a:p>
            <a:pPr marL="1143000" lvl="2" indent="-457200">
              <a:buFont typeface="Wingdings" panose="020B0604020202020204" pitchFamily="34" charset="0"/>
              <a:buChar char="§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Větší města používají body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cameras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častěji než menší města</a:t>
            </a:r>
          </a:p>
          <a:p>
            <a:pPr marL="1143000" lvl="2" indent="-457200">
              <a:buFont typeface="Wingdings" panose="020B0604020202020204" pitchFamily="34" charset="0"/>
              <a:buChar char="§"/>
            </a:pPr>
            <a:endParaRPr lang="cs-CZ" sz="1400" dirty="0">
              <a:solidFill>
                <a:srgbClr val="000000"/>
              </a:solidFill>
            </a:endParaRPr>
          </a:p>
          <a:p>
            <a:pPr marL="800100" lvl="1" indent="-457200">
              <a:buFont typeface="Wingdings" panose="020B0604020202020204" pitchFamily="34" charset="0"/>
              <a:buChar char="§"/>
            </a:pPr>
            <a:endParaRPr lang="cs-CZ" sz="1700" dirty="0">
              <a:solidFill>
                <a:srgbClr val="000000"/>
              </a:solidFill>
            </a:endParaRPr>
          </a:p>
          <a:p>
            <a:pPr marL="457200" indent="-457200"/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lnSpc>
                <a:spcPct val="110000"/>
              </a:lnSpc>
            </a:pPr>
            <a:endParaRPr lang="cs-CZ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842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C7E28-958B-BA58-38D8-2F5C4479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6711B4-DCE1-E0BA-B9D8-7DCA4783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Seznam analytických otázek navazujících na BI analýzu - 1/3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1C2D935-D46F-D589-B3D2-A5184EEA0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AutoNum type="arabicPeriod"/>
            </a:pP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Otázka - Statistická významnost demografických vztahů</a:t>
            </a:r>
          </a:p>
          <a:p>
            <a:pPr marL="685800" lvl="1" indent="-342900">
              <a:buFont typeface="Wingdings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BI nález: Rasové disparity v obětech střeleb, 96% obětí jsou muži, geografické rozdíly</a:t>
            </a:r>
          </a:p>
          <a:p>
            <a:pPr marL="685800" lvl="1" indent="-342900">
              <a:buFont typeface="Wingdings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Které demografické a situační faktory mají statisticky významný vztah a jak silné tyto vztahy jsou?</a:t>
            </a:r>
            <a:endParaRPr lang="cs-CZ" sz="1500" dirty="0">
              <a:solidFill>
                <a:srgbClr val="000000"/>
              </a:solidFill>
            </a:endParaRPr>
          </a:p>
          <a:p>
            <a:pPr marL="685800" lvl="1" indent="-342900">
              <a:buFont typeface="Wingdings" panose="020B0604020202020204" pitchFamily="34" charset="0"/>
              <a:buChar char="§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>
              <a:buAutoNum type="arabicPeriod"/>
            </a:pP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Otázka - Asociační pravidla pro duševní onemocnění</a:t>
            </a:r>
          </a:p>
          <a:p>
            <a:pPr marL="513715" lvl="1" indent="-170815">
              <a:buFont typeface="Arial"/>
              <a:buChar char="•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BI nález: Duševní onemocnění zaznamenáno u ~25% obětí</a:t>
            </a:r>
          </a:p>
          <a:p>
            <a:pPr marL="685800" lvl="1" indent="-342900">
              <a:buFont typeface="Wingdings,Sans-Serif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Jaké kombinace demografických a městských charakteristik jsou spojeny s vyšším výskytem duševního onemocnění u obětí?</a:t>
            </a:r>
            <a:endParaRPr lang="cs-CZ" dirty="0">
              <a:latin typeface="Arial"/>
              <a:cs typeface="Arial"/>
            </a:endParaRPr>
          </a:p>
          <a:p>
            <a:pPr marL="685800" lvl="1" indent="-342900">
              <a:buFont typeface="Wingdings,Sans-Serif" panose="020B0604020202020204" pitchFamily="34" charset="0"/>
              <a:buChar char="§"/>
            </a:pPr>
            <a:endParaRPr lang="cs-CZ" sz="1500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Otázka - Faktory vysoké míry střelby</a:t>
            </a:r>
            <a:endParaRPr lang="en-US" sz="1800" dirty="0">
              <a:solidFill>
                <a:srgbClr val="000000"/>
              </a:solidFill>
            </a:endParaRPr>
          </a:p>
          <a:p>
            <a:pPr marL="685800" lvl="1" indent="-342900">
              <a:buFont typeface="Wingdings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BI nález: Slabá korelace mezi rozpočtem a mírou střelby (r=0.09)</a:t>
            </a:r>
          </a:p>
          <a:p>
            <a:pPr marL="685800" lvl="1" indent="-342900">
              <a:buFont typeface="Wingdings,Sans-Serif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Jaké kombinace demografických a městských charakteristik jsou spojeny s vyšším výskytem duševního onemocnění u obětí?</a:t>
            </a:r>
            <a:endParaRPr lang="cs-CZ" dirty="0">
              <a:latin typeface="Arial"/>
              <a:cs typeface="Arial"/>
            </a:endParaRPr>
          </a:p>
          <a:p>
            <a:pPr marL="172085" indent="0">
              <a:buNone/>
            </a:pPr>
            <a:endParaRPr lang="cs-CZ" sz="1800" dirty="0">
              <a:solidFill>
                <a:srgbClr val="000000"/>
              </a:solidFill>
            </a:endParaRPr>
          </a:p>
          <a:p>
            <a:pPr marL="685800" lvl="1" indent="-342900">
              <a:buFont typeface="Wingdings" panose="020B0604020202020204" pitchFamily="34" charset="0"/>
              <a:buChar char="§"/>
            </a:pPr>
            <a:endParaRPr lang="cs-CZ" sz="15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cs-CZ" sz="18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cs-CZ" sz="1800" dirty="0">
              <a:solidFill>
                <a:srgbClr val="000000"/>
              </a:solidFill>
            </a:endParaRPr>
          </a:p>
          <a:p>
            <a:pPr marL="1143000" lvl="2" indent="-457200">
              <a:buFont typeface="Wingdings" panose="020B0604020202020204" pitchFamily="34" charset="0"/>
              <a:buChar char="§"/>
            </a:pPr>
            <a:endParaRPr lang="cs-CZ" sz="1400" dirty="0">
              <a:solidFill>
                <a:srgbClr val="000000"/>
              </a:solidFill>
            </a:endParaRPr>
          </a:p>
          <a:p>
            <a:pPr marL="800100" lvl="1" indent="-457200">
              <a:buFont typeface="Wingdings" panose="020B0604020202020204" pitchFamily="34" charset="0"/>
              <a:buChar char="§"/>
            </a:pPr>
            <a:endParaRPr lang="cs-CZ" sz="1700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lnSpc>
                <a:spcPct val="110000"/>
              </a:lnSpc>
              <a:buAutoNum type="arabicPeriod"/>
            </a:pPr>
            <a:endParaRPr lang="cs-CZ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3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BC66C-6A5B-C390-5322-721AA51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B289F3-6992-C560-0661-7D175DE76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Seznam analytických otázek navazujících na BI analýzu - 2/3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BEBB6A-FC09-251A-5EEE-9ED17EECC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cs-CZ" sz="1800" dirty="0">
                <a:solidFill>
                  <a:srgbClr val="009881"/>
                </a:solidFill>
                <a:latin typeface="Arial"/>
                <a:ea typeface="+mj-ea"/>
                <a:cs typeface="Arial"/>
              </a:rPr>
              <a:t>4.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 Otázka - Distribuce typu zbraně podle rasy</a:t>
            </a:r>
            <a:endParaRPr lang="cs-CZ" dirty="0"/>
          </a:p>
          <a:p>
            <a:pPr marL="685800" lvl="1" indent="-342900">
              <a:buFont typeface="Wingdings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BI nález: Většina obětí byla ozbrojená, rasové rozdíly v obětech</a:t>
            </a:r>
          </a:p>
          <a:p>
            <a:pPr marL="685800" lvl="1" indent="-342900">
              <a:buFont typeface="Wingdings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Liší se distribuce typu zbraně (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unarmed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/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gun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/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blade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) statisticky významně mezi rasovými skupinami?</a:t>
            </a:r>
            <a:endParaRPr lang="cs-CZ" sz="1500" dirty="0">
              <a:solidFill>
                <a:srgbClr val="000000"/>
              </a:solidFill>
            </a:endParaRPr>
          </a:p>
          <a:p>
            <a:pPr marL="685800" lvl="1" indent="-342900">
              <a:buFont typeface="Wingdings" panose="020B0604020202020204" pitchFamily="34" charset="0"/>
              <a:buChar char="§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cs-CZ" sz="1800" dirty="0">
                <a:solidFill>
                  <a:srgbClr val="009881"/>
                </a:solidFill>
                <a:latin typeface="Arial"/>
                <a:ea typeface="+mj-ea"/>
                <a:cs typeface="Arial"/>
              </a:rPr>
              <a:t>5.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 Otázka - Věková struktura podle velikosti měst</a:t>
            </a: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685800" lvl="1" indent="-342900">
              <a:buFont typeface="Wingdings,Sans-Serif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BI nález: Geografické rozdíly v incidentech mezi velkými a malými městy</a:t>
            </a:r>
            <a:endParaRPr lang="en-US" sz="1500" dirty="0"/>
          </a:p>
          <a:p>
            <a:pPr marL="685800" lvl="1" indent="-342900">
              <a:buFont typeface="Wingdings,Sans-Serif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Liší se věková struktura obětí mezi malými, středními a velkými městy?</a:t>
            </a:r>
          </a:p>
          <a:p>
            <a:pPr marL="685800" lvl="1" indent="-342900">
              <a:buFont typeface="Wingdings,Sans-Serif" panose="020B0604020202020204" pitchFamily="34" charset="0"/>
              <a:buChar char="§"/>
            </a:pPr>
            <a:endParaRPr lang="cs-CZ" sz="1500" dirty="0"/>
          </a:p>
          <a:p>
            <a:pPr marL="0" indent="0">
              <a:buNone/>
            </a:pPr>
            <a:r>
              <a:rPr lang="cs-CZ" sz="1800" dirty="0">
                <a:solidFill>
                  <a:srgbClr val="009881"/>
                </a:solidFill>
                <a:latin typeface="Arial"/>
                <a:ea typeface="+mj-ea"/>
                <a:cs typeface="Arial"/>
              </a:rPr>
              <a:t>6.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 Otázka - Faktory vysoké míry střelby</a:t>
            </a:r>
            <a:endParaRPr lang="en-US" sz="1800" dirty="0">
              <a:solidFill>
                <a:srgbClr val="000000"/>
              </a:solidFill>
            </a:endParaRPr>
          </a:p>
          <a:p>
            <a:pPr marL="685800" lvl="1" indent="-342900">
              <a:buFont typeface="Wingdings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BI nález: Slabá korelace mezi rozpočtem a mírou střelby (r=0.09)</a:t>
            </a:r>
          </a:p>
          <a:p>
            <a:pPr marL="685800" lvl="1" indent="-342900">
              <a:buFont typeface="Wingdings,Sans-Serif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Jaké kombinace demografických a městských charakteristik jsou spojeny s vyšším výskytem duševního onemocnění u obětí?</a:t>
            </a:r>
            <a:endParaRPr lang="cs-CZ" dirty="0">
              <a:latin typeface="Arial"/>
              <a:cs typeface="Arial"/>
            </a:endParaRPr>
          </a:p>
          <a:p>
            <a:pPr marL="172085" indent="0">
              <a:buNone/>
            </a:pPr>
            <a:endParaRPr lang="cs-CZ" sz="1800" dirty="0">
              <a:solidFill>
                <a:srgbClr val="000000"/>
              </a:solidFill>
            </a:endParaRPr>
          </a:p>
          <a:p>
            <a:pPr marL="685800" lvl="1" indent="-342900">
              <a:buFont typeface="Wingdings" panose="020B0604020202020204" pitchFamily="34" charset="0"/>
              <a:buChar char="§"/>
            </a:pPr>
            <a:endParaRPr lang="cs-CZ" sz="15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cs-CZ" sz="18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cs-CZ" sz="1800" dirty="0">
              <a:solidFill>
                <a:srgbClr val="000000"/>
              </a:solidFill>
            </a:endParaRPr>
          </a:p>
          <a:p>
            <a:pPr marL="1143000" lvl="2" indent="-457200">
              <a:buFont typeface="Wingdings" panose="020B0604020202020204" pitchFamily="34" charset="0"/>
              <a:buChar char="§"/>
            </a:pPr>
            <a:endParaRPr lang="cs-CZ" sz="1400" dirty="0">
              <a:solidFill>
                <a:srgbClr val="000000"/>
              </a:solidFill>
            </a:endParaRPr>
          </a:p>
          <a:p>
            <a:pPr marL="800100" lvl="1" indent="-457200">
              <a:buFont typeface="Wingdings" panose="020B0604020202020204" pitchFamily="34" charset="0"/>
              <a:buChar char="§"/>
            </a:pPr>
            <a:endParaRPr lang="cs-CZ" sz="1700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lnSpc>
                <a:spcPct val="110000"/>
              </a:lnSpc>
              <a:buAutoNum type="arabicPeriod"/>
            </a:pPr>
            <a:endParaRPr lang="cs-CZ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50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CE5CB-6EEA-D972-589C-7E549A4C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C5FEFE-AD8C-B858-2740-BBA78AA9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Seznam analytických otázek navazujících na BI analýzu - 3/3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EEB7DC-AFE7-F4FF-8F04-7E41DAF7A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cs-CZ" sz="1800" dirty="0">
                <a:solidFill>
                  <a:srgbClr val="009881"/>
                </a:solidFill>
                <a:latin typeface="Arial"/>
                <a:ea typeface="+mj-ea"/>
                <a:cs typeface="Arial"/>
              </a:rPr>
              <a:t>7.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 Otázka - Rasové rozdíly v neozbrojených obětech</a:t>
            </a:r>
            <a:endParaRPr lang="cs-CZ"/>
          </a:p>
          <a:p>
            <a:pPr marL="685800" lvl="1" indent="-342900">
              <a:buFont typeface="Wingdings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BI nález: Rasové disparity v celkovém počtu obětí</a:t>
            </a:r>
          </a:p>
          <a:p>
            <a:pPr marL="685800" lvl="1" indent="-342900">
              <a:buFont typeface="Wingdings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Existují statisticky významné rozdíly v podílu neozbrojených obětí mezi rasovými skupinami?</a:t>
            </a:r>
            <a:endParaRPr lang="cs-CZ" sz="1500">
              <a:solidFill>
                <a:srgbClr val="000000"/>
              </a:solidFill>
            </a:endParaRPr>
          </a:p>
          <a:p>
            <a:pPr marL="685800" lvl="1" indent="-342900">
              <a:buFont typeface="Wingdings" panose="020B0604020202020204" pitchFamily="34" charset="0"/>
              <a:buChar char="§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cs-CZ" sz="1800" dirty="0">
                <a:solidFill>
                  <a:srgbClr val="009881"/>
                </a:solidFill>
                <a:latin typeface="Arial"/>
                <a:ea typeface="+mj-ea"/>
                <a:cs typeface="Arial"/>
              </a:rPr>
              <a:t>8.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 Otázka - Prediktivní model pro typ oběti</a:t>
            </a:r>
            <a:endParaRPr lang="en-US" sz="1800">
              <a:solidFill>
                <a:srgbClr val="000000"/>
              </a:solidFill>
              <a:latin typeface="Arial"/>
              <a:cs typeface="Arial"/>
            </a:endParaRPr>
          </a:p>
          <a:p>
            <a:pPr marL="685800" lvl="1" indent="-342900">
              <a:buFont typeface="Wingdings,Sans-Serif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BI nález: 90+ různých typů zbraní v datech, potřeba kategorizace</a:t>
            </a:r>
            <a:endParaRPr lang="en-US" sz="1500" dirty="0"/>
          </a:p>
          <a:p>
            <a:pPr marL="685800" lvl="1" indent="-342900">
              <a:buFont typeface="Wingdings,Sans-Serif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Jaké faktory nejlépe predikují, zda oběť bude neozbrojena?</a:t>
            </a:r>
          </a:p>
          <a:p>
            <a:pPr marL="685800" lvl="1" indent="-342900">
              <a:buFont typeface="Wingdings,Sans-Serif" panose="020B0604020202020204" pitchFamily="34" charset="0"/>
              <a:buChar char="§"/>
            </a:pPr>
            <a:endParaRPr lang="cs-CZ" sz="1500" dirty="0"/>
          </a:p>
          <a:p>
            <a:pPr marL="0" indent="0">
              <a:buNone/>
            </a:pPr>
            <a:r>
              <a:rPr lang="cs-CZ" sz="1800" dirty="0">
                <a:solidFill>
                  <a:srgbClr val="009881"/>
                </a:solidFill>
                <a:latin typeface="Arial"/>
                <a:ea typeface="+mj-ea"/>
                <a:cs typeface="Arial"/>
              </a:rPr>
              <a:t>9.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 Otázka - </a:t>
            </a:r>
            <a:r>
              <a:rPr lang="cs-CZ" sz="1800" dirty="0" err="1">
                <a:solidFill>
                  <a:srgbClr val="000000"/>
                </a:solidFill>
                <a:latin typeface="Arial"/>
                <a:cs typeface="Arial"/>
              </a:rPr>
              <a:t>Feature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800" dirty="0" err="1">
                <a:solidFill>
                  <a:srgbClr val="000000"/>
                </a:solidFill>
                <a:latin typeface="Arial"/>
                <a:cs typeface="Arial"/>
              </a:rPr>
              <a:t>importance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pro vysokou míru střelby</a:t>
            </a:r>
            <a:endParaRPr lang="en-US" sz="1800" dirty="0">
              <a:solidFill>
                <a:srgbClr val="000000"/>
              </a:solidFill>
            </a:endParaRPr>
          </a:p>
          <a:p>
            <a:pPr marL="685800" lvl="1" indent="-342900">
              <a:buFont typeface="Wingdings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BI nález: Korelační analýza ukázala slabý vztah rozpočtu k míře střelby</a:t>
            </a:r>
          </a:p>
          <a:p>
            <a:pPr marL="685800" lvl="1" indent="-342900">
              <a:buFont typeface="Wingdings,Sans-Serif" panose="020B0604020202020204" pitchFamily="34" charset="0"/>
              <a:buChar char="§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Které faktory jsou skutečně nejdůležitější pro predikci vysoké míry střelby?</a:t>
            </a:r>
            <a:endParaRPr lang="cs-CZ" dirty="0">
              <a:latin typeface="Arial"/>
              <a:cs typeface="Arial"/>
            </a:endParaRPr>
          </a:p>
          <a:p>
            <a:pPr marL="172085" indent="0">
              <a:buNone/>
            </a:pPr>
            <a:endParaRPr lang="cs-CZ" sz="1800" dirty="0">
              <a:solidFill>
                <a:srgbClr val="000000"/>
              </a:solidFill>
            </a:endParaRPr>
          </a:p>
          <a:p>
            <a:pPr marL="685800" lvl="1" indent="-342900">
              <a:buFont typeface="Wingdings" panose="020B0604020202020204" pitchFamily="34" charset="0"/>
              <a:buChar char="§"/>
            </a:pPr>
            <a:endParaRPr lang="cs-CZ" sz="15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cs-CZ" sz="18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cs-CZ" sz="1800" dirty="0">
              <a:solidFill>
                <a:srgbClr val="000000"/>
              </a:solidFill>
            </a:endParaRPr>
          </a:p>
          <a:p>
            <a:pPr marL="1143000" lvl="2" indent="-457200">
              <a:buFont typeface="Wingdings" panose="020B0604020202020204" pitchFamily="34" charset="0"/>
              <a:buChar char="§"/>
            </a:pPr>
            <a:endParaRPr lang="cs-CZ" sz="1400" dirty="0">
              <a:solidFill>
                <a:srgbClr val="000000"/>
              </a:solidFill>
            </a:endParaRPr>
          </a:p>
          <a:p>
            <a:pPr marL="800100" lvl="1" indent="-457200">
              <a:buFont typeface="Wingdings" panose="020B0604020202020204" pitchFamily="34" charset="0"/>
              <a:buChar char="§"/>
            </a:pPr>
            <a:endParaRPr lang="cs-CZ" sz="1700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lnSpc>
                <a:spcPct val="110000"/>
              </a:lnSpc>
              <a:buAutoNum type="arabicPeriod"/>
            </a:pPr>
            <a:endParaRPr lang="cs-CZ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00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2E18-B2E7-CC62-FBCD-0E1859CC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CF5238-6AD5-FAE3-3686-28F87426B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Analytická otázka 1 - Statistická významnost demografických vztahů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70FCD8-215A-C13B-04B6-857F8AF8A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BI nález: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Rasové disparity v obětech střeleb, 96% obětí jsou muži, geografické rozdíly</a:t>
            </a:r>
            <a:endParaRPr lang="cs-CZ" dirty="0"/>
          </a:p>
          <a:p>
            <a:pPr marL="170815" indent="-170815"/>
            <a:r>
              <a:rPr lang="cs-CZ" sz="1800" b="1" dirty="0">
                <a:latin typeface="Arial"/>
                <a:cs typeface="Arial"/>
              </a:rPr>
              <a:t>Data Science otázka</a:t>
            </a: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Které demografické a </a:t>
            </a:r>
            <a:r>
              <a:rPr lang="cs-CZ" sz="1800" dirty="0">
                <a:latin typeface="Arial"/>
                <a:cs typeface="Arial"/>
              </a:rPr>
              <a:t>situační faktory mají statisticky významný 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vztah a jak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silné tyto vztahy jsou?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Metoda:</a:t>
            </a:r>
            <a:endParaRPr lang="cs-CZ" sz="1800" b="1" dirty="0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Kontingenční tabulky s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Chi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-square testy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err="1">
                <a:solidFill>
                  <a:srgbClr val="000000"/>
                </a:solidFill>
                <a:latin typeface="Arial"/>
                <a:cs typeface="Arial"/>
              </a:rPr>
              <a:t>Cramerovo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V pro měření síly vztahu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Analyzované vztahy: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Rasa oběti vs Typ zbraně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Věková skupina vs Duševní onemocnění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Velikost města vs Míra střelby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Rozpočet policie vs Použití body kamery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Rasa oběti vs Míra střelby</a:t>
            </a:r>
            <a:endParaRPr lang="cs-CZ" dirty="0"/>
          </a:p>
          <a:p>
            <a:pPr marL="170815" indent="-170815">
              <a:spcBef>
                <a:spcPts val="375"/>
              </a:spcBef>
              <a:buFont typeface="Courier New" panose="020B0604020202020204" pitchFamily="34" charset="0"/>
            </a:pP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Očekávaný přínos: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Kvantifikace statistické významnosti vztahů pozorovaných v BI dashboardu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854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3CA7-6E50-3CA2-98AE-5D666D37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D6580E-07D2-4916-FF29-AC0C6998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Analytická otázka 2 - Asociační pravidla pro duševní onemocnění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3D6D78-60DF-1234-1F48-A923D32E4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BI nález: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Duševní onemocnění zaznamenáno u ~19% obětí</a:t>
            </a:r>
            <a:endParaRPr lang="cs-CZ" dirty="0"/>
          </a:p>
          <a:p>
            <a:pPr marL="170815" indent="-170815"/>
            <a:r>
              <a:rPr lang="cs-CZ" sz="1800" b="1" dirty="0">
                <a:latin typeface="Arial"/>
                <a:cs typeface="Arial"/>
              </a:rPr>
              <a:t>Data Science otázka</a:t>
            </a: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Jaké kombinace demografických 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a městských charakteristik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jsou spojeny s vyšším výskytem duševního onemocnění u obětí?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Metoda:</a:t>
            </a:r>
            <a:endParaRPr lang="cs-CZ" sz="1800" b="1" dirty="0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4ft-Miner (asociační pravidla)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Kvantifikátory: Base ≥ 15, AAD ≥ 0.3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Hledáme pravidla typu: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[Rasa + Věk + Velikost města] → [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Mental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illness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=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Yes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]</a:t>
            </a:r>
          </a:p>
          <a:p>
            <a:pPr marL="170815" indent="-170815">
              <a:spcBef>
                <a:spcPts val="375"/>
              </a:spcBef>
              <a:buFont typeface="Courier New" panose="020B0604020202020204" pitchFamily="34" charset="0"/>
            </a:pP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Očekávaný přínos: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Identifikace specifických kombinací faktorů</a:t>
            </a:r>
            <a:endParaRPr lang="cs-CZ" dirty="0"/>
          </a:p>
          <a:p>
            <a:pPr marL="513715" lvl="1" indent="-170815"/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Podpora pro cílené intervence v oblasti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mental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health</a:t>
            </a:r>
            <a:endParaRPr lang="cs-CZ" sz="15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211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AF4FB-63CD-C1CD-9CD0-5901C530C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903CA0-716F-028C-4C7D-5345D1D6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>
                <a:latin typeface="Arial"/>
                <a:cs typeface="Arial"/>
              </a:rPr>
              <a:t>Analytická otázka 3 - Faktory vysoké míry střelby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701AE7-6C8C-36F5-0854-61DEBE557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BI nález: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Slabá korelace mezi rozpočtem a mírou střelby (r=0.09)</a:t>
            </a:r>
            <a:endParaRPr lang="cs-CZ" dirty="0"/>
          </a:p>
          <a:p>
            <a:pPr marL="170815" indent="-170815"/>
            <a:r>
              <a:rPr lang="cs-CZ" sz="1800" b="1" dirty="0">
                <a:latin typeface="Arial"/>
                <a:cs typeface="Arial"/>
              </a:rPr>
              <a:t>Data Science otázka</a:t>
            </a: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Jaké faktory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 (kromě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rozpočtu) predikují města s vysokou mírou policejních střeleb?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Metoda:</a:t>
            </a:r>
            <a:endParaRPr lang="cs-CZ" sz="1800" b="1" dirty="0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4ft-Miner (asociační pravidla)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Random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Forest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feature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importance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Kvantifikátory: Base ≥ 20, AAD ≥ 0.2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Hledáme pravidla typu: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[Demografické charakteristiky + Rozpočet] → [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High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shooting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]]</a:t>
            </a:r>
          </a:p>
          <a:p>
            <a:pPr marL="170815" indent="-170815">
              <a:spcBef>
                <a:spcPts val="375"/>
              </a:spcBef>
              <a:buFont typeface="Courier New" panose="020B0604020202020204" pitchFamily="34" charset="0"/>
            </a:pP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Očekávaný přínos: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Identifikace alternativních prediktivních faktorů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38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26BA1-A274-E097-9902-993F62F8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2CAFF8-60DD-7CB8-D038-3B47F05CA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Analytická otázka 4 - Distribuce typu zbraně podle rasy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8D3AAAB-D42E-7885-8466-39A1175B2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BI nález: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Většina obětí byla ozbrojená, rasové rozdíly v obětech</a:t>
            </a:r>
            <a:endParaRPr lang="cs-CZ" dirty="0"/>
          </a:p>
          <a:p>
            <a:pPr marL="170815" indent="-170815"/>
            <a:r>
              <a:rPr lang="cs-CZ" sz="1800" b="1" dirty="0">
                <a:latin typeface="Arial"/>
                <a:cs typeface="Arial"/>
              </a:rPr>
              <a:t>Data Science otázka</a:t>
            </a: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Liší se distribuce typu 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zbraně (</a:t>
            </a:r>
            <a:r>
              <a:rPr lang="cs-CZ" sz="1800" dirty="0" err="1">
                <a:solidFill>
                  <a:srgbClr val="000000"/>
                </a:solidFill>
                <a:latin typeface="Arial"/>
                <a:cs typeface="Arial"/>
              </a:rPr>
              <a:t>unarmed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/</a:t>
            </a:r>
            <a:r>
              <a:rPr lang="cs-CZ" sz="1800" dirty="0" err="1">
                <a:solidFill>
                  <a:srgbClr val="000000"/>
                </a:solidFill>
                <a:latin typeface="Arial"/>
                <a:cs typeface="Arial"/>
              </a:rPr>
              <a:t>gun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/</a:t>
            </a:r>
            <a:r>
              <a:rPr lang="cs-CZ" sz="1800" dirty="0" err="1">
                <a:solidFill>
                  <a:srgbClr val="000000"/>
                </a:solidFill>
                <a:latin typeface="Arial"/>
                <a:cs typeface="Arial"/>
              </a:rPr>
              <a:t>blade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) statisticky významně mezi rasovými skupinami?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Metoda:</a:t>
            </a:r>
            <a:endParaRPr lang="cs-CZ" sz="1800" b="1" dirty="0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CF-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Miner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(analýza histogramů)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Kvantifikátory: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S_Down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≥ 1, Base ≥ 30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Analyzujeme: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Histogramy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armed_category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pro každou rasovou skupinu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Odchylky od celkové distribuce</a:t>
            </a:r>
          </a:p>
          <a:p>
            <a:pPr marL="170815" indent="-170815">
              <a:spcBef>
                <a:spcPts val="375"/>
              </a:spcBef>
              <a:buFont typeface="Courier New" panose="020B0604020202020204" pitchFamily="34" charset="0"/>
            </a:pP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Očekávaný přínos: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Kvantifikace rozdílů v ozbrojení mezi rasovými skupinami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752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EC4B-64DF-BE80-ADE5-45A047235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FDACDD-53F6-817C-7218-8EFECE09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Analytická otázka 5 - Věková struktura podle velikosti města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F69AA3-CEB6-D287-CFFA-B74FC5AB8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BI nález: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Geografické rozdíly v incidentech mezi velkými a malými městy</a:t>
            </a:r>
            <a:endParaRPr lang="cs-CZ" dirty="0"/>
          </a:p>
          <a:p>
            <a:pPr marL="170815" indent="-170815"/>
            <a:r>
              <a:rPr lang="cs-CZ" sz="1800" b="1" dirty="0">
                <a:latin typeface="Arial"/>
                <a:cs typeface="Arial"/>
              </a:rPr>
              <a:t>Data Science otázka</a:t>
            </a: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Liší se věková struktura obětí mezi malými, středními a velkými městy?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Metoda:</a:t>
            </a:r>
            <a:endParaRPr lang="cs-CZ" sz="1800" b="1" dirty="0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CF-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Miner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(analýza histogramů)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Kvantifikátory: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S_Down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≥ 1, Base ≥ 50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Analyzujeme: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Histogramy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age_group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pro každou kategorii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population_size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Odchylky od celkové věkové distribuce</a:t>
            </a:r>
          </a:p>
          <a:p>
            <a:pPr marL="170815" indent="-170815">
              <a:spcBef>
                <a:spcPts val="375"/>
              </a:spcBef>
              <a:buFont typeface="Courier New" panose="020B0604020202020204" pitchFamily="34" charset="0"/>
            </a:pP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Očekávaný přínos: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Pochopení, zda různé typy měst mají různé demografické profily obětí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641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0549A-4EEB-F419-429D-C132A791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7D7B9A-61BC-F221-4A54-34624366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Analytická otázka 6 - Rozdíly v použití body kamer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4B09625-47EF-3030-ECF8-CCA969330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BI nález: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Větší města používají body </a:t>
            </a:r>
            <a:r>
              <a:rPr lang="cs-CZ" sz="1800" dirty="0" err="1">
                <a:solidFill>
                  <a:srgbClr val="000000"/>
                </a:solidFill>
                <a:latin typeface="Arial"/>
                <a:cs typeface="Arial"/>
              </a:rPr>
              <a:t>cameras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častěji</a:t>
            </a:r>
            <a:endParaRPr lang="cs-CZ" dirty="0"/>
          </a:p>
          <a:p>
            <a:pPr marL="170815" indent="-170815"/>
            <a:r>
              <a:rPr lang="cs-CZ" sz="1800" b="1" dirty="0">
                <a:latin typeface="Arial"/>
                <a:cs typeface="Arial"/>
              </a:rPr>
              <a:t>Data Science otázka</a:t>
            </a: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Jak velké jsou rozdíly v použití body kamer mezi různými velikostmi měst a jsou tyto rozdíly statisticky významné?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Metoda:</a:t>
            </a:r>
            <a:endParaRPr lang="cs-CZ" sz="1800" b="1" dirty="0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SD4ft-Miner (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subgroup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discovery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Kvantifikátory: Base1 ≥ 20, Base2 ≥ 20,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Ratioconf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≥ 1.1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Porovnáváme: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[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Small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cities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] vs [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Large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cities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] → [Body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camera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=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Yes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]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Ratio pravděpodobností mezi skupinami</a:t>
            </a:r>
          </a:p>
          <a:p>
            <a:pPr marL="170815" indent="-170815">
              <a:spcBef>
                <a:spcPts val="375"/>
              </a:spcBef>
              <a:buFont typeface="Courier New" panose="020B0604020202020204" pitchFamily="34" charset="0"/>
            </a:pP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Očekávaný přínos: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Kvantifikace rozdílů v transparentnosti mezi městy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5373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54A8-E392-E1B2-F7C6-3CE61B483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9064CB-3E02-8199-F286-3B91C009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Analytická otázka 7 - Rasové rozdíly v neozbrojených obětech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3E515A-87D0-2E7B-F495-A587FC887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BI nález: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Rasové disparity v celkovém počtu obětí</a:t>
            </a:r>
            <a:endParaRPr lang="cs-CZ" dirty="0"/>
          </a:p>
          <a:p>
            <a:pPr marL="170815" indent="-170815"/>
            <a:r>
              <a:rPr lang="cs-CZ" sz="1800" b="1" dirty="0">
                <a:latin typeface="Arial"/>
                <a:cs typeface="Arial"/>
              </a:rPr>
              <a:t>Data Science otázka</a:t>
            </a: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Existují statisticky významné rozdíly v podílu neozbrojených obětí mezi rasovými skupinami?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Metoda:</a:t>
            </a:r>
            <a:endParaRPr lang="cs-CZ" sz="1800" b="1" dirty="0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SD4ft-Miner (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subgroup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discovery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Kvantifikátory: Base1 ≥ 15, Base2 ≥ 15,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Ratioconf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≥ 1.1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Porovnáváme: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[Race1] vs [Race2] → [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Armed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=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Unarmed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]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Všechny páry rasových skupin</a:t>
            </a:r>
          </a:p>
          <a:p>
            <a:pPr marL="170815" indent="-170815">
              <a:spcBef>
                <a:spcPts val="375"/>
              </a:spcBef>
              <a:buFont typeface="Courier New" panose="020B0604020202020204" pitchFamily="34" charset="0"/>
            </a:pP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Očekávaný přínos: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Kritická analýza rasových disparit v use-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-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force</a:t>
            </a:r>
            <a:endParaRPr lang="cs-CZ" dirty="0" err="1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929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F3C0C-0010-38E8-5993-A79BCA31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B522F6-DB8C-DA6D-6FBF-AFED3697F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Analytická otázka 8 - Prediktivní model pro typ oběti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32C82CE-D869-3DA1-BA05-088C03A2A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BI nález: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90+ různých typů zbraní v datech, potřeba kategorizace</a:t>
            </a:r>
            <a:endParaRPr lang="cs-CZ" dirty="0"/>
          </a:p>
          <a:p>
            <a:pPr marL="170815" indent="-170815"/>
            <a:r>
              <a:rPr lang="cs-CZ" sz="1800" b="1" dirty="0">
                <a:latin typeface="Arial"/>
                <a:cs typeface="Arial"/>
              </a:rPr>
              <a:t>Data Science otázka</a:t>
            </a: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Jaké faktory nejlépe predikují, zda oběť bude neozbrojena?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Metoda:</a:t>
            </a:r>
            <a:endParaRPr lang="cs-CZ" sz="1800" b="1" dirty="0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Rozhodovací strom (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Decision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Tree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Max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depth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: 4, interpretovatelná struktura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Predikujeme: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Armed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status (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Unarmed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vs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Armed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) na základě:</a:t>
            </a:r>
            <a:endParaRPr lang="cs-CZ" dirty="0">
              <a:solidFill>
                <a:srgbClr val="000000"/>
              </a:solidFill>
            </a:endParaRPr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dirty="0">
                <a:solidFill>
                  <a:srgbClr val="000000"/>
                </a:solidFill>
                <a:latin typeface="Arial"/>
                <a:cs typeface="Arial"/>
              </a:rPr>
              <a:t>Demografických faktorů</a:t>
            </a:r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dirty="0">
                <a:solidFill>
                  <a:srgbClr val="000000"/>
                </a:solidFill>
                <a:latin typeface="Arial"/>
                <a:cs typeface="Arial"/>
              </a:rPr>
              <a:t>Městských charakteristik</a:t>
            </a:r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dirty="0">
                <a:solidFill>
                  <a:srgbClr val="000000"/>
                </a:solidFill>
                <a:latin typeface="Arial"/>
                <a:cs typeface="Arial"/>
              </a:rPr>
              <a:t>Situačních faktorů</a:t>
            </a:r>
          </a:p>
          <a:p>
            <a:pPr marL="170815" indent="-170815">
              <a:spcBef>
                <a:spcPts val="375"/>
              </a:spcBef>
              <a:buFont typeface="Courier New" panose="020B0604020202020204" pitchFamily="34" charset="0"/>
            </a:pP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Očekávaný přínos: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Interpretovatelný model pro pochopení faktorů</a:t>
            </a:r>
            <a:endParaRPr lang="cs-CZ" dirty="0" err="1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Vizuální reprezentace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decision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rules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781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8FDD8-7B44-1019-D535-3DA4DC77B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E64EDE-C55D-059F-6FDF-EB288198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Analytická otázka 9 - </a:t>
            </a:r>
            <a:r>
              <a:rPr lang="cs-CZ" dirty="0" err="1">
                <a:latin typeface="Arial"/>
                <a:cs typeface="Arial"/>
              </a:rPr>
              <a:t>Feature</a:t>
            </a:r>
            <a:r>
              <a:rPr lang="cs-CZ" dirty="0">
                <a:latin typeface="Arial"/>
                <a:cs typeface="Arial"/>
              </a:rPr>
              <a:t> </a:t>
            </a:r>
            <a:r>
              <a:rPr lang="cs-CZ" dirty="0" err="1">
                <a:latin typeface="Arial"/>
                <a:cs typeface="Arial"/>
              </a:rPr>
              <a:t>importance</a:t>
            </a:r>
            <a:r>
              <a:rPr lang="cs-CZ" dirty="0">
                <a:latin typeface="Arial"/>
                <a:cs typeface="Arial"/>
              </a:rPr>
              <a:t> pro vysokou míru střelby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F3DCC3B-DEB2-3C7A-25C7-672469552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BI nález:</a:t>
            </a:r>
            <a:r>
              <a:rPr lang="cs-CZ" sz="1800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 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Korelační analýza ukázala slabý vztah rozpočtu k míře střelby</a:t>
            </a:r>
            <a:endParaRPr lang="cs-CZ" dirty="0"/>
          </a:p>
          <a:p>
            <a:pPr marL="170815" indent="-170815"/>
            <a:r>
              <a:rPr lang="cs-CZ" sz="1800" b="1" dirty="0">
                <a:latin typeface="Arial"/>
                <a:cs typeface="Arial"/>
              </a:rPr>
              <a:t>Data Science otázka</a:t>
            </a: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Které faktory jsou skutečně nejdůležitější pro predikci vysoké míry střelby?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Metoda:</a:t>
            </a:r>
            <a:endParaRPr lang="cs-CZ" sz="1800" b="1" dirty="0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Random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Forest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(100 stromů)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Feature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importance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analýza</a:t>
            </a:r>
          </a:p>
          <a:p>
            <a:pPr marL="170815" indent="-170815"/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Predikujeme: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Shooting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category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High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/Medium/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Low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) na základě:</a:t>
            </a:r>
            <a:endParaRPr lang="cs-CZ" dirty="0">
              <a:solidFill>
                <a:srgbClr val="000000"/>
              </a:solidFill>
            </a:endParaRPr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dirty="0">
                <a:solidFill>
                  <a:srgbClr val="000000"/>
                </a:solidFill>
                <a:latin typeface="Arial"/>
                <a:cs typeface="Arial"/>
              </a:rPr>
              <a:t>Rozpočtových faktorů</a:t>
            </a:r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dirty="0">
                <a:solidFill>
                  <a:srgbClr val="000000"/>
                </a:solidFill>
                <a:latin typeface="Arial"/>
                <a:cs typeface="Arial"/>
              </a:rPr>
              <a:t>Demografických charakteristik</a:t>
            </a:r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dirty="0">
                <a:solidFill>
                  <a:srgbClr val="000000"/>
                </a:solidFill>
                <a:latin typeface="Arial"/>
                <a:cs typeface="Arial"/>
              </a:rPr>
              <a:t>Geografických faktorů</a:t>
            </a:r>
          </a:p>
          <a:p>
            <a:pPr marL="170815" indent="-170815">
              <a:spcBef>
                <a:spcPts val="375"/>
              </a:spcBef>
              <a:buFont typeface="Courier New" panose="020B0604020202020204" pitchFamily="34" charset="0"/>
            </a:pPr>
            <a:r>
              <a:rPr lang="cs-CZ" sz="1800" b="1" dirty="0">
                <a:solidFill>
                  <a:srgbClr val="000000"/>
                </a:solidFill>
                <a:latin typeface="Arial"/>
                <a:cs typeface="Arial"/>
              </a:rPr>
              <a:t>Očekávaný přínos:</a:t>
            </a:r>
            <a:r>
              <a:rPr lang="cs-CZ" sz="1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Ranking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faktorů podle prediktivní síly</a:t>
            </a:r>
            <a:endParaRPr lang="cs-CZ" dirty="0" err="1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Identifikace nejdůležitějších proměnných pro </a:t>
            </a:r>
            <a:r>
              <a:rPr lang="cs-CZ" sz="1500" dirty="0" err="1">
                <a:solidFill>
                  <a:srgbClr val="000000"/>
                </a:solidFill>
                <a:latin typeface="Arial"/>
                <a:cs typeface="Arial"/>
              </a:rPr>
              <a:t>policy</a:t>
            </a:r>
            <a:r>
              <a:rPr lang="cs-CZ" sz="1500" dirty="0">
                <a:solidFill>
                  <a:srgbClr val="000000"/>
                </a:solidFill>
                <a:latin typeface="Arial"/>
                <a:cs typeface="Arial"/>
              </a:rPr>
              <a:t> intervence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323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61D92-980F-63A7-E0E0-CE7EBAA8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8BB181-016B-F599-8820-37A10B2D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Souhrn - Mapování otázek na metody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829A2B-A6FF-D90C-DC5E-AC457E4FD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5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graphicFrame>
        <p:nvGraphicFramePr>
          <p:cNvPr id="5" name="Tabulka 4">
            <a:extLst>
              <a:ext uri="{FF2B5EF4-FFF2-40B4-BE49-F238E27FC236}">
                <a16:creationId xmlns:a16="http://schemas.microsoft.com/office/drawing/2014/main" id="{70EB19DF-8CA9-B0F0-9655-B7805E6DD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478647"/>
              </p:ext>
            </p:extLst>
          </p:nvPr>
        </p:nvGraphicFramePr>
        <p:xfrm>
          <a:off x="0" y="1943100"/>
          <a:ext cx="9144000" cy="2975409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39331089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65963350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44840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b="1" dirty="0"/>
                        <a:t>Analytická otázka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b="1" dirty="0"/>
                        <a:t>Metoda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b="1" dirty="0"/>
                        <a:t>Slide ve výsledcích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0626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Statistická významnost vztahů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err="1"/>
                        <a:t>Chi</a:t>
                      </a:r>
                      <a:r>
                        <a:rPr lang="cs-CZ" dirty="0"/>
                        <a:t>-square + </a:t>
                      </a:r>
                      <a:r>
                        <a:rPr lang="cs-CZ" err="1"/>
                        <a:t>Cramer</a:t>
                      </a:r>
                      <a:r>
                        <a:rPr lang="cs-CZ" dirty="0"/>
                        <a:t>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DS výsledky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35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Asociační pravidla - </a:t>
                      </a:r>
                      <a:r>
                        <a:rPr lang="cs-CZ" err="1"/>
                        <a:t>mental</a:t>
                      </a:r>
                      <a:r>
                        <a:rPr lang="cs-CZ" dirty="0"/>
                        <a:t> </a:t>
                      </a:r>
                      <a:r>
                        <a:rPr lang="cs-CZ" err="1"/>
                        <a:t>illness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4ft-Miner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DS výsledky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615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Faktory vysoké míry střelby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4ft-Miner + 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DS výsledky 3,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4904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Distribuce zbraní podle rasy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CF-</a:t>
                      </a:r>
                      <a:r>
                        <a:rPr lang="cs-CZ" err="1"/>
                        <a:t>Miner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DS výsledky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240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Věková struktura podle měst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CF-</a:t>
                      </a:r>
                      <a:r>
                        <a:rPr lang="cs-CZ" err="1"/>
                        <a:t>Miner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DS výsledky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08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Rozdíly v body </a:t>
                      </a:r>
                      <a:r>
                        <a:rPr lang="cs-CZ" err="1"/>
                        <a:t>cameras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SD4ft-Miner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DS výsledky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508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Rasové rozdíly - </a:t>
                      </a:r>
                      <a:r>
                        <a:rPr lang="cs-CZ" err="1"/>
                        <a:t>unarmed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SD4ft-Miner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DS výsledky 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530031"/>
                  </a:ext>
                </a:extLst>
              </a:tr>
              <a:tr h="3007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Predikce </a:t>
                      </a:r>
                      <a:r>
                        <a:rPr lang="cs-CZ" err="1"/>
                        <a:t>unarmed</a:t>
                      </a:r>
                      <a:r>
                        <a:rPr lang="cs-CZ" dirty="0"/>
                        <a:t> oběti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err="1"/>
                        <a:t>Decision</a:t>
                      </a:r>
                      <a:r>
                        <a:rPr lang="cs-CZ" dirty="0"/>
                        <a:t> </a:t>
                      </a:r>
                      <a:r>
                        <a:rPr lang="cs-CZ" err="1"/>
                        <a:t>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DS výsledky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392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err="1"/>
                        <a:t>Feature</a:t>
                      </a:r>
                      <a:r>
                        <a:rPr lang="cs-CZ" dirty="0"/>
                        <a:t> </a:t>
                      </a:r>
                      <a:r>
                        <a:rPr lang="cs-CZ" err="1"/>
                        <a:t>importance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err="1"/>
                        <a:t>Random</a:t>
                      </a:r>
                      <a:r>
                        <a:rPr lang="cs-CZ" dirty="0"/>
                        <a:t> </a:t>
                      </a:r>
                      <a:r>
                        <a:rPr lang="cs-CZ" err="1"/>
                        <a:t>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/>
                        <a:t>DS výsledky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48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94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3E8C8-ED3E-F8A3-5B58-8FF068EA3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3419D3-64DC-6978-6BE2-C4334177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Úloha 1 - Vztah rasy a typu zbraně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6596C0-44BC-F2D4-6CBB-0A4EABE6A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Potřebujeme zjistit, zda existuje statisticky významný vztah mezi rasou oběti a typem zbraně</a:t>
            </a:r>
            <a:endParaRPr lang="cs-CZ" sz="1400" b="1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Důležité pro posouzení, zda policejní střelby vůči neozbrojením obětem mají rasovou dimenzi</a:t>
            </a: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Kontingenční tabulka +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Chi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-square test</a:t>
            </a:r>
            <a:endParaRPr lang="cs-CZ" sz="1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Proměnné: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race_category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(5 kategorií) ×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armed_category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(4 kategorie: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Unarmed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/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Gun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/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Blade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/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Other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Chi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-square statistika: 26.24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p-hodnota: 0.0099 (&lt; 0.05) → statisticky významný vztah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Cramerovo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V: 0.072 (slabý vztah)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Existuje statisticky významný, ale slabý vztah mezi rasou a typem zbraně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Rasové rozdíly v typu zbraně nejsou dramatické (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Cramer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V=0.072)</a:t>
            </a:r>
          </a:p>
          <a:p>
            <a:pPr marL="342900" lvl="1" indent="0">
              <a:buNone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446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25EC-607D-0BE2-0598-4EE383AE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EE8595-1946-DAC7-C832-7BEE689C6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Úloha 2 - Věk a duševní onemocnění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0B8CB0-0FA5-9119-B123-F06135535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Zjistit, zda určité věkové skupiny mají vyšší pravděpodobnost duševního onemocnění při střelbě</a:t>
            </a:r>
            <a:endParaRPr lang="cs-CZ" sz="1400" b="1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Důležité pro </a:t>
            </a:r>
            <a:r>
              <a:rPr lang="cs-CZ" sz="1400" dirty="0" err="1">
                <a:latin typeface="Arial"/>
                <a:cs typeface="Arial"/>
              </a:rPr>
              <a:t>training</a:t>
            </a:r>
            <a:r>
              <a:rPr lang="cs-CZ" sz="1400" dirty="0">
                <a:latin typeface="Arial"/>
                <a:cs typeface="Arial"/>
              </a:rPr>
              <a:t> policistů a krizové intervence</a:t>
            </a: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Kontingenční tabulka +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Chi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-square test</a:t>
            </a:r>
            <a:endParaRPr lang="cs-CZ" sz="1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Proměnné: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age_group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(5 kategorií) ×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mental_illness_flag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(No/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Yes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Chi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-square: 18.95</a:t>
            </a:r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sz="1100" dirty="0">
                <a:solidFill>
                  <a:srgbClr val="000000"/>
                </a:solidFill>
                <a:latin typeface="Arial"/>
                <a:cs typeface="Arial"/>
              </a:rPr>
              <a:t>p-hodnota: 0.0008 (&lt; 0.05) → statisticky významný vztah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Cramerovo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V: 0.105 (slabý až střední vztah)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Starší věkové skupiny mají 2-3x vyšší míru zaznamenaného duševního onemocnění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929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8C744-2AB3-6947-30D3-92BED0C29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7CE083-F373-B9C4-8DEC-9A81AE03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Úloha 3 - Velikost města a míra střelby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58FEB5-BAF9-7462-EFEB-9FCE1C800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Ověřit, zda velikost města ovlivňuje míru policejních </a:t>
            </a:r>
            <a:r>
              <a:rPr lang="cs-CZ" sz="1400" err="1">
                <a:latin typeface="Arial"/>
                <a:cs typeface="Arial"/>
              </a:rPr>
              <a:t>střelb</a:t>
            </a:r>
            <a:endParaRPr lang="cs-CZ" sz="1400" b="1" err="1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BI analýza ukázala rozdíly - potřebujeme statistické potvrzení</a:t>
            </a: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Kontingenční tabulka +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Chi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-square test</a:t>
            </a:r>
            <a:endParaRPr lang="cs-CZ" sz="1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Proměnné: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population_size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Small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/Medium/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Large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 ×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shooting_rate_category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Low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/Medium/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High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Chi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-square: 189.39</a:t>
            </a:r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sz="1100" dirty="0">
                <a:solidFill>
                  <a:srgbClr val="000000"/>
                </a:solidFill>
                <a:latin typeface="Arial"/>
                <a:cs typeface="Arial"/>
              </a:rPr>
              <a:t>p-hodnota: 0.000001 → statisticky významný vztah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Cramerovo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V: 0.236 (střední až silný vztah)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Malá a střední města mají 2x vyšší míru střelby než velká města!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810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5BDBA-1E63-7917-9FEF-2242D651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16FDCD-34D0-7D3F-514E-B865CD2F2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Úloha 4 - Rozpočet policie a body kamery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9B55FA3-E3BA-EA6F-02B1-62B4F57EC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Zjistit, zda města s vyšším rozpočtem na policii častěji používají body </a:t>
            </a:r>
            <a:r>
              <a:rPr lang="cs-CZ" sz="1400" dirty="0" err="1">
                <a:latin typeface="Arial"/>
                <a:cs typeface="Arial"/>
              </a:rPr>
              <a:t>cameras</a:t>
            </a:r>
            <a:endParaRPr lang="cs-CZ" sz="1400" b="1" dirty="0" err="1">
              <a:latin typeface="Arial"/>
              <a:cs typeface="Arial"/>
            </a:endParaRP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Kontingenční tabulka +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Chi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-square test</a:t>
            </a:r>
            <a:endParaRPr lang="cs-CZ" sz="1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Proměnné: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budget_category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Low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/Medium/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High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 ×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body_camera_flag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(No/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Yes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Chi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-square: 10.43</a:t>
            </a:r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sz="1100" dirty="0">
                <a:solidFill>
                  <a:srgbClr val="000000"/>
                </a:solidFill>
                <a:latin typeface="Arial"/>
                <a:cs typeface="Arial"/>
              </a:rPr>
              <a:t>p-hodnota: 0.0054 (&lt; 0.05) → statisticky významný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Cramerovo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V: 0.078 (slabý vztah)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Města s nižším rozpočtem mají mírně vyšší použití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bodycams</a:t>
            </a: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170815" indent="-170815"/>
            <a:r>
              <a:rPr lang="cs-CZ" sz="1700" b="1" dirty="0">
                <a:solidFill>
                  <a:srgbClr val="000000"/>
                </a:solidFill>
                <a:latin typeface="Arial"/>
                <a:cs typeface="Arial"/>
              </a:rPr>
              <a:t>Poznámka: </a:t>
            </a:r>
            <a:endParaRPr lang="cs-CZ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Tato analýza zkoumá vztah rozpočtu policie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budget_category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 a body kamer. Rozpočet policie ≠ velikost města. Malé město může mít vysoký per-capita rozpočet a naopak. Viz ÚLOHA 10 pro analýzu podle velikosti města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population_size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).</a:t>
            </a: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869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CABB-3C62-462C-BC2F-113966609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96DAA5-6B62-4A23-1D6A-DF92CDB2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Úloha 5 - Rasa a míra střelby v městech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72BC68-6887-545E-A3E4-AC736EA21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Zjistit, zda rasové složení obětí souvisí s kategorií míry střelby města</a:t>
            </a:r>
            <a:endParaRPr lang="cs-CZ" sz="1400" b="1" dirty="0" err="1">
              <a:latin typeface="Arial"/>
              <a:cs typeface="Arial"/>
            </a:endParaRP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Kontingenční tabulka +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Chi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-square test</a:t>
            </a:r>
            <a:endParaRPr lang="cs-CZ" sz="1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Proměnné: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race_category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(5 kategorií) ×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shooting_rate_category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Low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/Medium/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High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Chi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-square: 98.01</a:t>
            </a:r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sz="1100" dirty="0">
                <a:solidFill>
                  <a:srgbClr val="000000"/>
                </a:solidFill>
                <a:latin typeface="Arial"/>
                <a:cs typeface="Arial"/>
              </a:rPr>
              <a:t>p-hodnota: &lt; 0.000001 → významný vztah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Cramerovo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V: 0.170 (střední vztah)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Města s vysokou mírou střelby mají vyšší podíl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White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a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Hispanic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obětí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Města s nízkou mírou mají vyšší podíl Black obětí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901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3103-AEDC-58B1-3B79-8530AF16F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2E4DA5-53A7-B11C-5FD0-6B5D2FB20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Úloha 6 - 4ft-Miner: Duševní onemocnění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C816E37-4B94-4E8F-1617-078294F8F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Najít specifické kombinace faktorů spojené s vyšším výskytem duševního onemocnění</a:t>
            </a:r>
            <a:endParaRPr lang="cs-CZ" sz="1400" b="1" dirty="0" err="1">
              <a:latin typeface="Arial"/>
              <a:cs typeface="Arial"/>
            </a:endParaRP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4ft-Miner (asociační pravidla)</a:t>
            </a:r>
            <a:endParaRPr lang="cs-CZ" sz="1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Kvantifikátory: Base ≥ 15, AAD ≥ 0.3 (30% vyšší pravděpodobnost než průměr)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Antecedent: Kombinace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race_category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+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age_group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+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population_size</a:t>
            </a: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Sukcedent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mental_illness_flag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= '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Yes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'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cleverminer_output.txt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Kombinace "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White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+ Senior" má 38.3% pravděpodobnost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mental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illness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(AAD +1.022, tedy 2x vyšší než průměr)</a:t>
            </a:r>
          </a:p>
          <a:p>
            <a:pPr marL="513715" lvl="1" indent="-170815"/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White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rasa obecně silně asociována s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mental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illness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conf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=31.5%)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748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35CF6-45FB-35A1-4ECE-74316717D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3D6D22-685A-8477-4B6F-A35A76E3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Úloha 7 - 4ft-Miner: Faktory vysoké míry střelby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0A29D8-4F8A-4FEE-98FF-1DAFA8AF4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BI analýza ukázala slabou korelaci rozpočtu a míry střelby (r=0.09)</a:t>
            </a:r>
            <a:endParaRPr lang="cs-CZ" sz="1400" b="1" dirty="0" err="1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Potřebujeme najít, jaké jiné faktory predikují vysokou míru</a:t>
            </a: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4ft-Miner (asociační pravidla)</a:t>
            </a:r>
            <a:endParaRPr lang="cs-CZ" sz="1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Kvantifikátory: Base ≥ 20, AAD ≥ 0.2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Antecedent: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race_category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+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budget_category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+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armed_category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Sukcedent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shooting_rate_category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= '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High_Rate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''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cleverminer_output.txt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/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High_Budget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města mají VYŠŠÍ míru střelby (69.4%, AAD +0.412)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Nejvyšší pravděpodobnost: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Hispanic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+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High_Budget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(77.8%)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844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0B8C7-6219-FF08-B96A-74A38520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AFD101-7C39-BB8D-EC0E-9A13790E9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Úloha 8 - CF-</a:t>
            </a:r>
            <a:r>
              <a:rPr lang="cs-CZ" dirty="0" err="1">
                <a:latin typeface="Arial"/>
                <a:cs typeface="Arial"/>
              </a:rPr>
              <a:t>Miner</a:t>
            </a:r>
            <a:r>
              <a:rPr lang="cs-CZ" dirty="0">
                <a:latin typeface="Arial"/>
                <a:cs typeface="Arial"/>
              </a:rPr>
              <a:t>: Distribuce zbraní podle rasy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85E0A6-6A86-83BE-8A99-7586A42DD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latin typeface="Arial"/>
                <a:cs typeface="Arial"/>
              </a:rPr>
              <a:t>Chi</a:t>
            </a:r>
            <a:r>
              <a:rPr lang="cs-CZ" sz="1400" dirty="0">
                <a:latin typeface="Arial"/>
                <a:cs typeface="Arial"/>
              </a:rPr>
              <a:t>-square ukázal statistický vztah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Identifikovat, které rasové skupiny mají výrazně odlišné vzorce</a:t>
            </a: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CF-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Miner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(analýza histogramů)</a:t>
            </a:r>
            <a:endParaRPr lang="cs-CZ" sz="1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Kvantifikátory: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S_Down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≥ 1, Base ≥ 30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Target: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armed_category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(4 kategorie)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Condition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race_category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(5 kategorií)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cleverminer_output.txt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Všechny rasové skupiny vykazují odchylky od celkového průměru (S_UP a S_DOWN ≥ 1)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Podíl neozbrojených je podobný napříč rasami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240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FB3F8-5D05-6DB2-2D5B-C1C4CC9F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5EBEE9-DBCF-BE47-DB86-0DE7BB3E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Úloha 9 - CF-</a:t>
            </a:r>
            <a:r>
              <a:rPr lang="cs-CZ" dirty="0" err="1">
                <a:latin typeface="Arial"/>
                <a:cs typeface="Arial"/>
              </a:rPr>
              <a:t>Miner</a:t>
            </a:r>
            <a:r>
              <a:rPr lang="cs-CZ" dirty="0">
                <a:latin typeface="Arial"/>
                <a:cs typeface="Arial"/>
              </a:rPr>
              <a:t>: Věk podle velikosti města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F1633FF-D55A-A9CA-2894-8681F6DEE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Zjistit, zda různé typy měst mají různé věkové profily obětí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Navazuje na nález o rozdílech v míře střelby podle velikosti města</a:t>
            </a: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CF-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Miner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(analýza histogramů)</a:t>
            </a:r>
            <a:endParaRPr lang="cs-CZ" sz="1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Kvantifikátory: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S_Down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≥ 1, Base ≥ 50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Target: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age_group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(5 kategorií)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Condition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population_size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Small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/Medium/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Large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cleverminer_output.txt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Všechny velikosti měst vykazují odchylky od celkového průměru (S_UP=1, S_DOWN=1)</a:t>
            </a:r>
          </a:p>
          <a:p>
            <a:pPr marL="513715" lvl="1" indent="-170815"/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Middle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age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group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dominuje ve všech typech měst (36-46%)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129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BFB3-E8B8-DAD2-1107-2E00C90C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25B7A8-888E-1897-5F02-A28DD24D9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Úloha 10 - SD4ft-Miner: Body kamery mezi městy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DF77A6-6422-307E-4A65-CAD17B430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Kvantifikovat rozdíly v použití body kamer mezi velikostmi měst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Navazuje na nález o rozdílech v míře střelby podle velikosti města</a:t>
            </a: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SD4ft-Miner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subgroup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discovery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  <a:endParaRPr lang="cs-CZ" sz="1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Kvantifikátory: Base1 ≥ 20, Base2 ≥ 20,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Ratioconf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≥ 1.1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Sukcedent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body_camera_flag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= '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Yes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'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Porovnávané skupiny: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Small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vs Medium vs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Large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cities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cleverminer_output.txt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Medium města mají nejvyšší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adoption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body kamer</a:t>
            </a:r>
          </a:p>
          <a:p>
            <a:pPr marL="513715" lvl="1" indent="-170815"/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Small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města zaostávají nejvíce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249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F8A74-EA3D-17CB-43C9-1088EF71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50671A-6CB4-AE06-4B70-8645E4EE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Úloha 11 - SD4ft-Miner: Rasové rozdíly v </a:t>
            </a:r>
            <a:r>
              <a:rPr lang="cs-CZ" dirty="0" err="1">
                <a:latin typeface="Arial"/>
                <a:cs typeface="Arial"/>
              </a:rPr>
              <a:t>unarmed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1B4E082-692A-28A5-B308-EF955D0BC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Najít statisticky významné rozdíly v podílu neozbrojených obětí mezi rasami</a:t>
            </a: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SD4ft-Miner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subgroup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discovery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  <a:endParaRPr lang="cs-CZ" sz="14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Kvantifikátory: Base1 ≥ 15, Base2 ≥ 15,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Ratioconf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≥ 1.1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Sukcedent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armed_category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= '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Unarmed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'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Porovnávané skupiny: Všechny páry rasových kategorií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cleverminer_output.txt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/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Hispanic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a Black skupiny mají vyšší podíl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unarmed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Rozdíly jsou 12-13% vs 9-10%, existují ale nejsou dramatické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Většina obětí (~89%) je ozbrojená napříč všemi rasami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946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840E-CB91-4F40-5026-1D7F58316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EAB2F2-1C06-E40D-4EFD-2757F1A6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Úloha 12 - </a:t>
            </a:r>
            <a:r>
              <a:rPr lang="cs-CZ" dirty="0" err="1">
                <a:latin typeface="Arial"/>
                <a:cs typeface="Arial"/>
              </a:rPr>
              <a:t>Random</a:t>
            </a:r>
            <a:r>
              <a:rPr lang="cs-CZ" dirty="0">
                <a:latin typeface="Arial"/>
                <a:cs typeface="Arial"/>
              </a:rPr>
              <a:t> </a:t>
            </a:r>
            <a:r>
              <a:rPr lang="cs-CZ" dirty="0" err="1">
                <a:latin typeface="Arial"/>
                <a:cs typeface="Arial"/>
              </a:rPr>
              <a:t>Forest</a:t>
            </a:r>
            <a:r>
              <a:rPr lang="cs-CZ" dirty="0">
                <a:latin typeface="Arial"/>
                <a:cs typeface="Arial"/>
              </a:rPr>
              <a:t>: </a:t>
            </a:r>
            <a:r>
              <a:rPr lang="cs-CZ" dirty="0" err="1">
                <a:latin typeface="Arial"/>
                <a:cs typeface="Arial"/>
              </a:rPr>
              <a:t>Feature</a:t>
            </a:r>
            <a:r>
              <a:rPr lang="cs-CZ" dirty="0">
                <a:latin typeface="Arial"/>
                <a:cs typeface="Arial"/>
              </a:rPr>
              <a:t> </a:t>
            </a:r>
            <a:r>
              <a:rPr lang="cs-CZ" dirty="0" err="1">
                <a:latin typeface="Arial"/>
                <a:cs typeface="Arial"/>
              </a:rPr>
              <a:t>Importance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0503C1-3E96-2968-4C0B-2A401222E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ea typeface="+mj-ea"/>
                <a:cs typeface="Arial"/>
              </a:rPr>
              <a:t>Business popis:</a:t>
            </a: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Identifikovat nejdůležitější faktory pro predikci vysoké míry střelby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BI analýza ukázala slabou korelaci rozpočtu (r=0.09)</a:t>
            </a:r>
          </a:p>
          <a:p>
            <a:pPr marL="170815" indent="-170815"/>
            <a:r>
              <a:rPr lang="cs-CZ" sz="1600" b="1" dirty="0">
                <a:latin typeface="Arial"/>
                <a:cs typeface="Arial"/>
              </a:rPr>
              <a:t>Technické řešení</a:t>
            </a:r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Metoda: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Random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Forest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Classifier</a:t>
            </a:r>
            <a:endParaRPr lang="cs-CZ" sz="1400" dirty="0" err="1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Target: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shooting_rate_category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= '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High_Rate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' (binární)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Features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 Všechny dostupné (24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features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Hyperparameters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n_estimators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=100,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max_depth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=5,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min_samples_split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=30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Train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/test split: 70/30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Výsledky:</a:t>
            </a:r>
            <a:endParaRPr lang="cs-CZ" sz="1600" b="1">
              <a:solidFill>
                <a:srgbClr val="000000"/>
              </a:solidFill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cleverminer_output.txt</a:t>
            </a:r>
          </a:p>
          <a:p>
            <a:pPr marL="170815" indent="-170815"/>
            <a:r>
              <a:rPr lang="cs-CZ" sz="1600" b="1" dirty="0">
                <a:solidFill>
                  <a:srgbClr val="000000"/>
                </a:solidFill>
                <a:latin typeface="Arial"/>
                <a:cs typeface="Arial"/>
              </a:rPr>
              <a:t>Business interpretace: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Geografické faktory (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state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, city) jsou nejdůležitější prediktory (&gt;60%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importance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513715" lvl="1" indent="-170815"/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Population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size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je 2. nejdůležitější (potvrzuje kontingenční tabulky)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Většina obětí (~89%) je ozbrojená napříč všemi rasami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812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CC097-7FBE-A19B-B4B5-D25E4BCF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AD812C-51DF-81D8-D856-84896643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nálezy 1 - Paradox policejního rozpočtu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35102D-2973-54E9-C919-E82EEF307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dirty="0">
                <a:latin typeface="Arial"/>
                <a:ea typeface="+mj-ea"/>
                <a:cs typeface="Arial"/>
              </a:rPr>
              <a:t>Zjištění: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/>
              <a:t>Korelace mezi rozpočtem per capita a mírou střeleb: r = 0,09 (téměř žádná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Města s </a:t>
            </a:r>
            <a:r>
              <a:rPr lang="cs-CZ" sz="1300" dirty="0" err="1">
                <a:latin typeface="Arial"/>
                <a:cs typeface="Arial"/>
              </a:rPr>
              <a:t>High_Budget</a:t>
            </a:r>
            <a:r>
              <a:rPr lang="cs-CZ" sz="1300" dirty="0">
                <a:latin typeface="Arial"/>
                <a:cs typeface="Arial"/>
              </a:rPr>
              <a:t> mají dokonce vyšší pravděpodobnost vysoké míry střeleb (71,2%)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4ft-Miner pravidlo: </a:t>
            </a:r>
            <a:r>
              <a:rPr lang="cs-CZ" sz="1300" dirty="0" err="1">
                <a:latin typeface="Arial"/>
                <a:cs typeface="Arial"/>
              </a:rPr>
              <a:t>budget_category</a:t>
            </a:r>
            <a:r>
              <a:rPr lang="cs-CZ" sz="1300" dirty="0">
                <a:latin typeface="Arial"/>
                <a:cs typeface="Arial"/>
              </a:rPr>
              <a:t>(</a:t>
            </a:r>
            <a:r>
              <a:rPr lang="cs-CZ" sz="1300" dirty="0" err="1">
                <a:latin typeface="Arial"/>
                <a:cs typeface="Arial"/>
              </a:rPr>
              <a:t>High_Budget</a:t>
            </a:r>
            <a:r>
              <a:rPr lang="cs-CZ" sz="1300" dirty="0">
                <a:latin typeface="Arial"/>
                <a:cs typeface="Arial"/>
              </a:rPr>
              <a:t>) =&gt; </a:t>
            </a:r>
            <a:r>
              <a:rPr lang="cs-CZ" sz="1300" dirty="0" err="1">
                <a:latin typeface="Arial"/>
                <a:cs typeface="Arial"/>
              </a:rPr>
              <a:t>shooting_rate_category</a:t>
            </a:r>
            <a:r>
              <a:rPr lang="cs-CZ" sz="1300" dirty="0">
                <a:latin typeface="Arial"/>
                <a:cs typeface="Arial"/>
              </a:rPr>
              <a:t>(</a:t>
            </a:r>
            <a:r>
              <a:rPr lang="cs-CZ" sz="1300" dirty="0" err="1">
                <a:latin typeface="Arial"/>
                <a:cs typeface="Arial"/>
              </a:rPr>
              <a:t>High_Rate</a:t>
            </a:r>
            <a:r>
              <a:rPr lang="cs-CZ" sz="1300" dirty="0">
                <a:latin typeface="Arial"/>
                <a:cs typeface="Arial"/>
              </a:rPr>
              <a:t>) s </a:t>
            </a:r>
            <a:r>
              <a:rPr lang="cs-CZ" sz="1300" dirty="0" err="1">
                <a:latin typeface="Arial"/>
                <a:cs typeface="Arial"/>
              </a:rPr>
              <a:t>confidence</a:t>
            </a:r>
            <a:r>
              <a:rPr lang="cs-CZ" sz="1300" dirty="0">
                <a:latin typeface="Arial"/>
                <a:cs typeface="Arial"/>
              </a:rPr>
              <a:t> 0,712</a:t>
            </a:r>
          </a:p>
          <a:p>
            <a:pPr marL="170815" indent="-170815"/>
            <a:r>
              <a:rPr lang="cs-CZ" sz="1600" dirty="0">
                <a:latin typeface="Arial"/>
                <a:cs typeface="Arial"/>
              </a:rPr>
              <a:t>Interpretace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Vyšší rozpočet neznamená méně střeleb</a:t>
            </a:r>
            <a:endParaRPr lang="cs-CZ" sz="1400" dirty="0" err="1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Medium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cities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(střed): 63.5%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High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  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Large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cities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(velká): 28.9%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High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Hyperparameters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n_estimators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=100,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max_depth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=5,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min_samples_split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=30</a:t>
            </a: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Train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/test split: 70/30</a:t>
            </a:r>
          </a:p>
          <a:p>
            <a:pPr marL="170815" indent="-170815"/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Praktická aplikace:</a:t>
            </a:r>
            <a:endParaRPr lang="cs-CZ" sz="1600" b="1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Přesměrovat debatu z "kolik peněz" na "jak efektivně peníze využít"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181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F44F-796E-9BAF-82F4-2ACEAE7A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444950-3AE1-DC0F-75C3-F5992A2B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nálezy 2 - Rasové disparity u neozbrojených obětí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81DE58-5824-3DE3-5F27-C757ECCF2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dirty="0">
                <a:latin typeface="Arial"/>
                <a:ea typeface="+mj-ea"/>
                <a:cs typeface="Arial"/>
              </a:rPr>
              <a:t>Zjištění (SD4ft-Miner):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Black vs </a:t>
            </a:r>
            <a:r>
              <a:rPr lang="cs-CZ" sz="1300" dirty="0" err="1">
                <a:latin typeface="Arial"/>
                <a:cs typeface="Arial"/>
              </a:rPr>
              <a:t>White</a:t>
            </a:r>
            <a:r>
              <a:rPr lang="cs-CZ" sz="1300" dirty="0">
                <a:latin typeface="Arial"/>
                <a:cs typeface="Arial"/>
              </a:rPr>
              <a:t>: </a:t>
            </a:r>
            <a:r>
              <a:rPr lang="cs-CZ" sz="1300" dirty="0" err="1">
                <a:latin typeface="Arial"/>
                <a:cs typeface="Arial"/>
              </a:rPr>
              <a:t>RatioConf</a:t>
            </a:r>
            <a:r>
              <a:rPr lang="cs-CZ" sz="1300" dirty="0">
                <a:latin typeface="Arial"/>
                <a:cs typeface="Arial"/>
              </a:rPr>
              <a:t> = 1,310 (o 31% vyšší pravděpodobnost být neozbrojený)</a:t>
            </a: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 err="1">
                <a:latin typeface="Arial"/>
                <a:cs typeface="Arial"/>
              </a:rPr>
              <a:t>Hispanic</a:t>
            </a:r>
            <a:r>
              <a:rPr lang="cs-CZ" sz="1300" dirty="0">
                <a:latin typeface="Arial"/>
                <a:cs typeface="Arial"/>
              </a:rPr>
              <a:t> vs </a:t>
            </a:r>
            <a:r>
              <a:rPr lang="cs-CZ" sz="1300" dirty="0" err="1">
                <a:latin typeface="Arial"/>
                <a:cs typeface="Arial"/>
              </a:rPr>
              <a:t>White</a:t>
            </a:r>
            <a:r>
              <a:rPr lang="cs-CZ" sz="1300" dirty="0">
                <a:latin typeface="Arial"/>
                <a:cs typeface="Arial"/>
              </a:rPr>
              <a:t>: </a:t>
            </a:r>
            <a:r>
              <a:rPr lang="cs-CZ" sz="1300" dirty="0" err="1">
                <a:latin typeface="Arial"/>
                <a:cs typeface="Arial"/>
              </a:rPr>
              <a:t>RatioConf</a:t>
            </a:r>
            <a:r>
              <a:rPr lang="cs-CZ" sz="1300" dirty="0">
                <a:latin typeface="Arial"/>
                <a:cs typeface="Arial"/>
              </a:rPr>
              <a:t> = 1,418 (o 42% vyšší pravděpodobnost být neozbrojený)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 err="1">
                <a:latin typeface="Arial"/>
                <a:cs typeface="Arial"/>
              </a:rPr>
              <a:t>Chi</a:t>
            </a:r>
            <a:r>
              <a:rPr lang="cs-CZ" sz="1300" dirty="0">
                <a:latin typeface="Arial"/>
                <a:cs typeface="Arial"/>
              </a:rPr>
              <a:t>-square test potvrzuje statisticky významný vztah (p &lt; 0,01)</a:t>
            </a:r>
            <a:endParaRPr lang="cs-CZ" dirty="0"/>
          </a:p>
          <a:p>
            <a:pPr marL="170815" indent="-170815"/>
            <a:r>
              <a:rPr lang="cs-CZ" sz="1600" dirty="0">
                <a:latin typeface="Arial"/>
                <a:cs typeface="Arial"/>
              </a:rPr>
              <a:t>Interpretace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Černošské oběti: 12,4% neozbrojených</a:t>
            </a:r>
            <a:endParaRPr lang="cs-CZ" sz="1400" dirty="0" err="1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Hispánské oběti: 13,5% neozbrojených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Bílé oběti: 9,5% neozbrojených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Existují měřitelné rozdíly v tom, jak různé rasové skupiny končí jako oběti střeleb</a:t>
            </a:r>
          </a:p>
          <a:p>
            <a:pPr marL="170815" indent="-170815"/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Praktická aplikace:</a:t>
            </a:r>
            <a:endParaRPr lang="cs-CZ" sz="1600" b="1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Přezkoumat policejní procedury pro hodnocení hrozby</a:t>
            </a:r>
          </a:p>
          <a:p>
            <a:pPr marL="513715" lvl="1" indent="-170815"/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652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1787-364E-DB35-1540-A5BDC4981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B71D78-337F-A13C-1868-AD3B5CC5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nálezy 3 - Věk, rasa a duševní onemocnění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F58D0A-27FE-E413-1736-B5D934723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dirty="0">
                <a:latin typeface="Arial"/>
                <a:ea typeface="+mj-ea"/>
                <a:cs typeface="Arial"/>
              </a:rPr>
              <a:t>Zjištění (4ft-Miner):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 err="1">
                <a:latin typeface="Arial"/>
                <a:cs typeface="Arial"/>
              </a:rPr>
              <a:t>race_category</a:t>
            </a:r>
            <a:r>
              <a:rPr lang="cs-CZ" sz="1300" dirty="0">
                <a:latin typeface="Arial"/>
                <a:cs typeface="Arial"/>
              </a:rPr>
              <a:t>(</a:t>
            </a:r>
            <a:r>
              <a:rPr lang="cs-CZ" sz="1300" dirty="0" err="1">
                <a:latin typeface="Arial"/>
                <a:cs typeface="Arial"/>
              </a:rPr>
              <a:t>White</a:t>
            </a:r>
            <a:r>
              <a:rPr lang="cs-CZ" sz="1300" dirty="0">
                <a:latin typeface="Arial"/>
                <a:cs typeface="Arial"/>
              </a:rPr>
              <a:t>) &amp; </a:t>
            </a:r>
            <a:r>
              <a:rPr lang="cs-CZ" sz="1300" dirty="0" err="1">
                <a:latin typeface="Arial"/>
                <a:cs typeface="Arial"/>
              </a:rPr>
              <a:t>age_group</a:t>
            </a:r>
            <a:r>
              <a:rPr lang="cs-CZ" sz="1300" dirty="0">
                <a:latin typeface="Arial"/>
                <a:cs typeface="Arial"/>
              </a:rPr>
              <a:t>(Senior) =&gt; </a:t>
            </a:r>
            <a:r>
              <a:rPr lang="cs-CZ" sz="1300" dirty="0" err="1">
                <a:latin typeface="Arial"/>
                <a:cs typeface="Arial"/>
              </a:rPr>
              <a:t>mental_illness_flag</a:t>
            </a:r>
            <a:r>
              <a:rPr lang="cs-CZ" sz="1300" dirty="0">
                <a:latin typeface="Arial"/>
                <a:cs typeface="Arial"/>
              </a:rPr>
              <a:t>(</a:t>
            </a:r>
            <a:r>
              <a:rPr lang="cs-CZ" sz="1300" dirty="0" err="1">
                <a:latin typeface="Arial"/>
                <a:cs typeface="Arial"/>
              </a:rPr>
              <a:t>Yes</a:t>
            </a:r>
            <a:r>
              <a:rPr lang="cs-CZ" sz="1300" dirty="0">
                <a:latin typeface="Arial"/>
                <a:cs typeface="Arial"/>
              </a:rPr>
              <a:t>)</a:t>
            </a:r>
            <a:endParaRPr lang="cs-CZ" sz="1300" dirty="0"/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sz="1000" dirty="0" err="1">
                <a:latin typeface="Arial"/>
                <a:cs typeface="Arial"/>
              </a:rPr>
              <a:t>Confidence</a:t>
            </a:r>
            <a:r>
              <a:rPr lang="cs-CZ" sz="1000" dirty="0">
                <a:latin typeface="Arial"/>
                <a:cs typeface="Arial"/>
              </a:rPr>
              <a:t>: 38,3%, AAD: +102,2% (více než 2x průměr)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 err="1">
                <a:latin typeface="Arial"/>
                <a:cs typeface="Arial"/>
              </a:rPr>
              <a:t>Chi</a:t>
            </a:r>
            <a:r>
              <a:rPr lang="cs-CZ" sz="1300" dirty="0">
                <a:latin typeface="Arial"/>
                <a:cs typeface="Arial"/>
              </a:rPr>
              <a:t>-square: Věk vs duševní onemocnění p = 0,0008 (vysoce signifikantní)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Senioři celkově: 27,6% s duševním onemocněním vs 18,9% průměr</a:t>
            </a:r>
            <a:endParaRPr lang="cs-CZ" dirty="0"/>
          </a:p>
          <a:p>
            <a:pPr marL="170815" indent="-170815"/>
            <a:r>
              <a:rPr lang="cs-CZ" sz="1600" dirty="0">
                <a:latin typeface="Arial"/>
                <a:cs typeface="Arial"/>
              </a:rPr>
              <a:t>Interpretace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Starší běloši s duševním onemocněním představují specifickou rizikovou skupinu</a:t>
            </a:r>
            <a:endParaRPr lang="cs-CZ" sz="1400" dirty="0" err="1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Hispánské oběti: 13,5% neozbrojených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Bílé oběti: 9,5% neozbrojených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Existují měřitelné rozdíly v tom, jak různé rasové skupiny končí jako oběti střeleb</a:t>
            </a:r>
          </a:p>
          <a:p>
            <a:pPr marL="170815" indent="-170815"/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Praktická aplikace:</a:t>
            </a:r>
            <a:endParaRPr lang="cs-CZ" sz="1600" b="1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Vytvořit specializované jednotky pro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mental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health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crisis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(CIT </a:t>
            </a:r>
            <a:r>
              <a:rPr lang="cs-CZ" sz="1400" err="1">
                <a:solidFill>
                  <a:srgbClr val="000000"/>
                </a:solidFill>
                <a:latin typeface="Arial"/>
                <a:cs typeface="Arial"/>
              </a:rPr>
              <a:t>teams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Prioritní zavedení v oblastech s vyšším podílem seniorské populace</a:t>
            </a:r>
          </a:p>
          <a:p>
            <a:pPr marL="513715" lvl="1" indent="-170815"/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45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FF981-ED7E-837C-6731-9545B21D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329213-1EFF-E97F-C85B-D58DBDC87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Klíčové nálezy 4 - Velikost města a relativní míra střeleb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0194A5-E198-A8F7-0375-E4812A9F0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dirty="0">
                <a:latin typeface="Arial"/>
                <a:ea typeface="+mj-ea"/>
                <a:cs typeface="Arial"/>
              </a:rPr>
              <a:t>Zjištění:</a:t>
            </a:r>
            <a:endParaRPr lang="cs-CZ" dirty="0">
              <a:ea typeface="+mj-ea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 err="1">
                <a:latin typeface="Arial"/>
                <a:cs typeface="Arial"/>
              </a:rPr>
              <a:t>Chi</a:t>
            </a:r>
            <a:r>
              <a:rPr lang="cs-CZ" sz="1300" dirty="0">
                <a:latin typeface="Arial"/>
                <a:cs typeface="Arial"/>
              </a:rPr>
              <a:t>-square: p &lt; 0,000001, </a:t>
            </a:r>
            <a:r>
              <a:rPr lang="cs-CZ" sz="1300" dirty="0" err="1">
                <a:latin typeface="Arial"/>
                <a:cs typeface="Arial"/>
              </a:rPr>
              <a:t>Cramer's</a:t>
            </a:r>
            <a:r>
              <a:rPr lang="cs-CZ" sz="1300" dirty="0">
                <a:latin typeface="Arial"/>
                <a:cs typeface="Arial"/>
              </a:rPr>
              <a:t> V = 0,2357 (nejsilnější nalezený vztah!)</a:t>
            </a: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Malá města: 61,2% v kategorii </a:t>
            </a:r>
            <a:r>
              <a:rPr lang="cs-CZ" sz="1300" dirty="0" err="1">
                <a:latin typeface="Arial"/>
                <a:cs typeface="Arial"/>
              </a:rPr>
              <a:t>High_Rate</a:t>
            </a:r>
            <a:endParaRPr lang="cs-CZ" sz="1300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Střední města: 63,5% v kategorii </a:t>
            </a:r>
            <a:r>
              <a:rPr lang="cs-CZ" sz="1300" dirty="0" err="1">
                <a:latin typeface="Arial"/>
                <a:cs typeface="Arial"/>
              </a:rPr>
              <a:t>High_Rate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Velká města: 28,9% v kategorii </a:t>
            </a:r>
            <a:r>
              <a:rPr lang="cs-CZ" sz="1300" dirty="0" err="1">
                <a:latin typeface="Arial"/>
                <a:cs typeface="Arial"/>
              </a:rPr>
              <a:t>High_Rate</a:t>
            </a:r>
            <a:endParaRPr lang="cs-CZ" sz="1300">
              <a:latin typeface="Arial"/>
              <a:cs typeface="Arial"/>
            </a:endParaRPr>
          </a:p>
          <a:p>
            <a:pPr marL="170815" indent="-170815"/>
            <a:r>
              <a:rPr lang="cs-CZ" sz="1600" dirty="0">
                <a:latin typeface="Arial"/>
                <a:cs typeface="Arial"/>
              </a:rPr>
              <a:t>Interpretace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Menší města mají výrazně vyšší relativní míru střeleb (per 100k obyvatel)</a:t>
            </a:r>
            <a:endParaRPr lang="cs-CZ" sz="1400" dirty="0" err="1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Velká města mají více incidentů absolutně, ale lepší poměr k populaci</a:t>
            </a:r>
            <a:endParaRPr lang="cs-CZ" dirty="0"/>
          </a:p>
          <a:p>
            <a:pPr marL="170815" indent="-170815"/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Praktická aplikace:</a:t>
            </a:r>
            <a:endParaRPr lang="cs-CZ" sz="1600" b="1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Cílit preventivní programy na malá a střední města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Sdílení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best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practices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z velkých měst</a:t>
            </a:r>
          </a:p>
          <a:p>
            <a:pPr marL="513715" lvl="1" indent="-170815"/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779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BC147-726F-D0AE-7539-C21EA9AF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BF97C1-39EE-475C-DBE5-F96E834E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Klíčové nálezy 5 – Body kamery paradox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0B7510-06E3-D0C1-4D0B-C4BC8E1D4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dirty="0">
                <a:latin typeface="Arial"/>
                <a:ea typeface="+mj-ea"/>
                <a:cs typeface="Arial"/>
              </a:rPr>
              <a:t>Zjištění:</a:t>
            </a:r>
            <a:endParaRPr lang="cs-CZ" dirty="0">
              <a:ea typeface="+mj-ea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SD4ft-Miner: Medium &gt; </a:t>
            </a:r>
            <a:r>
              <a:rPr lang="cs-CZ" sz="1300" dirty="0" err="1">
                <a:latin typeface="Arial"/>
                <a:cs typeface="Arial"/>
              </a:rPr>
              <a:t>Large</a:t>
            </a:r>
            <a:r>
              <a:rPr lang="cs-CZ" sz="1300" dirty="0">
                <a:latin typeface="Arial"/>
                <a:cs typeface="Arial"/>
              </a:rPr>
              <a:t> &gt; </a:t>
            </a:r>
            <a:r>
              <a:rPr lang="cs-CZ" sz="1300" dirty="0" err="1">
                <a:latin typeface="Arial"/>
                <a:cs typeface="Arial"/>
              </a:rPr>
              <a:t>Small</a:t>
            </a:r>
            <a:r>
              <a:rPr lang="cs-CZ" sz="1300" dirty="0">
                <a:latin typeface="Arial"/>
                <a:cs typeface="Arial"/>
              </a:rPr>
              <a:t> v používání body kamer</a:t>
            </a: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Medium vs </a:t>
            </a:r>
            <a:r>
              <a:rPr lang="cs-CZ" sz="1300" dirty="0" err="1">
                <a:latin typeface="Arial"/>
                <a:cs typeface="Arial"/>
              </a:rPr>
              <a:t>Small</a:t>
            </a:r>
            <a:r>
              <a:rPr lang="cs-CZ" sz="1300" dirty="0">
                <a:latin typeface="Arial"/>
                <a:cs typeface="Arial"/>
              </a:rPr>
              <a:t>: </a:t>
            </a:r>
            <a:r>
              <a:rPr lang="cs-CZ" sz="1300" dirty="0" err="1">
                <a:latin typeface="Arial"/>
                <a:cs typeface="Arial"/>
              </a:rPr>
              <a:t>RatioConf</a:t>
            </a:r>
            <a:r>
              <a:rPr lang="cs-CZ" sz="1300" dirty="0">
                <a:latin typeface="Arial"/>
                <a:cs typeface="Arial"/>
              </a:rPr>
              <a:t> = 1,322 (o 32% vyšší používání)</a:t>
            </a: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 err="1">
                <a:latin typeface="Arial"/>
                <a:cs typeface="Arial"/>
              </a:rPr>
              <a:t>Chi</a:t>
            </a:r>
            <a:r>
              <a:rPr lang="cs-CZ" sz="1300" dirty="0">
                <a:latin typeface="Arial"/>
                <a:cs typeface="Arial"/>
              </a:rPr>
              <a:t>-square: Budget vs Body </a:t>
            </a:r>
            <a:r>
              <a:rPr lang="cs-CZ" sz="1300" dirty="0" err="1">
                <a:latin typeface="Arial"/>
                <a:cs typeface="Arial"/>
              </a:rPr>
              <a:t>Camera</a:t>
            </a:r>
            <a:r>
              <a:rPr lang="cs-CZ" sz="1300" dirty="0">
                <a:latin typeface="Arial"/>
                <a:cs typeface="Arial"/>
              </a:rPr>
              <a:t> p = 0,0054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Překvapivě: </a:t>
            </a:r>
            <a:r>
              <a:rPr lang="cs-CZ" sz="1300" dirty="0" err="1">
                <a:latin typeface="Arial"/>
                <a:cs typeface="Arial"/>
              </a:rPr>
              <a:t>Low_Budget</a:t>
            </a:r>
            <a:r>
              <a:rPr lang="cs-CZ" sz="1300" dirty="0">
                <a:latin typeface="Arial"/>
                <a:cs typeface="Arial"/>
              </a:rPr>
              <a:t> města mají 18% body </a:t>
            </a:r>
            <a:r>
              <a:rPr lang="cs-CZ" sz="1300" dirty="0" err="1">
                <a:latin typeface="Arial"/>
                <a:cs typeface="Arial"/>
              </a:rPr>
              <a:t>camera</a:t>
            </a:r>
            <a:r>
              <a:rPr lang="cs-CZ" sz="1300" dirty="0">
                <a:latin typeface="Arial"/>
                <a:cs typeface="Arial"/>
              </a:rPr>
              <a:t> </a:t>
            </a:r>
            <a:r>
              <a:rPr lang="cs-CZ" sz="1300" dirty="0" err="1">
                <a:latin typeface="Arial"/>
                <a:cs typeface="Arial"/>
              </a:rPr>
              <a:t>rate</a:t>
            </a:r>
            <a:r>
              <a:rPr lang="cs-CZ" sz="1300" dirty="0">
                <a:latin typeface="Arial"/>
                <a:cs typeface="Arial"/>
              </a:rPr>
              <a:t> vs </a:t>
            </a:r>
            <a:r>
              <a:rPr lang="cs-CZ" sz="1300" dirty="0" err="1">
                <a:latin typeface="Arial"/>
                <a:cs typeface="Arial"/>
              </a:rPr>
              <a:t>High_Budget</a:t>
            </a:r>
            <a:r>
              <a:rPr lang="cs-CZ" sz="1300" dirty="0">
                <a:latin typeface="Arial"/>
                <a:cs typeface="Arial"/>
              </a:rPr>
              <a:t> 10%</a:t>
            </a:r>
          </a:p>
          <a:p>
            <a:pPr marL="170815" indent="-170815"/>
            <a:r>
              <a:rPr lang="cs-CZ" sz="1600" dirty="0">
                <a:latin typeface="Arial"/>
                <a:cs typeface="Arial"/>
              </a:rPr>
              <a:t>Interpretace</a:t>
            </a:r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Vyšší rozpočet automaticky neznamená více technologií</a:t>
            </a:r>
            <a:endParaRPr lang="cs-CZ" sz="1400" dirty="0" err="1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Střední města možná více motivována implementovat body kamery</a:t>
            </a:r>
            <a:endParaRPr lang="cs-CZ" dirty="0"/>
          </a:p>
          <a:p>
            <a:pPr marL="170815" indent="-170815"/>
            <a:r>
              <a:rPr lang="cs-CZ" sz="1600" dirty="0">
                <a:solidFill>
                  <a:srgbClr val="000000"/>
                </a:solidFill>
                <a:latin typeface="Arial"/>
                <a:cs typeface="Arial"/>
              </a:rPr>
              <a:t>Praktická aplikace:</a:t>
            </a:r>
            <a:endParaRPr lang="cs-CZ" sz="1600" b="1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Mandatorní body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camera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policies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bez ohledu na rozpočet</a:t>
            </a:r>
          </a:p>
          <a:p>
            <a:pPr marL="513715" lvl="1" indent="-170815"/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Analyzovat, zda přítomnost body kamer ovlivňuje </a:t>
            </a:r>
            <a:r>
              <a:rPr lang="cs-CZ" sz="1400" dirty="0" err="1">
                <a:solidFill>
                  <a:srgbClr val="000000"/>
                </a:solidFill>
                <a:latin typeface="Arial"/>
                <a:cs typeface="Arial"/>
              </a:rPr>
              <a:t>outcome</a:t>
            </a:r>
            <a:r>
              <a:rPr lang="cs-CZ" sz="1400" dirty="0">
                <a:solidFill>
                  <a:srgbClr val="000000"/>
                </a:solidFill>
                <a:latin typeface="Arial"/>
                <a:cs typeface="Arial"/>
              </a:rPr>
              <a:t> incidentů</a:t>
            </a:r>
          </a:p>
          <a:p>
            <a:pPr marL="513715" lvl="1" indent="-170815"/>
            <a:endParaRPr lang="cs-CZ" sz="1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4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138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Úvodní sníme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EFCF83D5-7C28-494A-9D09-A3FDE4EA5435}"/>
    </a:ext>
  </a:extLst>
</a:theme>
</file>

<file path=ppt/theme/theme2.xml><?xml version="1.0" encoding="utf-8"?>
<a:theme xmlns:a="http://schemas.openxmlformats.org/drawingml/2006/main" name="Mezititulek / Závě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0719A898-E866-4DE1-A0C7-6673E2DE6ACC}"/>
    </a:ext>
  </a:extLst>
</a:theme>
</file>

<file path=ppt/theme/theme3.xml><?xml version="1.0" encoding="utf-8"?>
<a:theme xmlns:a="http://schemas.openxmlformats.org/drawingml/2006/main" name="Běžné stránk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5F4265E7-B574-4FDE-A297-F5250285698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e71cfb-81ed-4b9d-9a1f-cae1a72b62ba">
      <Terms xmlns="http://schemas.microsoft.com/office/infopath/2007/PartnerControls"/>
    </lcf76f155ced4ddcb4097134ff3c332f>
    <TaxCatchAll xmlns="184be059-f9c1-47a1-baeb-6b78fb5c2cd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5EAD61CDED85140BF5B934B48DD3484" ma:contentTypeVersion="15" ma:contentTypeDescription="Vytvoří nový dokument" ma:contentTypeScope="" ma:versionID="57c7acc678d4da0b8ba39acd8e916ed2">
  <xsd:schema xmlns:xsd="http://www.w3.org/2001/XMLSchema" xmlns:xs="http://www.w3.org/2001/XMLSchema" xmlns:p="http://schemas.microsoft.com/office/2006/metadata/properties" xmlns:ns2="7fe71cfb-81ed-4b9d-9a1f-cae1a72b62ba" xmlns:ns3="184be059-f9c1-47a1-baeb-6b78fb5c2cd7" targetNamespace="http://schemas.microsoft.com/office/2006/metadata/properties" ma:root="true" ma:fieldsID="00b82b4a7cf6d93894e416bb4502bf8f" ns2:_="" ns3:_="">
    <xsd:import namespace="7fe71cfb-81ed-4b9d-9a1f-cae1a72b62ba"/>
    <xsd:import namespace="184be059-f9c1-47a1-baeb-6b78fb5c2c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71cfb-81ed-4b9d-9a1f-cae1a72b62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Značky obrázků" ma:readOnly="false" ma:fieldId="{5cf76f15-5ced-4ddc-b409-7134ff3c332f}" ma:taxonomyMulti="true" ma:sspId="babb5542-b20f-476f-b885-dfe2db771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be059-f9c1-47a1-baeb-6b78fb5c2c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e9b24e3-0751-412a-b275-2d618e008197}" ma:internalName="TaxCatchAll" ma:showField="CatchAllData" ma:web="184be059-f9c1-47a1-baeb-6b78fb5c2c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DE5107-EA5C-49BC-849B-82F30D30C53B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184be059-f9c1-47a1-baeb-6b78fb5c2cd7"/>
    <ds:schemaRef ds:uri="http://www.w3.org/XML/1998/namespace"/>
    <ds:schemaRef ds:uri="http://purl.org/dc/terms/"/>
    <ds:schemaRef ds:uri="7fe71cfb-81ed-4b9d-9a1f-cae1a72b62ba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8CD9D9D-7B9F-4443-A564-98662DD489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e71cfb-81ed-4b9d-9a1f-cae1a72b62ba"/>
    <ds:schemaRef ds:uri="184be059-f9c1-47a1-baeb-6b78fb5c2c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2259C9-B307-4FF4-B7D2-DAD5D3FFF0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 a IMES_obhajoba_new</Template>
  <TotalTime>789</TotalTime>
  <Words>579</Words>
  <Application>Microsoft Office PowerPoint</Application>
  <PresentationFormat>Předvádění na obrazovce (4:3)</PresentationFormat>
  <Paragraphs>127</Paragraphs>
  <Slides>64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3</vt:i4>
      </vt:variant>
      <vt:variant>
        <vt:lpstr>Nadpisy snímků</vt:lpstr>
      </vt:variant>
      <vt:variant>
        <vt:i4>64</vt:i4>
      </vt:variant>
    </vt:vector>
  </HeadingPairs>
  <TitlesOfParts>
    <vt:vector size="67" baseType="lpstr">
      <vt:lpstr>Úvodní snímek</vt:lpstr>
      <vt:lpstr>Mezititulek / Závěr</vt:lpstr>
      <vt:lpstr>Běžné stránky</vt:lpstr>
      <vt:lpstr>Analýza vztahu mezi rozpočty měst na policii a počtem policejních střeleb v USA</vt:lpstr>
      <vt:lpstr>Popis řešené oblasti</vt:lpstr>
      <vt:lpstr>Popis dat</vt:lpstr>
      <vt:lpstr>Obecně řešená problematika </vt:lpstr>
      <vt:lpstr>Cíle analýzy</vt:lpstr>
      <vt:lpstr>Způsob řešení otázek pro data science</vt:lpstr>
      <vt:lpstr>Rámcové profily dat</vt:lpstr>
      <vt:lpstr>Prezentace aplikace PowerPoint</vt:lpstr>
      <vt:lpstr>Prezentace aplikace PowerPoint</vt:lpstr>
      <vt:lpstr>Datový model a ETL pipeline - Obsah sekce</vt:lpstr>
      <vt:lpstr>Návrh datového modelu - Entity Relationship Diagram (ERD)</vt:lpstr>
      <vt:lpstr>Návrh datového modelu – Relationship detail</vt:lpstr>
      <vt:lpstr>Vztah mezi tabulkami</vt:lpstr>
      <vt:lpstr>Charakteristika datového modelu</vt:lpstr>
      <vt:lpstr>Prezentace aplikace PowerPoint</vt:lpstr>
      <vt:lpstr>Prezentace aplikace PowerPoint</vt:lpstr>
      <vt:lpstr>Popis vrstev architektury – 1/2</vt:lpstr>
      <vt:lpstr>Popis vrstev architektury – 2/2</vt:lpstr>
      <vt:lpstr>Workflow zpracování dat - ETL Pipeline (detailní kroky)</vt:lpstr>
      <vt:lpstr>Workflow zpracování dat - ETL Pipeline (detailní kroky)</vt:lpstr>
      <vt:lpstr>Workflow zpracování dat - ETL Pipeline (detailní kroky)</vt:lpstr>
      <vt:lpstr>Workflow zpracování dat - ETL Pipeline (detailní kroky)</vt:lpstr>
      <vt:lpstr>Souhrn SQL transformací v BigQuery</vt:lpstr>
      <vt:lpstr>Grafický návrh PowerBI reportu</vt:lpstr>
      <vt:lpstr>Klíčové problémy při návrhu procesu zpracování dat 1/7</vt:lpstr>
      <vt:lpstr>Klíčové problémy při návrhu procesu zpracování dat 2/7</vt:lpstr>
      <vt:lpstr>Klíčové problémy při návrhu procesu zpracování dat 3/7</vt:lpstr>
      <vt:lpstr>Klíčové problémy při návrhu procesu zpracování dat 4/7</vt:lpstr>
      <vt:lpstr>Klíčové problémy při návrhu procesu zpracování dat 5/7</vt:lpstr>
      <vt:lpstr>Klíčové problémy při návrhu procesu zpracování dat 6/7 - 2/2</vt:lpstr>
      <vt:lpstr>Klíčové problémy při návrhu procesu zpracování dat 6/7 - 2/2</vt:lpstr>
      <vt:lpstr>Klíčové problémy při návrhu procesu zpracování dat 7/7</vt:lpstr>
      <vt:lpstr>Závěry BI analýzy - 1/2 </vt:lpstr>
      <vt:lpstr>Závěry BI analýzy - 2/2 </vt:lpstr>
      <vt:lpstr>Seznam analytických otázek navazujících na BI analýzu - 1/3</vt:lpstr>
      <vt:lpstr>Seznam analytických otázek navazujících na BI analýzu - 2/3</vt:lpstr>
      <vt:lpstr>Seznam analytických otázek navazujících na BI analýzu - 3/3</vt:lpstr>
      <vt:lpstr>Analytická otázka 1 - Statistická významnost demografických vztahů</vt:lpstr>
      <vt:lpstr>Analytická otázka 2 - Asociační pravidla pro duševní onemocnění</vt:lpstr>
      <vt:lpstr>Analytická otázka 3 - Faktory vysoké míry střelby</vt:lpstr>
      <vt:lpstr>Analytická otázka 4 - Distribuce typu zbraně podle rasy</vt:lpstr>
      <vt:lpstr>Analytická otázka 5 - Věková struktura podle velikosti města</vt:lpstr>
      <vt:lpstr>Analytická otázka 6 - Rozdíly v použití body kamer</vt:lpstr>
      <vt:lpstr>Analytická otázka 7 - Rasové rozdíly v neozbrojených obětech</vt:lpstr>
      <vt:lpstr>Analytická otázka 8 - Prediktivní model pro typ oběti</vt:lpstr>
      <vt:lpstr>Analytická otázka 9 - Feature importance pro vysokou míru střelby</vt:lpstr>
      <vt:lpstr>Souhrn - Mapování otázek na metody</vt:lpstr>
      <vt:lpstr>Úloha 1 - Vztah rasy a typu zbraně</vt:lpstr>
      <vt:lpstr>Úloha 2 - Věk a duševní onemocnění</vt:lpstr>
      <vt:lpstr>Úloha 3 - Velikost města a míra střelby</vt:lpstr>
      <vt:lpstr>Úloha 4 - Rozpočet policie a body kamery</vt:lpstr>
      <vt:lpstr>Úloha 5 - Rasa a míra střelby v městech</vt:lpstr>
      <vt:lpstr>Úloha 6 - 4ft-Miner: Duševní onemocnění</vt:lpstr>
      <vt:lpstr>Úloha 7 - 4ft-Miner: Faktory vysoké míry střelby</vt:lpstr>
      <vt:lpstr>Úloha 8 - CF-Miner: Distribuce zbraní podle rasy</vt:lpstr>
      <vt:lpstr>Úloha 9 - CF-Miner: Věk podle velikosti města</vt:lpstr>
      <vt:lpstr>Úloha 10 - SD4ft-Miner: Body kamery mezi městy</vt:lpstr>
      <vt:lpstr>Úloha 11 - SD4ft-Miner: Rasové rozdíly v unarmed</vt:lpstr>
      <vt:lpstr>Úloha 12 - Random Forest: Feature Importance</vt:lpstr>
      <vt:lpstr>Klíčové nálezy 1 - Paradox policejního rozpočtu</vt:lpstr>
      <vt:lpstr>Klíčové nálezy 2 - Rasové disparity u neozbrojených obětí</vt:lpstr>
      <vt:lpstr>Klíčové nálezy 3 - Věk, rasa a duševní onemocnění</vt:lpstr>
      <vt:lpstr>Klíčové nálezy 4 - Velikost města a relativní míra střeleb</vt:lpstr>
      <vt:lpstr>Klíčové nálezy 5 – Body kamery paradox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amet, consectetuer adipiscing elit. Etiam commodo dui eget wisi.</dc:title>
  <dc:creator>Martina Jandová</dc:creator>
  <cp:lastModifiedBy>Hana Žahourová</cp:lastModifiedBy>
  <cp:revision>1997</cp:revision>
  <dcterms:created xsi:type="dcterms:W3CDTF">2021-03-30T17:50:31Z</dcterms:created>
  <dcterms:modified xsi:type="dcterms:W3CDTF">2026-01-23T17:06:16Z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0x010100A5EAD61CDED85140BF5B934B48DD3484</vt:lpwstr>
  </property>
</Properties>
</file>