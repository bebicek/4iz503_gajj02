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slideLayouts/slideLayout15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4"/>
    <p:sldMasterId id="2147483676" r:id="rId5"/>
    <p:sldMasterId id="2147483662" r:id="rId6"/>
    <p:sldMasterId id="2147483679" r:id="rId7"/>
  </p:sldMasterIdLst>
  <p:notesMasterIdLst>
    <p:notesMasterId r:id="rId25"/>
  </p:notesMasterIdLst>
  <p:sldIdLst>
    <p:sldId id="263" r:id="rId8"/>
    <p:sldId id="284" r:id="rId9"/>
    <p:sldId id="279" r:id="rId10"/>
    <p:sldId id="277" r:id="rId11"/>
    <p:sldId id="353" r:id="rId12"/>
    <p:sldId id="354" r:id="rId13"/>
    <p:sldId id="355" r:id="rId14"/>
    <p:sldId id="320" r:id="rId15"/>
    <p:sldId id="321" r:id="rId16"/>
    <p:sldId id="347" r:id="rId17"/>
    <p:sldId id="349" r:id="rId18"/>
    <p:sldId id="350" r:id="rId19"/>
    <p:sldId id="351" r:id="rId20"/>
    <p:sldId id="269" r:id="rId21"/>
    <p:sldId id="291" r:id="rId22"/>
    <p:sldId id="289" r:id="rId23"/>
    <p:sldId id="270" r:id="rId24"/>
  </p:sldIdLst>
  <p:sldSz cx="9144000" cy="6858000" type="screen4x3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4E9F6E1-0CCD-A329-5A98-6923FCA298F6}" name="Josef Gajda" initials="JG" userId="S::gajj02@vse.cz::62354765-72cf-499b-b531-3c23b95cf57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881"/>
    <a:srgbClr val="B5EAE0"/>
    <a:srgbClr val="89F7E2"/>
    <a:srgbClr val="9AE8F4"/>
    <a:srgbClr val="00659B"/>
    <a:srgbClr val="BDE7FF"/>
    <a:srgbClr val="EB6608"/>
    <a:srgbClr val="FDE2CF"/>
    <a:srgbClr val="D6C2D6"/>
    <a:srgbClr val="F0C2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E29EE4-5BE5-7234-FEE2-20FCDDD880B6}" v="414" dt="2026-01-28T22:59:20.2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Medium Style 3 –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–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–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8FB837D-C827-4EFA-A057-4D05807E0F7C}" styleName="Themed Style 1 –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Světlý styl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03447BB-5D67-496B-8E87-E561075AD55C}" styleName="Tmavý styl 1 – zvýraznění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Střední styl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Tmavý styl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7E9639D4-E3E2-4D34-9284-5A2195B3D0D7}" styleName="Světlý styl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Světlý styl 2 – zvýraznění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EC20E35-A176-4012-BC5E-935CFFF8708E}" styleName="Střední styl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Střední styl 3 – zvýraznění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Světlý styl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558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13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List_Microsoft_Excelu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cs-CZ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layout>
        <c:manualLayout>
          <c:xMode val="edge"/>
          <c:yMode val="edge"/>
          <c:x val="6.7578487579540367E-2"/>
          <c:y val="3.065718843246516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cs-CZ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List1!$B$1</c:f>
              <c:strCache>
                <c:ptCount val="1"/>
                <c:pt idx="0">
                  <c:v>Řada 1</c:v>
                </c:pt>
              </c:strCache>
            </c:strRef>
          </c:tx>
          <c:spPr>
            <a:solidFill>
              <a:srgbClr val="009EE2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F38-46D1-B2F1-B76DBFE9E6A2}"/>
            </c:ext>
          </c:extLst>
        </c:ser>
        <c:ser>
          <c:idx val="1"/>
          <c:order val="1"/>
          <c:tx>
            <c:strRef>
              <c:f>List1!$C$1</c:f>
              <c:strCache>
                <c:ptCount val="1"/>
                <c:pt idx="0">
                  <c:v>Řada 2</c:v>
                </c:pt>
              </c:strCache>
            </c:strRef>
          </c:tx>
          <c:spPr>
            <a:solidFill>
              <a:srgbClr val="B10062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F38-46D1-B2F1-B76DBFE9E6A2}"/>
            </c:ext>
          </c:extLst>
        </c:ser>
        <c:ser>
          <c:idx val="2"/>
          <c:order val="2"/>
          <c:tx>
            <c:strRef>
              <c:f>List1!$D$1</c:f>
              <c:strCache>
                <c:ptCount val="1"/>
                <c:pt idx="0">
                  <c:v>Řada 3</c:v>
                </c:pt>
              </c:strCache>
            </c:strRef>
          </c:tx>
          <c:spPr>
            <a:solidFill>
              <a:srgbClr val="EB6608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F38-46D1-B2F1-B76DBFE9E6A2}"/>
            </c:ext>
          </c:extLst>
        </c:ser>
        <c:ser>
          <c:idx val="3"/>
          <c:order val="3"/>
          <c:tx>
            <c:strRef>
              <c:f>List1!$E$1</c:f>
              <c:strCache>
                <c:ptCount val="1"/>
                <c:pt idx="0">
                  <c:v>Řada 4</c:v>
                </c:pt>
              </c:strCache>
            </c:strRef>
          </c:tx>
          <c:spPr>
            <a:solidFill>
              <a:srgbClr val="00659B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List1!$E$2:$E$5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A67-4343-BFC8-39C31FD3D7F6}"/>
            </c:ext>
          </c:extLst>
        </c:ser>
        <c:ser>
          <c:idx val="4"/>
          <c:order val="4"/>
          <c:tx>
            <c:strRef>
              <c:f>List1!$F$1</c:f>
              <c:strCache>
                <c:ptCount val="1"/>
                <c:pt idx="0">
                  <c:v>Řada 5</c:v>
                </c:pt>
              </c:strCache>
            </c:strRef>
          </c:tx>
          <c:spPr>
            <a:solidFill>
              <a:srgbClr val="009881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List1!$F$2:$F$5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A67-4343-BFC8-39C31FD3D7F6}"/>
            </c:ext>
          </c:extLst>
        </c:ser>
        <c:ser>
          <c:idx val="5"/>
          <c:order val="5"/>
          <c:tx>
            <c:strRef>
              <c:f>List1!$G$1</c:f>
              <c:strCache>
                <c:ptCount val="1"/>
                <c:pt idx="0">
                  <c:v>Řada 6</c:v>
                </c:pt>
              </c:strCache>
            </c:strRef>
          </c:tx>
          <c:spPr>
            <a:solidFill>
              <a:srgbClr val="5BC4F1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List1!$G$2:$G$5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A67-4343-BFC8-39C31FD3D7F6}"/>
            </c:ext>
          </c:extLst>
        </c:ser>
        <c:ser>
          <c:idx val="6"/>
          <c:order val="6"/>
          <c:tx>
            <c:strRef>
              <c:f>List1!$H$1</c:f>
              <c:strCache>
                <c:ptCount val="1"/>
                <c:pt idx="0">
                  <c:v>Řada 13</c:v>
                </c:pt>
              </c:strCache>
            </c:strRef>
          </c:tx>
          <c:spPr>
            <a:solidFill>
              <a:srgbClr val="E73088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List1!$H$2:$H$5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A67-4343-BFC8-39C31FD3D7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36283247"/>
        <c:axId val="336943279"/>
      </c:barChart>
      <c:catAx>
        <c:axId val="33628324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cs-CZ"/>
          </a:p>
        </c:txPr>
        <c:crossAx val="336943279"/>
        <c:crosses val="autoZero"/>
        <c:auto val="1"/>
        <c:lblAlgn val="ctr"/>
        <c:lblOffset val="100"/>
        <c:noMultiLvlLbl val="0"/>
      </c:catAx>
      <c:valAx>
        <c:axId val="33694327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cs-CZ"/>
          </a:p>
        </c:txPr>
        <c:crossAx val="33628324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cs-CZ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cs-CZ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CF4301-3CC6-4983-B462-8AF48983D35B}" type="datetimeFigureOut">
              <a:t>28.01.2026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D7887F-6850-4035-AC54-18CAEC2670FC}" type="slidenum"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32471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Cílem</a:t>
            </a:r>
            <a:r>
              <a:rPr lang="en-US" dirty="0"/>
              <a:t> </a:t>
            </a:r>
            <a:r>
              <a:rPr lang="en-US" dirty="0" err="1"/>
              <a:t>projektu</a:t>
            </a:r>
            <a:r>
              <a:rPr lang="en-US" dirty="0"/>
              <a:t> </a:t>
            </a:r>
            <a:r>
              <a:rPr lang="en-US" dirty="0" err="1"/>
              <a:t>bylo</a:t>
            </a:r>
            <a:r>
              <a:rPr lang="en-US" dirty="0"/>
              <a:t> </a:t>
            </a:r>
            <a:r>
              <a:rPr lang="en-US" dirty="0" err="1"/>
              <a:t>analyzovat</a:t>
            </a:r>
            <a:r>
              <a:rPr lang="en-US" dirty="0"/>
              <a:t> </a:t>
            </a:r>
            <a:r>
              <a:rPr lang="en-US" dirty="0" err="1"/>
              <a:t>faktory</a:t>
            </a:r>
            <a:r>
              <a:rPr lang="en-US" dirty="0"/>
              <a:t> </a:t>
            </a:r>
            <a:r>
              <a:rPr lang="en-US" dirty="0" err="1"/>
              <a:t>ovlivňující</a:t>
            </a:r>
            <a:r>
              <a:rPr lang="en-US" dirty="0"/>
              <a:t> </a:t>
            </a:r>
            <a:r>
              <a:rPr lang="en-US" dirty="0" err="1"/>
              <a:t>četnost</a:t>
            </a:r>
            <a:r>
              <a:rPr lang="en-US" dirty="0"/>
              <a:t> a </a:t>
            </a:r>
            <a:r>
              <a:rPr lang="en-US" dirty="0" err="1"/>
              <a:t>geografické</a:t>
            </a:r>
            <a:r>
              <a:rPr lang="en-US" dirty="0"/>
              <a:t> </a:t>
            </a:r>
            <a:r>
              <a:rPr lang="en-US" dirty="0" err="1"/>
              <a:t>rozložení</a:t>
            </a:r>
            <a:r>
              <a:rPr lang="en-US" dirty="0"/>
              <a:t> </a:t>
            </a:r>
            <a:r>
              <a:rPr lang="en-US" dirty="0" err="1"/>
              <a:t>policejních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 v USA. </a:t>
            </a:r>
            <a:r>
              <a:rPr lang="en-US" dirty="0" err="1"/>
              <a:t>Klíčovou</a:t>
            </a:r>
            <a:r>
              <a:rPr lang="en-US" dirty="0"/>
              <a:t> </a:t>
            </a:r>
            <a:r>
              <a:rPr lang="en-US" dirty="0" err="1"/>
              <a:t>otázkou</a:t>
            </a:r>
            <a:r>
              <a:rPr lang="en-US" dirty="0"/>
              <a:t> </a:t>
            </a:r>
            <a:r>
              <a:rPr lang="en-US" dirty="0" err="1"/>
              <a:t>bylo</a:t>
            </a:r>
            <a:r>
              <a:rPr lang="en-US" dirty="0"/>
              <a:t>, </a:t>
            </a:r>
            <a:r>
              <a:rPr lang="en-US" dirty="0" err="1"/>
              <a:t>zda</a:t>
            </a:r>
            <a:r>
              <a:rPr lang="en-US" dirty="0"/>
              <a:t> </a:t>
            </a:r>
            <a:r>
              <a:rPr lang="en-US" dirty="0" err="1"/>
              <a:t>existuje</a:t>
            </a:r>
            <a:r>
              <a:rPr lang="en-US" dirty="0"/>
              <a:t> </a:t>
            </a:r>
            <a:r>
              <a:rPr lang="en-US" dirty="0" err="1"/>
              <a:t>souvislost</a:t>
            </a:r>
            <a:r>
              <a:rPr lang="en-US" dirty="0"/>
              <a:t> </a:t>
            </a:r>
            <a:r>
              <a:rPr lang="en-US" dirty="0" err="1"/>
              <a:t>mezi</a:t>
            </a:r>
            <a:r>
              <a:rPr lang="en-US" dirty="0"/>
              <a:t> </a:t>
            </a:r>
            <a:r>
              <a:rPr lang="en-US" dirty="0" err="1"/>
              <a:t>výší</a:t>
            </a:r>
            <a:r>
              <a:rPr lang="en-US" dirty="0"/>
              <a:t> </a:t>
            </a:r>
            <a:r>
              <a:rPr lang="en-US" dirty="0" err="1"/>
              <a:t>rozpočtů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policii</a:t>
            </a:r>
            <a:r>
              <a:rPr lang="en-US" dirty="0"/>
              <a:t> a </a:t>
            </a:r>
            <a:r>
              <a:rPr lang="en-US" dirty="0" err="1"/>
              <a:t>počtem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 - </a:t>
            </a:r>
            <a:r>
              <a:rPr lang="en-US" dirty="0" err="1"/>
              <a:t>intuitivně</a:t>
            </a:r>
            <a:r>
              <a:rPr lang="en-US" dirty="0"/>
              <a:t> </a:t>
            </a:r>
            <a:r>
              <a:rPr lang="en-US" dirty="0" err="1"/>
              <a:t>bychom</a:t>
            </a:r>
            <a:r>
              <a:rPr lang="en-US" dirty="0"/>
              <a:t> </a:t>
            </a:r>
            <a:r>
              <a:rPr lang="en-US" dirty="0" err="1"/>
              <a:t>očekávali</a:t>
            </a:r>
            <a:r>
              <a:rPr lang="en-US" dirty="0"/>
              <a:t>, </a:t>
            </a:r>
            <a:r>
              <a:rPr lang="en-US" dirty="0" err="1"/>
              <a:t>že</a:t>
            </a:r>
            <a:r>
              <a:rPr lang="en-US" dirty="0"/>
              <a:t> </a:t>
            </a:r>
            <a:r>
              <a:rPr lang="en-US" dirty="0" err="1"/>
              <a:t>vyšší</a:t>
            </a:r>
            <a:r>
              <a:rPr lang="en-US" dirty="0"/>
              <a:t> </a:t>
            </a:r>
            <a:r>
              <a:rPr lang="en-US" dirty="0" err="1"/>
              <a:t>rozpočet</a:t>
            </a:r>
            <a:r>
              <a:rPr lang="en-US" dirty="0"/>
              <a:t> </a:t>
            </a:r>
            <a:r>
              <a:rPr lang="en-US" dirty="0" err="1"/>
              <a:t>znamená</a:t>
            </a:r>
            <a:r>
              <a:rPr lang="en-US" dirty="0"/>
              <a:t> </a:t>
            </a:r>
            <a:r>
              <a:rPr lang="en-US" dirty="0" err="1"/>
              <a:t>lepší</a:t>
            </a:r>
            <a:r>
              <a:rPr lang="en-US" dirty="0"/>
              <a:t> </a:t>
            </a:r>
            <a:r>
              <a:rPr lang="en-US" dirty="0" err="1"/>
              <a:t>vybavení</a:t>
            </a:r>
            <a:r>
              <a:rPr lang="en-US" dirty="0"/>
              <a:t>, </a:t>
            </a:r>
            <a:r>
              <a:rPr lang="en-US" dirty="0" err="1"/>
              <a:t>školení</a:t>
            </a:r>
            <a:r>
              <a:rPr lang="en-US" dirty="0"/>
              <a:t> a </a:t>
            </a:r>
            <a:r>
              <a:rPr lang="en-US" dirty="0" err="1"/>
              <a:t>tedy</a:t>
            </a:r>
            <a:r>
              <a:rPr lang="en-US" dirty="0"/>
              <a:t> </a:t>
            </a:r>
            <a:r>
              <a:rPr lang="en-US" dirty="0" err="1"/>
              <a:t>méně</a:t>
            </a:r>
            <a:r>
              <a:rPr lang="en-US" dirty="0"/>
              <a:t> </a:t>
            </a:r>
            <a:r>
              <a:rPr lang="en-US" dirty="0" err="1"/>
              <a:t>incidentů</a:t>
            </a:r>
            <a:r>
              <a:rPr lang="en-US" dirty="0"/>
              <a:t>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939557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Stanovil</a:t>
            </a:r>
            <a:r>
              <a:rPr lang="en-US" dirty="0"/>
              <a:t> </a:t>
            </a:r>
            <a:r>
              <a:rPr lang="en-US" dirty="0" err="1"/>
              <a:t>jsem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tři</a:t>
            </a:r>
            <a:r>
              <a:rPr lang="en-US" dirty="0"/>
              <a:t> </a:t>
            </a:r>
            <a:r>
              <a:rPr lang="en-US" dirty="0" err="1"/>
              <a:t>hlavní</a:t>
            </a:r>
            <a:r>
              <a:rPr lang="en-US" dirty="0"/>
              <a:t> </a:t>
            </a:r>
            <a:r>
              <a:rPr lang="en-US" dirty="0" err="1"/>
              <a:t>cíle</a:t>
            </a:r>
            <a:r>
              <a:rPr lang="en-US" dirty="0"/>
              <a:t>: Za </a:t>
            </a:r>
            <a:r>
              <a:rPr lang="en-US" dirty="0" err="1"/>
              <a:t>prvé</a:t>
            </a:r>
            <a:r>
              <a:rPr lang="en-US" dirty="0"/>
              <a:t> - </a:t>
            </a:r>
            <a:r>
              <a:rPr lang="en-US" dirty="0" err="1"/>
              <a:t>identifikovat</a:t>
            </a:r>
            <a:r>
              <a:rPr lang="en-US" dirty="0"/>
              <a:t> </a:t>
            </a:r>
            <a:r>
              <a:rPr lang="en-US" dirty="0" err="1"/>
              <a:t>vztah</a:t>
            </a:r>
            <a:r>
              <a:rPr lang="en-US" dirty="0"/>
              <a:t> </a:t>
            </a:r>
            <a:r>
              <a:rPr lang="en-US" dirty="0" err="1"/>
              <a:t>mezi</a:t>
            </a:r>
            <a:r>
              <a:rPr lang="en-US" dirty="0"/>
              <a:t> </a:t>
            </a:r>
            <a:r>
              <a:rPr lang="en-US" dirty="0" err="1"/>
              <a:t>policejními</a:t>
            </a:r>
            <a:r>
              <a:rPr lang="en-US" dirty="0"/>
              <a:t> </a:t>
            </a:r>
            <a:r>
              <a:rPr lang="en-US" dirty="0" err="1"/>
              <a:t>rozpočty</a:t>
            </a:r>
            <a:r>
              <a:rPr lang="en-US" dirty="0"/>
              <a:t> a </a:t>
            </a:r>
            <a:r>
              <a:rPr lang="en-US" dirty="0" err="1"/>
              <a:t>četností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. Za </a:t>
            </a:r>
            <a:r>
              <a:rPr lang="en-US" dirty="0" err="1"/>
              <a:t>druhé</a:t>
            </a:r>
            <a:r>
              <a:rPr lang="en-US" dirty="0"/>
              <a:t> - </a:t>
            </a:r>
            <a:r>
              <a:rPr lang="en-US" dirty="0" err="1"/>
              <a:t>analyzovat</a:t>
            </a:r>
            <a:r>
              <a:rPr lang="en-US" dirty="0"/>
              <a:t> </a:t>
            </a:r>
            <a:r>
              <a:rPr lang="en-US" dirty="0" err="1"/>
              <a:t>geografické</a:t>
            </a:r>
            <a:r>
              <a:rPr lang="en-US" dirty="0"/>
              <a:t> a </a:t>
            </a:r>
            <a:r>
              <a:rPr lang="en-US" dirty="0" err="1"/>
              <a:t>demografické</a:t>
            </a:r>
            <a:r>
              <a:rPr lang="en-US" dirty="0"/>
              <a:t> </a:t>
            </a:r>
            <a:r>
              <a:rPr lang="en-US" dirty="0" err="1"/>
              <a:t>vzorce</a:t>
            </a:r>
            <a:r>
              <a:rPr lang="en-US" dirty="0"/>
              <a:t> </a:t>
            </a:r>
            <a:r>
              <a:rPr lang="en-US" dirty="0" err="1"/>
              <a:t>včetně</a:t>
            </a:r>
            <a:r>
              <a:rPr lang="en-US" dirty="0"/>
              <a:t> </a:t>
            </a:r>
            <a:r>
              <a:rPr lang="en-US" dirty="0" err="1"/>
              <a:t>rasového</a:t>
            </a:r>
            <a:r>
              <a:rPr lang="en-US" dirty="0"/>
              <a:t> </a:t>
            </a:r>
            <a:r>
              <a:rPr lang="en-US" dirty="0" err="1"/>
              <a:t>složení</a:t>
            </a:r>
            <a:r>
              <a:rPr lang="en-US" dirty="0"/>
              <a:t> </a:t>
            </a:r>
            <a:r>
              <a:rPr lang="en-US" dirty="0" err="1"/>
              <a:t>obětí</a:t>
            </a:r>
            <a:r>
              <a:rPr lang="en-US" dirty="0"/>
              <a:t>. A za </a:t>
            </a:r>
            <a:r>
              <a:rPr lang="en-US" dirty="0" err="1"/>
              <a:t>třetí</a:t>
            </a:r>
            <a:r>
              <a:rPr lang="en-US" dirty="0"/>
              <a:t> - </a:t>
            </a:r>
            <a:r>
              <a:rPr lang="en-US" dirty="0" err="1"/>
              <a:t>analyzovat</a:t>
            </a:r>
            <a:r>
              <a:rPr lang="en-US" dirty="0"/>
              <a:t> </a:t>
            </a:r>
            <a:r>
              <a:rPr lang="en-US" dirty="0" err="1"/>
              <a:t>situační</a:t>
            </a:r>
            <a:r>
              <a:rPr lang="en-US" dirty="0"/>
              <a:t> </a:t>
            </a:r>
            <a:r>
              <a:rPr lang="en-US" dirty="0" err="1"/>
              <a:t>faktory</a:t>
            </a:r>
            <a:r>
              <a:rPr lang="en-US" dirty="0"/>
              <a:t> </a:t>
            </a:r>
            <a:r>
              <a:rPr lang="en-US" dirty="0" err="1"/>
              <a:t>jako</a:t>
            </a:r>
            <a:r>
              <a:rPr lang="en-US" dirty="0"/>
              <a:t> </a:t>
            </a:r>
            <a:r>
              <a:rPr lang="en-US" dirty="0" err="1"/>
              <a:t>typ</a:t>
            </a:r>
            <a:r>
              <a:rPr lang="en-US" dirty="0"/>
              <a:t> </a:t>
            </a:r>
            <a:r>
              <a:rPr lang="en-US" dirty="0" err="1"/>
              <a:t>ozbrojení</a:t>
            </a:r>
            <a:r>
              <a:rPr lang="en-US" dirty="0"/>
              <a:t>, </a:t>
            </a:r>
            <a:r>
              <a:rPr lang="en-US" dirty="0" err="1"/>
              <a:t>duševní</a:t>
            </a:r>
            <a:r>
              <a:rPr lang="en-US" dirty="0"/>
              <a:t> </a:t>
            </a:r>
            <a:r>
              <a:rPr lang="en-US" dirty="0" err="1"/>
              <a:t>onemocnění</a:t>
            </a:r>
            <a:r>
              <a:rPr lang="en-US" dirty="0"/>
              <a:t> </a:t>
            </a:r>
            <a:r>
              <a:rPr lang="en-US" dirty="0" err="1"/>
              <a:t>nebo</a:t>
            </a:r>
            <a:r>
              <a:rPr lang="en-US" dirty="0"/>
              <a:t> </a:t>
            </a:r>
            <a:r>
              <a:rPr lang="en-US" dirty="0" err="1"/>
              <a:t>použití</a:t>
            </a:r>
            <a:r>
              <a:rPr lang="en-US" dirty="0"/>
              <a:t> body </a:t>
            </a:r>
            <a:r>
              <a:rPr lang="en-US" dirty="0" err="1"/>
              <a:t>kamer</a:t>
            </a:r>
            <a:r>
              <a:rPr lang="en-US" dirty="0"/>
              <a:t>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81145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 </a:t>
            </a:r>
            <a:r>
              <a:rPr lang="en-US" dirty="0" err="1"/>
              <a:t>přípravu</a:t>
            </a:r>
            <a:r>
              <a:rPr lang="en-US" dirty="0"/>
              <a:t> </a:t>
            </a:r>
            <a:r>
              <a:rPr lang="en-US" dirty="0" err="1"/>
              <a:t>dat</a:t>
            </a:r>
            <a:r>
              <a:rPr lang="en-US" dirty="0"/>
              <a:t> </a:t>
            </a:r>
            <a:r>
              <a:rPr lang="en-US" dirty="0" err="1"/>
              <a:t>jsem</a:t>
            </a:r>
            <a:r>
              <a:rPr lang="en-US" dirty="0"/>
              <a:t> </a:t>
            </a:r>
            <a:r>
              <a:rPr lang="en-US" dirty="0" err="1"/>
              <a:t>použil</a:t>
            </a:r>
            <a:r>
              <a:rPr lang="en-US" dirty="0"/>
              <a:t> ETL pipeline v </a:t>
            </a:r>
            <a:r>
              <a:rPr lang="en-US" dirty="0" err="1"/>
              <a:t>nástroji</a:t>
            </a:r>
            <a:r>
              <a:rPr lang="en-US" dirty="0"/>
              <a:t> </a:t>
            </a:r>
            <a:r>
              <a:rPr lang="en-US" dirty="0" err="1"/>
              <a:t>BigQuery</a:t>
            </a:r>
            <a:r>
              <a:rPr lang="en-US" dirty="0"/>
              <a:t>, </a:t>
            </a:r>
            <a:r>
              <a:rPr lang="en-US" dirty="0" err="1"/>
              <a:t>kde</a:t>
            </a:r>
            <a:r>
              <a:rPr lang="en-US" dirty="0"/>
              <a:t> </a:t>
            </a:r>
            <a:r>
              <a:rPr lang="en-US" dirty="0" err="1"/>
              <a:t>jsem</a:t>
            </a:r>
            <a:r>
              <a:rPr lang="en-US" dirty="0"/>
              <a:t> </a:t>
            </a:r>
            <a:r>
              <a:rPr lang="en-US" dirty="0" err="1"/>
              <a:t>pomocí</a:t>
            </a:r>
            <a:r>
              <a:rPr lang="en-US" dirty="0"/>
              <a:t> SQL </a:t>
            </a:r>
            <a:r>
              <a:rPr lang="en-US" dirty="0" err="1"/>
              <a:t>dotazů</a:t>
            </a:r>
            <a:r>
              <a:rPr lang="en-US" dirty="0"/>
              <a:t> </a:t>
            </a:r>
            <a:r>
              <a:rPr lang="en-US" dirty="0" err="1"/>
              <a:t>transformoval</a:t>
            </a:r>
            <a:r>
              <a:rPr lang="en-US" dirty="0"/>
              <a:t> a </a:t>
            </a:r>
            <a:r>
              <a:rPr lang="en-US" dirty="0" err="1"/>
              <a:t>propojil</a:t>
            </a:r>
            <a:r>
              <a:rPr lang="en-US" dirty="0"/>
              <a:t> </a:t>
            </a:r>
            <a:r>
              <a:rPr lang="en-US" dirty="0" err="1"/>
              <a:t>dva</a:t>
            </a:r>
            <a:r>
              <a:rPr lang="en-US" dirty="0"/>
              <a:t> </a:t>
            </a:r>
            <a:r>
              <a:rPr lang="en-US" dirty="0" err="1"/>
              <a:t>hlavní</a:t>
            </a:r>
            <a:r>
              <a:rPr lang="en-US" dirty="0"/>
              <a:t> </a:t>
            </a:r>
            <a:r>
              <a:rPr lang="en-US" dirty="0" err="1"/>
              <a:t>datasety</a:t>
            </a:r>
            <a:r>
              <a:rPr lang="en-US" dirty="0"/>
              <a:t> - </a:t>
            </a:r>
            <a:r>
              <a:rPr lang="en-US" dirty="0" err="1"/>
              <a:t>rozpočty</a:t>
            </a:r>
            <a:r>
              <a:rPr lang="en-US" dirty="0"/>
              <a:t> </a:t>
            </a:r>
            <a:r>
              <a:rPr lang="en-US" dirty="0" err="1"/>
              <a:t>měst</a:t>
            </a:r>
            <a:r>
              <a:rPr lang="en-US" dirty="0"/>
              <a:t> a </a:t>
            </a:r>
            <a:r>
              <a:rPr lang="en-US" dirty="0" err="1"/>
              <a:t>databázi</a:t>
            </a:r>
            <a:r>
              <a:rPr lang="en-US" dirty="0"/>
              <a:t> </a:t>
            </a:r>
            <a:r>
              <a:rPr lang="en-US" dirty="0" err="1"/>
              <a:t>policejních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 Washington Post. BI </a:t>
            </a:r>
            <a:r>
              <a:rPr lang="en-US" dirty="0" err="1"/>
              <a:t>část</a:t>
            </a:r>
            <a:r>
              <a:rPr lang="en-US" dirty="0"/>
              <a:t> </a:t>
            </a:r>
            <a:r>
              <a:rPr lang="en-US" dirty="0" err="1"/>
              <a:t>analýzy</a:t>
            </a:r>
            <a:r>
              <a:rPr lang="en-US" dirty="0"/>
              <a:t> </a:t>
            </a:r>
            <a:r>
              <a:rPr lang="en-US" dirty="0" err="1"/>
              <a:t>probíhala</a:t>
            </a:r>
            <a:r>
              <a:rPr lang="en-US" dirty="0"/>
              <a:t> v </a:t>
            </a:r>
            <a:r>
              <a:rPr lang="en-US" dirty="0" err="1"/>
              <a:t>nástroji</a:t>
            </a:r>
            <a:r>
              <a:rPr lang="en-US" dirty="0"/>
              <a:t> Power BI.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268292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science </a:t>
            </a:r>
            <a:r>
              <a:rPr lang="en-US" dirty="0" err="1"/>
              <a:t>část</a:t>
            </a:r>
            <a:r>
              <a:rPr lang="en-US" dirty="0"/>
              <a:t> </a:t>
            </a:r>
            <a:r>
              <a:rPr lang="en-US" dirty="0" err="1"/>
              <a:t>byla</a:t>
            </a:r>
            <a:r>
              <a:rPr lang="en-US" dirty="0"/>
              <a:t> </a:t>
            </a:r>
            <a:r>
              <a:rPr lang="en-US" dirty="0" err="1"/>
              <a:t>realizována</a:t>
            </a:r>
            <a:r>
              <a:rPr lang="en-US" dirty="0"/>
              <a:t> v </a:t>
            </a:r>
            <a:r>
              <a:rPr lang="en-US" dirty="0" err="1"/>
              <a:t>Pythonu</a:t>
            </a:r>
            <a:r>
              <a:rPr lang="en-US" dirty="0"/>
              <a:t>. </a:t>
            </a:r>
            <a:r>
              <a:rPr lang="en-US" dirty="0" err="1"/>
              <a:t>Použil</a:t>
            </a:r>
            <a:r>
              <a:rPr lang="en-US" dirty="0"/>
              <a:t> </a:t>
            </a:r>
            <a:r>
              <a:rPr lang="en-US" dirty="0" err="1"/>
              <a:t>jsem</a:t>
            </a:r>
            <a:r>
              <a:rPr lang="en-US" dirty="0"/>
              <a:t> </a:t>
            </a:r>
            <a:r>
              <a:rPr lang="en-US" dirty="0" err="1"/>
              <a:t>statistickou</a:t>
            </a:r>
            <a:r>
              <a:rPr lang="en-US" dirty="0"/>
              <a:t> </a:t>
            </a:r>
            <a:r>
              <a:rPr lang="en-US" dirty="0" err="1"/>
              <a:t>analýzu</a:t>
            </a:r>
            <a:r>
              <a:rPr lang="en-US" dirty="0"/>
              <a:t> </a:t>
            </a:r>
            <a:r>
              <a:rPr lang="en-US" dirty="0" err="1"/>
              <a:t>pomocí</a:t>
            </a:r>
            <a:r>
              <a:rPr lang="en-US" dirty="0"/>
              <a:t> chi-square </a:t>
            </a:r>
            <a:r>
              <a:rPr lang="en-US" dirty="0" err="1"/>
              <a:t>testů</a:t>
            </a:r>
            <a:r>
              <a:rPr lang="en-US" dirty="0"/>
              <a:t> a </a:t>
            </a:r>
            <a:r>
              <a:rPr lang="en-US" dirty="0" err="1"/>
              <a:t>Cramerova</a:t>
            </a:r>
            <a:r>
              <a:rPr lang="en-US" dirty="0"/>
              <a:t> V pro </a:t>
            </a:r>
            <a:r>
              <a:rPr lang="en-US" dirty="0" err="1"/>
              <a:t>měření</a:t>
            </a:r>
            <a:r>
              <a:rPr lang="en-US" dirty="0"/>
              <a:t> </a:t>
            </a:r>
            <a:r>
              <a:rPr lang="en-US" dirty="0" err="1"/>
              <a:t>síly</a:t>
            </a:r>
            <a:r>
              <a:rPr lang="en-US" dirty="0"/>
              <a:t> </a:t>
            </a:r>
            <a:r>
              <a:rPr lang="en-US" dirty="0" err="1"/>
              <a:t>vztahů</a:t>
            </a:r>
            <a:r>
              <a:rPr lang="en-US" dirty="0"/>
              <a:t>. </a:t>
            </a:r>
            <a:r>
              <a:rPr lang="en-US" dirty="0" err="1"/>
              <a:t>Dále</a:t>
            </a:r>
            <a:r>
              <a:rPr lang="en-US" dirty="0"/>
              <a:t> </a:t>
            </a:r>
            <a:r>
              <a:rPr lang="en-US" dirty="0" err="1"/>
              <a:t>procedury</a:t>
            </a:r>
            <a:r>
              <a:rPr lang="en-US" dirty="0"/>
              <a:t> CleverMiner - 4ft-Miner pro </a:t>
            </a:r>
            <a:r>
              <a:rPr lang="en-US" dirty="0" err="1"/>
              <a:t>asociační</a:t>
            </a:r>
            <a:r>
              <a:rPr lang="en-US" dirty="0"/>
              <a:t> </a:t>
            </a:r>
            <a:r>
              <a:rPr lang="en-US" dirty="0" err="1"/>
              <a:t>pravidla</a:t>
            </a:r>
            <a:r>
              <a:rPr lang="en-US" dirty="0"/>
              <a:t>, CF-Miner pro </a:t>
            </a:r>
            <a:r>
              <a:rPr lang="en-US" dirty="0" err="1"/>
              <a:t>analýzu</a:t>
            </a:r>
            <a:r>
              <a:rPr lang="en-US" dirty="0"/>
              <a:t> </a:t>
            </a:r>
            <a:r>
              <a:rPr lang="en-US" dirty="0" err="1"/>
              <a:t>distribucí</a:t>
            </a:r>
            <a:r>
              <a:rPr lang="en-US" dirty="0"/>
              <a:t> a SD4ft-Miner pro subgroup discovery. </a:t>
            </a:r>
            <a:r>
              <a:rPr lang="en-US" dirty="0" err="1"/>
              <a:t>Nakonec</a:t>
            </a:r>
            <a:r>
              <a:rPr lang="en-US" dirty="0"/>
              <a:t> </a:t>
            </a:r>
            <a:r>
              <a:rPr lang="en-US" dirty="0" err="1"/>
              <a:t>jsem</a:t>
            </a:r>
            <a:r>
              <a:rPr lang="en-US" dirty="0"/>
              <a:t> </a:t>
            </a:r>
            <a:r>
              <a:rPr lang="en-US" dirty="0" err="1"/>
              <a:t>použil</a:t>
            </a:r>
            <a:r>
              <a:rPr lang="en-US" dirty="0"/>
              <a:t> </a:t>
            </a:r>
            <a:r>
              <a:rPr lang="en-US" dirty="0" err="1"/>
              <a:t>prediktivní</a:t>
            </a:r>
            <a:r>
              <a:rPr lang="en-US" dirty="0"/>
              <a:t> </a:t>
            </a:r>
            <a:r>
              <a:rPr lang="en-US" dirty="0" err="1"/>
              <a:t>modely</a:t>
            </a:r>
            <a:r>
              <a:rPr lang="en-US" dirty="0"/>
              <a:t> Decision Tree a Random Forest pro </a:t>
            </a:r>
            <a:r>
              <a:rPr lang="en-US" dirty="0" err="1"/>
              <a:t>identifikaci</a:t>
            </a:r>
            <a:r>
              <a:rPr lang="en-US" dirty="0"/>
              <a:t> </a:t>
            </a:r>
            <a:r>
              <a:rPr lang="en-US" dirty="0" err="1"/>
              <a:t>nejdůležitějších</a:t>
            </a:r>
            <a:r>
              <a:rPr lang="en-US" dirty="0"/>
              <a:t> </a:t>
            </a:r>
            <a:r>
              <a:rPr lang="en-US" dirty="0" err="1"/>
              <a:t>prediktorů</a:t>
            </a:r>
            <a:r>
              <a:rPr lang="en-US" dirty="0"/>
              <a:t>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5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096767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Toto je </a:t>
            </a:r>
            <a:r>
              <a:rPr lang="en-US" dirty="0" err="1"/>
              <a:t>ukázka</a:t>
            </a:r>
            <a:r>
              <a:rPr lang="en-US" dirty="0"/>
              <a:t> BI </a:t>
            </a:r>
            <a:r>
              <a:rPr lang="en-US" dirty="0" err="1"/>
              <a:t>dashboardu</a:t>
            </a:r>
            <a:r>
              <a:rPr lang="en-US" dirty="0"/>
              <a:t>. V </a:t>
            </a:r>
            <a:r>
              <a:rPr lang="en-US" dirty="0" err="1"/>
              <a:t>levé</a:t>
            </a:r>
            <a:r>
              <a:rPr lang="en-US" dirty="0"/>
              <a:t> </a:t>
            </a:r>
            <a:r>
              <a:rPr lang="en-US" dirty="0" err="1"/>
              <a:t>horní</a:t>
            </a:r>
            <a:r>
              <a:rPr lang="en-US" dirty="0"/>
              <a:t> </a:t>
            </a:r>
            <a:r>
              <a:rPr lang="en-US" dirty="0" err="1"/>
              <a:t>části</a:t>
            </a:r>
            <a:r>
              <a:rPr lang="en-US" dirty="0"/>
              <a:t> </a:t>
            </a:r>
            <a:r>
              <a:rPr lang="en-US" dirty="0" err="1"/>
              <a:t>vidíte</a:t>
            </a:r>
            <a:r>
              <a:rPr lang="en-US" dirty="0"/>
              <a:t> </a:t>
            </a:r>
            <a:r>
              <a:rPr lang="en-US" dirty="0" err="1"/>
              <a:t>klíčové</a:t>
            </a:r>
            <a:r>
              <a:rPr lang="en-US" dirty="0"/>
              <a:t> </a:t>
            </a:r>
            <a:r>
              <a:rPr lang="en-US" dirty="0" err="1"/>
              <a:t>metriky</a:t>
            </a:r>
            <a:r>
              <a:rPr lang="en-US" dirty="0"/>
              <a:t> - </a:t>
            </a:r>
            <a:r>
              <a:rPr lang="en-US" dirty="0" err="1"/>
              <a:t>průměrný</a:t>
            </a:r>
            <a:r>
              <a:rPr lang="en-US" dirty="0"/>
              <a:t> </a:t>
            </a:r>
            <a:r>
              <a:rPr lang="en-US" dirty="0" err="1"/>
              <a:t>rozpočet</a:t>
            </a:r>
            <a:r>
              <a:rPr lang="en-US" dirty="0"/>
              <a:t> 2,18 </a:t>
            </a:r>
            <a:r>
              <a:rPr lang="en-US" dirty="0" err="1"/>
              <a:t>tisíc</a:t>
            </a:r>
            <a:r>
              <a:rPr lang="en-US" dirty="0"/>
              <a:t> </a:t>
            </a:r>
            <a:r>
              <a:rPr lang="en-US" dirty="0" err="1"/>
              <a:t>dolarů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obyvatele</a:t>
            </a:r>
            <a:r>
              <a:rPr lang="en-US" dirty="0"/>
              <a:t>, a </a:t>
            </a:r>
            <a:r>
              <a:rPr lang="en-US" dirty="0" err="1"/>
              <a:t>hlavně</a:t>
            </a:r>
            <a:r>
              <a:rPr lang="en-US" dirty="0"/>
              <a:t> </a:t>
            </a:r>
            <a:r>
              <a:rPr lang="en-US" b="1" dirty="0" err="1"/>
              <a:t>korelační</a:t>
            </a:r>
            <a:r>
              <a:rPr lang="en-US" b="1" dirty="0"/>
              <a:t> </a:t>
            </a:r>
            <a:r>
              <a:rPr lang="en-US" b="1" dirty="0" err="1"/>
              <a:t>koeficient</a:t>
            </a:r>
            <a:r>
              <a:rPr lang="en-US" b="1" dirty="0"/>
              <a:t> </a:t>
            </a:r>
            <a:r>
              <a:rPr lang="en-US" b="1" dirty="0" err="1"/>
              <a:t>pouze</a:t>
            </a:r>
            <a:r>
              <a:rPr lang="en-US" b="1" dirty="0"/>
              <a:t> 0,09</a:t>
            </a:r>
            <a:r>
              <a:rPr lang="en-US" dirty="0"/>
              <a:t> - </a:t>
            </a:r>
            <a:r>
              <a:rPr lang="en-US" dirty="0" err="1"/>
              <a:t>tedy</a:t>
            </a:r>
            <a:r>
              <a:rPr lang="en-US" dirty="0"/>
              <a:t> </a:t>
            </a:r>
            <a:r>
              <a:rPr lang="en-US" dirty="0" err="1"/>
              <a:t>téměř</a:t>
            </a:r>
            <a:r>
              <a:rPr lang="en-US" dirty="0"/>
              <a:t> </a:t>
            </a:r>
            <a:r>
              <a:rPr lang="en-US" dirty="0" err="1"/>
              <a:t>žádná</a:t>
            </a:r>
            <a:r>
              <a:rPr lang="en-US" dirty="0"/>
              <a:t> </a:t>
            </a:r>
            <a:r>
              <a:rPr lang="en-US" dirty="0" err="1"/>
              <a:t>korelace</a:t>
            </a:r>
            <a:r>
              <a:rPr lang="en-US" dirty="0"/>
              <a:t> </a:t>
            </a:r>
            <a:r>
              <a:rPr lang="en-US" dirty="0" err="1"/>
              <a:t>mezi</a:t>
            </a:r>
            <a:r>
              <a:rPr lang="en-US" dirty="0"/>
              <a:t> </a:t>
            </a:r>
            <a:r>
              <a:rPr lang="en-US" dirty="0" err="1"/>
              <a:t>rozpočtem</a:t>
            </a:r>
            <a:r>
              <a:rPr lang="en-US" dirty="0"/>
              <a:t> a </a:t>
            </a:r>
            <a:r>
              <a:rPr lang="en-US" dirty="0" err="1"/>
              <a:t>mírou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.</a:t>
            </a:r>
            <a:endParaRPr lang="cs-CZ" dirty="0"/>
          </a:p>
          <a:p>
            <a:r>
              <a:rPr lang="en-US" dirty="0" err="1"/>
              <a:t>Vpravo</a:t>
            </a:r>
            <a:r>
              <a:rPr lang="en-US" dirty="0"/>
              <a:t> </a:t>
            </a:r>
            <a:r>
              <a:rPr lang="en-US" dirty="0" err="1"/>
              <a:t>nahoře</a:t>
            </a:r>
            <a:r>
              <a:rPr lang="en-US" dirty="0"/>
              <a:t> je bar chart </a:t>
            </a:r>
            <a:r>
              <a:rPr lang="en-US" dirty="0" err="1"/>
              <a:t>ukazující</a:t>
            </a:r>
            <a:r>
              <a:rPr lang="en-US" dirty="0"/>
              <a:t> </a:t>
            </a:r>
            <a:r>
              <a:rPr lang="en-US" dirty="0" err="1"/>
              <a:t>průměrnou</a:t>
            </a:r>
            <a:r>
              <a:rPr lang="en-US" dirty="0"/>
              <a:t> </a:t>
            </a:r>
            <a:r>
              <a:rPr lang="en-US" dirty="0" err="1"/>
              <a:t>míru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 </a:t>
            </a:r>
            <a:r>
              <a:rPr lang="en-US" dirty="0" err="1"/>
              <a:t>podle</a:t>
            </a:r>
            <a:r>
              <a:rPr lang="en-US" dirty="0"/>
              <a:t> </a:t>
            </a:r>
            <a:r>
              <a:rPr lang="en-US" dirty="0" err="1"/>
              <a:t>rozpočtové</a:t>
            </a:r>
            <a:r>
              <a:rPr lang="en-US" dirty="0"/>
              <a:t> </a:t>
            </a:r>
            <a:r>
              <a:rPr lang="en-US" dirty="0" err="1"/>
              <a:t>kategorie</a:t>
            </a:r>
            <a:r>
              <a:rPr lang="en-US" dirty="0"/>
              <a:t> - </a:t>
            </a:r>
            <a:r>
              <a:rPr lang="en-US" dirty="0" err="1"/>
              <a:t>všimněte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, </a:t>
            </a:r>
            <a:r>
              <a:rPr lang="en-US" dirty="0" err="1"/>
              <a:t>že</a:t>
            </a:r>
            <a:r>
              <a:rPr lang="en-US" dirty="0"/>
              <a:t> </a:t>
            </a:r>
            <a:r>
              <a:rPr lang="en-US" dirty="0" err="1"/>
              <a:t>High_Budget</a:t>
            </a:r>
            <a:r>
              <a:rPr lang="en-US" dirty="0"/>
              <a:t> </a:t>
            </a:r>
            <a:r>
              <a:rPr lang="en-US" dirty="0" err="1"/>
              <a:t>města</a:t>
            </a:r>
            <a:r>
              <a:rPr lang="en-US" dirty="0"/>
              <a:t> </a:t>
            </a:r>
            <a:r>
              <a:rPr lang="en-US" dirty="0" err="1"/>
              <a:t>mají</a:t>
            </a:r>
            <a:r>
              <a:rPr lang="en-US" dirty="0"/>
              <a:t> </a:t>
            </a:r>
            <a:r>
              <a:rPr lang="en-US" dirty="0" err="1"/>
              <a:t>dokonce</a:t>
            </a:r>
            <a:r>
              <a:rPr lang="en-US" dirty="0"/>
              <a:t> </a:t>
            </a:r>
            <a:r>
              <a:rPr lang="en-US" b="1" dirty="0" err="1"/>
              <a:t>vyšší</a:t>
            </a:r>
            <a:r>
              <a:rPr lang="en-US" dirty="0"/>
              <a:t> </a:t>
            </a:r>
            <a:r>
              <a:rPr lang="en-US" dirty="0" err="1"/>
              <a:t>míru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 </a:t>
            </a:r>
            <a:r>
              <a:rPr lang="en-US" dirty="0" err="1"/>
              <a:t>než</a:t>
            </a:r>
            <a:r>
              <a:rPr lang="en-US" dirty="0"/>
              <a:t> </a:t>
            </a:r>
            <a:r>
              <a:rPr lang="en-US" dirty="0" err="1"/>
              <a:t>Low_Budget</a:t>
            </a:r>
            <a:r>
              <a:rPr lang="en-US" dirty="0"/>
              <a:t>.</a:t>
            </a:r>
            <a:endParaRPr lang="cs-CZ" dirty="0"/>
          </a:p>
          <a:p>
            <a:r>
              <a:rPr lang="en-US" dirty="0" err="1"/>
              <a:t>Dva</a:t>
            </a:r>
            <a:r>
              <a:rPr lang="en-US" dirty="0"/>
              <a:t> scatter </a:t>
            </a:r>
            <a:r>
              <a:rPr lang="en-US" dirty="0" err="1"/>
              <a:t>ploty</a:t>
            </a:r>
            <a:r>
              <a:rPr lang="en-US" dirty="0"/>
              <a:t> dole </a:t>
            </a:r>
            <a:r>
              <a:rPr lang="en-US" dirty="0" err="1"/>
              <a:t>ukazují</a:t>
            </a:r>
            <a:r>
              <a:rPr lang="en-US" dirty="0"/>
              <a:t> </a:t>
            </a:r>
            <a:r>
              <a:rPr lang="en-US" dirty="0" err="1"/>
              <a:t>vztah</a:t>
            </a:r>
            <a:r>
              <a:rPr lang="en-US" dirty="0"/>
              <a:t> </a:t>
            </a:r>
            <a:r>
              <a:rPr lang="en-US" dirty="0" err="1"/>
              <a:t>rozpočtu</a:t>
            </a:r>
            <a:r>
              <a:rPr lang="en-US" dirty="0"/>
              <a:t> a </a:t>
            </a:r>
            <a:r>
              <a:rPr lang="en-US" dirty="0" err="1"/>
              <a:t>střeleb</a:t>
            </a:r>
            <a:r>
              <a:rPr lang="en-US" dirty="0"/>
              <a:t> - </a:t>
            </a:r>
            <a:r>
              <a:rPr lang="en-US" dirty="0" err="1"/>
              <a:t>vlevo</a:t>
            </a:r>
            <a:r>
              <a:rPr lang="en-US" dirty="0"/>
              <a:t> </a:t>
            </a:r>
            <a:r>
              <a:rPr lang="en-US" dirty="0" err="1"/>
              <a:t>normalizovaný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100k </a:t>
            </a:r>
            <a:r>
              <a:rPr lang="en-US" dirty="0" err="1"/>
              <a:t>obyvatel</a:t>
            </a:r>
            <a:r>
              <a:rPr lang="en-US" dirty="0"/>
              <a:t>, </a:t>
            </a:r>
            <a:r>
              <a:rPr lang="en-US" dirty="0" err="1"/>
              <a:t>vpravo</a:t>
            </a:r>
            <a:r>
              <a:rPr lang="en-US" dirty="0"/>
              <a:t> </a:t>
            </a:r>
            <a:r>
              <a:rPr lang="en-US" dirty="0" err="1"/>
              <a:t>absolutní</a:t>
            </a:r>
            <a:r>
              <a:rPr lang="en-US" dirty="0"/>
              <a:t> </a:t>
            </a:r>
            <a:r>
              <a:rPr lang="en-US" dirty="0" err="1"/>
              <a:t>počty</a:t>
            </a:r>
            <a:r>
              <a:rPr lang="en-US" dirty="0"/>
              <a:t>. Je </a:t>
            </a:r>
            <a:r>
              <a:rPr lang="en-US" dirty="0" err="1"/>
              <a:t>vidět</a:t>
            </a:r>
            <a:r>
              <a:rPr lang="en-US" dirty="0"/>
              <a:t>, </a:t>
            </a:r>
            <a:r>
              <a:rPr lang="en-US" dirty="0" err="1"/>
              <a:t>že</a:t>
            </a:r>
            <a:r>
              <a:rPr lang="en-US" dirty="0"/>
              <a:t> body </a:t>
            </a:r>
            <a:r>
              <a:rPr lang="en-US" dirty="0" err="1"/>
              <a:t>jsou</a:t>
            </a:r>
            <a:r>
              <a:rPr lang="en-US" dirty="0"/>
              <a:t> </a:t>
            </a:r>
            <a:r>
              <a:rPr lang="en-US" dirty="0" err="1"/>
              <a:t>rozptýlené</a:t>
            </a:r>
            <a:r>
              <a:rPr lang="en-US" dirty="0"/>
              <a:t> bez </a:t>
            </a:r>
            <a:r>
              <a:rPr lang="en-US" dirty="0" err="1"/>
              <a:t>jasného</a:t>
            </a:r>
            <a:r>
              <a:rPr lang="en-US" dirty="0"/>
              <a:t> </a:t>
            </a:r>
            <a:r>
              <a:rPr lang="en-US" dirty="0" err="1"/>
              <a:t>trendu</a:t>
            </a:r>
            <a:r>
              <a:rPr lang="en-US" dirty="0"/>
              <a:t>.</a:t>
            </a:r>
            <a:endParaRPr lang="cs-CZ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389021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Zde </a:t>
            </a:r>
            <a:r>
              <a:rPr lang="en-US" dirty="0" err="1"/>
              <a:t>vidíte</a:t>
            </a:r>
            <a:r>
              <a:rPr lang="en-US" dirty="0"/>
              <a:t> </a:t>
            </a:r>
            <a:r>
              <a:rPr lang="en-US" dirty="0" err="1"/>
              <a:t>výstup</a:t>
            </a:r>
            <a:r>
              <a:rPr lang="en-US" dirty="0"/>
              <a:t> z 4ft-Miner </a:t>
            </a:r>
            <a:r>
              <a:rPr lang="en-US" dirty="0" err="1"/>
              <a:t>procedury</a:t>
            </a:r>
            <a:r>
              <a:rPr lang="en-US" dirty="0"/>
              <a:t>. </a:t>
            </a:r>
            <a:r>
              <a:rPr lang="en-US" dirty="0" err="1"/>
              <a:t>Algoritmus</a:t>
            </a:r>
            <a:r>
              <a:rPr lang="en-US" dirty="0"/>
              <a:t> </a:t>
            </a:r>
            <a:r>
              <a:rPr lang="en-US" dirty="0" err="1"/>
              <a:t>nalezl</a:t>
            </a:r>
            <a:r>
              <a:rPr lang="en-US" dirty="0"/>
              <a:t> 13 </a:t>
            </a:r>
            <a:r>
              <a:rPr lang="en-US" dirty="0" err="1"/>
              <a:t>asociačních</a:t>
            </a:r>
            <a:r>
              <a:rPr lang="en-US" dirty="0"/>
              <a:t> </a:t>
            </a:r>
            <a:r>
              <a:rPr lang="en-US" dirty="0" err="1"/>
              <a:t>pravidel</a:t>
            </a:r>
            <a:r>
              <a:rPr lang="en-US" dirty="0"/>
              <a:t>. </a:t>
            </a:r>
            <a:r>
              <a:rPr lang="en-US" dirty="0" err="1"/>
              <a:t>Klíčové</a:t>
            </a:r>
            <a:r>
              <a:rPr lang="en-US" dirty="0"/>
              <a:t> je </a:t>
            </a:r>
            <a:r>
              <a:rPr lang="en-US" dirty="0" err="1"/>
              <a:t>pravidlo</a:t>
            </a:r>
            <a:r>
              <a:rPr lang="en-US" dirty="0"/>
              <a:t> </a:t>
            </a:r>
            <a:r>
              <a:rPr lang="en-US" dirty="0" err="1"/>
              <a:t>číslo</a:t>
            </a:r>
            <a:r>
              <a:rPr lang="en-US" dirty="0"/>
              <a:t> 9: </a:t>
            </a:r>
            <a:r>
              <a:rPr lang="en-US" dirty="0" err="1"/>
              <a:t>budget_category</a:t>
            </a:r>
            <a:r>
              <a:rPr lang="en-US" dirty="0"/>
              <a:t> </a:t>
            </a:r>
            <a:r>
              <a:rPr lang="en-US" dirty="0" err="1"/>
              <a:t>High_Budget</a:t>
            </a:r>
            <a:r>
              <a:rPr lang="en-US" dirty="0"/>
              <a:t> </a:t>
            </a:r>
            <a:r>
              <a:rPr lang="en-US" dirty="0" err="1"/>
              <a:t>implikuje</a:t>
            </a:r>
            <a:r>
              <a:rPr lang="en-US" dirty="0"/>
              <a:t> </a:t>
            </a:r>
            <a:r>
              <a:rPr lang="en-US" dirty="0" err="1"/>
              <a:t>shooting_rate_category</a:t>
            </a:r>
            <a:r>
              <a:rPr lang="en-US" dirty="0"/>
              <a:t> </a:t>
            </a:r>
            <a:r>
              <a:rPr lang="en-US" dirty="0" err="1"/>
              <a:t>High_Rate</a:t>
            </a:r>
            <a:r>
              <a:rPr lang="en-US" dirty="0"/>
              <a:t> s confidence 69,4% a AAD plus 41,2%.</a:t>
            </a:r>
            <a:endParaRPr lang="cs-CZ" dirty="0"/>
          </a:p>
          <a:p>
            <a:r>
              <a:rPr lang="en-US" dirty="0"/>
              <a:t>To </a:t>
            </a:r>
            <a:r>
              <a:rPr lang="en-US" dirty="0" err="1"/>
              <a:t>znamená</a:t>
            </a:r>
            <a:r>
              <a:rPr lang="en-US" dirty="0"/>
              <a:t>, </a:t>
            </a:r>
            <a:r>
              <a:rPr lang="en-US" dirty="0" err="1"/>
              <a:t>že</a:t>
            </a:r>
            <a:r>
              <a:rPr lang="en-US" dirty="0"/>
              <a:t> </a:t>
            </a:r>
            <a:r>
              <a:rPr lang="en-US" dirty="0" err="1"/>
              <a:t>města</a:t>
            </a:r>
            <a:r>
              <a:rPr lang="en-US" dirty="0"/>
              <a:t> s </a:t>
            </a:r>
            <a:r>
              <a:rPr lang="en-US" dirty="0" err="1"/>
              <a:t>vysokým</a:t>
            </a:r>
            <a:r>
              <a:rPr lang="en-US" dirty="0"/>
              <a:t> </a:t>
            </a:r>
            <a:r>
              <a:rPr lang="en-US" dirty="0" err="1"/>
              <a:t>rozpočtem</a:t>
            </a:r>
            <a:r>
              <a:rPr lang="en-US" dirty="0"/>
              <a:t> </a:t>
            </a:r>
            <a:r>
              <a:rPr lang="en-US" dirty="0" err="1"/>
              <a:t>mají</a:t>
            </a:r>
            <a:r>
              <a:rPr lang="en-US" dirty="0"/>
              <a:t> o 41% </a:t>
            </a:r>
            <a:r>
              <a:rPr lang="en-US" dirty="0" err="1"/>
              <a:t>vyšší</a:t>
            </a:r>
            <a:r>
              <a:rPr lang="en-US" dirty="0"/>
              <a:t> </a:t>
            </a:r>
            <a:r>
              <a:rPr lang="en-US" dirty="0" err="1"/>
              <a:t>pravděpodobnost</a:t>
            </a:r>
            <a:r>
              <a:rPr lang="en-US" dirty="0"/>
              <a:t> </a:t>
            </a:r>
            <a:r>
              <a:rPr lang="en-US" dirty="0" err="1"/>
              <a:t>vysoké</a:t>
            </a:r>
            <a:r>
              <a:rPr lang="en-US" dirty="0"/>
              <a:t> </a:t>
            </a:r>
            <a:r>
              <a:rPr lang="en-US" dirty="0" err="1"/>
              <a:t>míry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 </a:t>
            </a:r>
            <a:r>
              <a:rPr lang="en-US" dirty="0" err="1"/>
              <a:t>než</a:t>
            </a:r>
            <a:r>
              <a:rPr lang="en-US" dirty="0"/>
              <a:t> je </a:t>
            </a:r>
            <a:r>
              <a:rPr lang="en-US" dirty="0" err="1"/>
              <a:t>průměr</a:t>
            </a:r>
            <a:r>
              <a:rPr lang="en-US" dirty="0"/>
              <a:t>. </a:t>
            </a:r>
            <a:r>
              <a:rPr lang="en-US" dirty="0" err="1"/>
              <a:t>Pravidla</a:t>
            </a:r>
            <a:r>
              <a:rPr lang="en-US" dirty="0"/>
              <a:t> 2 a 6 </a:t>
            </a:r>
            <a:r>
              <a:rPr lang="en-US" dirty="0" err="1"/>
              <a:t>ukazují</a:t>
            </a:r>
            <a:r>
              <a:rPr lang="en-US" dirty="0"/>
              <a:t>, </a:t>
            </a:r>
            <a:r>
              <a:rPr lang="en-US" dirty="0" err="1"/>
              <a:t>že</a:t>
            </a:r>
            <a:r>
              <a:rPr lang="en-US" dirty="0"/>
              <a:t> </a:t>
            </a:r>
            <a:r>
              <a:rPr lang="en-US" dirty="0" err="1"/>
              <a:t>tento</a:t>
            </a:r>
            <a:r>
              <a:rPr lang="en-US" dirty="0"/>
              <a:t> </a:t>
            </a:r>
            <a:r>
              <a:rPr lang="en-US" dirty="0" err="1"/>
              <a:t>efekt</a:t>
            </a:r>
            <a:r>
              <a:rPr lang="en-US" dirty="0"/>
              <a:t> je </a:t>
            </a:r>
            <a:r>
              <a:rPr lang="en-US" dirty="0" err="1"/>
              <a:t>ještě</a:t>
            </a:r>
            <a:r>
              <a:rPr lang="en-US" dirty="0"/>
              <a:t> </a:t>
            </a:r>
            <a:r>
              <a:rPr lang="en-US" dirty="0" err="1"/>
              <a:t>silnější</a:t>
            </a:r>
            <a:r>
              <a:rPr lang="en-US" dirty="0"/>
              <a:t> pro </a:t>
            </a:r>
            <a:r>
              <a:rPr lang="en-US" dirty="0" err="1"/>
              <a:t>hispánské</a:t>
            </a:r>
            <a:r>
              <a:rPr lang="en-US" dirty="0"/>
              <a:t> a </a:t>
            </a:r>
            <a:r>
              <a:rPr lang="en-US" dirty="0" err="1"/>
              <a:t>bílé</a:t>
            </a:r>
            <a:r>
              <a:rPr lang="en-US" dirty="0"/>
              <a:t> </a:t>
            </a:r>
            <a:r>
              <a:rPr lang="en-US" dirty="0" err="1"/>
              <a:t>oběti</a:t>
            </a:r>
            <a:r>
              <a:rPr lang="en-US" dirty="0"/>
              <a:t> v </a:t>
            </a:r>
            <a:r>
              <a:rPr lang="en-US" dirty="0" err="1"/>
              <a:t>kombinaci</a:t>
            </a:r>
            <a:r>
              <a:rPr lang="en-US" dirty="0"/>
              <a:t> s </a:t>
            </a:r>
            <a:r>
              <a:rPr lang="en-US" dirty="0" err="1"/>
              <a:t>vysokým</a:t>
            </a:r>
            <a:r>
              <a:rPr lang="en-US" dirty="0"/>
              <a:t> </a:t>
            </a:r>
            <a:r>
              <a:rPr lang="en-US" dirty="0" err="1"/>
              <a:t>rozpočtem</a:t>
            </a:r>
            <a:r>
              <a:rPr lang="en-US" dirty="0"/>
              <a:t> - confidence </a:t>
            </a:r>
            <a:r>
              <a:rPr lang="en-US" dirty="0" err="1"/>
              <a:t>až</a:t>
            </a:r>
            <a:r>
              <a:rPr lang="en-US" dirty="0"/>
              <a:t> 77,8%.</a:t>
            </a:r>
            <a:endParaRPr lang="cs-CZ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78136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První</a:t>
            </a:r>
            <a:r>
              <a:rPr lang="en-US" dirty="0"/>
              <a:t> </a:t>
            </a:r>
            <a:r>
              <a:rPr lang="en-US" dirty="0" err="1"/>
              <a:t>klíčové</a:t>
            </a:r>
            <a:r>
              <a:rPr lang="en-US" dirty="0"/>
              <a:t> </a:t>
            </a:r>
            <a:r>
              <a:rPr lang="en-US" dirty="0" err="1"/>
              <a:t>zjištění</a:t>
            </a:r>
            <a:r>
              <a:rPr lang="en-US" dirty="0"/>
              <a:t>: </a:t>
            </a:r>
            <a:r>
              <a:rPr lang="en-US" dirty="0" err="1"/>
              <a:t>Korelace</a:t>
            </a:r>
            <a:r>
              <a:rPr lang="en-US" dirty="0"/>
              <a:t> </a:t>
            </a:r>
            <a:r>
              <a:rPr lang="en-US" dirty="0" err="1"/>
              <a:t>mezi</a:t>
            </a:r>
            <a:r>
              <a:rPr lang="en-US" dirty="0"/>
              <a:t> </a:t>
            </a:r>
            <a:r>
              <a:rPr lang="en-US" dirty="0" err="1"/>
              <a:t>rozpočtem</a:t>
            </a:r>
            <a:r>
              <a:rPr lang="en-US" dirty="0"/>
              <a:t> a </a:t>
            </a:r>
            <a:r>
              <a:rPr lang="en-US" dirty="0" err="1"/>
              <a:t>mírou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 je </a:t>
            </a:r>
            <a:r>
              <a:rPr lang="en-US" dirty="0" err="1"/>
              <a:t>extrémně</a:t>
            </a:r>
            <a:r>
              <a:rPr lang="en-US" dirty="0"/>
              <a:t> </a:t>
            </a:r>
            <a:r>
              <a:rPr lang="en-US" dirty="0" err="1"/>
              <a:t>slabá</a:t>
            </a:r>
            <a:r>
              <a:rPr lang="en-US" dirty="0"/>
              <a:t> - r </a:t>
            </a:r>
            <a:r>
              <a:rPr lang="en-US" dirty="0" err="1"/>
              <a:t>rovná</a:t>
            </a:r>
            <a:r>
              <a:rPr lang="en-US" dirty="0"/>
              <a:t> se 0,09. </a:t>
            </a:r>
            <a:r>
              <a:rPr lang="en-US" dirty="0" err="1"/>
              <a:t>Města</a:t>
            </a:r>
            <a:r>
              <a:rPr lang="en-US" dirty="0"/>
              <a:t> s </a:t>
            </a:r>
            <a:r>
              <a:rPr lang="en-US" dirty="0" err="1"/>
              <a:t>vysokým</a:t>
            </a:r>
            <a:r>
              <a:rPr lang="en-US" dirty="0"/>
              <a:t> </a:t>
            </a:r>
            <a:r>
              <a:rPr lang="en-US" dirty="0" err="1"/>
              <a:t>rozpočtem</a:t>
            </a:r>
            <a:r>
              <a:rPr lang="en-US" dirty="0"/>
              <a:t> </a:t>
            </a:r>
            <a:r>
              <a:rPr lang="en-US" dirty="0" err="1"/>
              <a:t>nemají</a:t>
            </a:r>
            <a:r>
              <a:rPr lang="en-US" dirty="0"/>
              <a:t> </a:t>
            </a:r>
            <a:r>
              <a:rPr lang="en-US" dirty="0" err="1"/>
              <a:t>statisticky</a:t>
            </a:r>
            <a:r>
              <a:rPr lang="en-US" dirty="0"/>
              <a:t> </a:t>
            </a:r>
            <a:r>
              <a:rPr lang="en-US" dirty="0" err="1"/>
              <a:t>významně</a:t>
            </a:r>
            <a:r>
              <a:rPr lang="en-US" dirty="0"/>
              <a:t> </a:t>
            </a:r>
            <a:r>
              <a:rPr lang="en-US" dirty="0" err="1"/>
              <a:t>nižší</a:t>
            </a:r>
            <a:r>
              <a:rPr lang="en-US" dirty="0"/>
              <a:t> </a:t>
            </a:r>
            <a:r>
              <a:rPr lang="en-US" dirty="0" err="1"/>
              <a:t>míru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. </a:t>
            </a:r>
            <a:r>
              <a:rPr lang="en-US" dirty="0" err="1"/>
              <a:t>Průměrná</a:t>
            </a:r>
            <a:r>
              <a:rPr lang="en-US" dirty="0"/>
              <a:t> </a:t>
            </a:r>
            <a:r>
              <a:rPr lang="en-US" dirty="0" err="1"/>
              <a:t>míra</a:t>
            </a:r>
            <a:r>
              <a:rPr lang="en-US" dirty="0"/>
              <a:t> je </a:t>
            </a:r>
            <a:r>
              <a:rPr lang="en-US" dirty="0" err="1"/>
              <a:t>podobná</a:t>
            </a:r>
            <a:r>
              <a:rPr lang="en-US" dirty="0"/>
              <a:t> </a:t>
            </a:r>
            <a:r>
              <a:rPr lang="en-US" dirty="0" err="1"/>
              <a:t>napříč</a:t>
            </a:r>
            <a:r>
              <a:rPr lang="en-US" dirty="0"/>
              <a:t> </a:t>
            </a:r>
            <a:r>
              <a:rPr lang="en-US" dirty="0" err="1"/>
              <a:t>všemi</a:t>
            </a:r>
            <a:r>
              <a:rPr lang="en-US" dirty="0"/>
              <a:t> </a:t>
            </a:r>
            <a:r>
              <a:rPr lang="en-US" dirty="0" err="1"/>
              <a:t>kategoriemi</a:t>
            </a:r>
            <a:r>
              <a:rPr lang="en-US" dirty="0"/>
              <a:t> - </a:t>
            </a:r>
            <a:r>
              <a:rPr lang="en-US" dirty="0" err="1"/>
              <a:t>kolem</a:t>
            </a:r>
            <a:r>
              <a:rPr lang="en-US" dirty="0"/>
              <a:t> 3 </a:t>
            </a:r>
            <a:r>
              <a:rPr lang="en-US" dirty="0" err="1"/>
              <a:t>až</a:t>
            </a:r>
            <a:r>
              <a:rPr lang="en-US" dirty="0"/>
              <a:t> 4 </a:t>
            </a:r>
            <a:r>
              <a:rPr lang="en-US" dirty="0" err="1"/>
              <a:t>střeleb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100 </a:t>
            </a:r>
            <a:r>
              <a:rPr lang="en-US" dirty="0" err="1"/>
              <a:t>tisíc</a:t>
            </a:r>
            <a:r>
              <a:rPr lang="en-US" dirty="0"/>
              <a:t> </a:t>
            </a:r>
            <a:r>
              <a:rPr lang="en-US" dirty="0" err="1"/>
              <a:t>obyvatel</a:t>
            </a:r>
            <a:r>
              <a:rPr lang="en-US" dirty="0"/>
              <a:t>.</a:t>
            </a:r>
            <a:endParaRPr lang="cs-CZ" dirty="0"/>
          </a:p>
          <a:p>
            <a:endParaRPr lang="en-US" dirty="0"/>
          </a:p>
          <a:p>
            <a:r>
              <a:rPr lang="en-US" dirty="0"/>
              <a:t>Z </a:t>
            </a:r>
            <a:r>
              <a:rPr lang="en-US" dirty="0" err="1"/>
              <a:t>geografických</a:t>
            </a:r>
            <a:r>
              <a:rPr lang="en-US" dirty="0"/>
              <a:t> </a:t>
            </a:r>
            <a:r>
              <a:rPr lang="en-US" dirty="0" err="1"/>
              <a:t>vzorců</a:t>
            </a:r>
            <a:r>
              <a:rPr lang="en-US" dirty="0"/>
              <a:t> - </a:t>
            </a:r>
            <a:r>
              <a:rPr lang="en-US" dirty="0" err="1"/>
              <a:t>Kalifornie</a:t>
            </a:r>
            <a:r>
              <a:rPr lang="en-US" dirty="0"/>
              <a:t> a Texas </a:t>
            </a:r>
            <a:r>
              <a:rPr lang="en-US" dirty="0" err="1"/>
              <a:t>dominují</a:t>
            </a:r>
            <a:r>
              <a:rPr lang="en-US" dirty="0"/>
              <a:t> v </a:t>
            </a:r>
            <a:r>
              <a:rPr lang="en-US" dirty="0" err="1"/>
              <a:t>absolutních</a:t>
            </a:r>
            <a:r>
              <a:rPr lang="en-US" dirty="0"/>
              <a:t> </a:t>
            </a:r>
            <a:r>
              <a:rPr lang="en-US" dirty="0" err="1"/>
              <a:t>číslech</a:t>
            </a:r>
            <a:r>
              <a:rPr lang="en-US" dirty="0"/>
              <a:t>, ale po </a:t>
            </a:r>
            <a:r>
              <a:rPr lang="en-US" dirty="0" err="1"/>
              <a:t>normalizaci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populaci</a:t>
            </a:r>
            <a:r>
              <a:rPr lang="en-US" dirty="0"/>
              <a:t> se </a:t>
            </a:r>
            <a:r>
              <a:rPr lang="en-US" dirty="0" err="1"/>
              <a:t>rozdíly</a:t>
            </a:r>
            <a:r>
              <a:rPr lang="en-US" dirty="0"/>
              <a:t> </a:t>
            </a:r>
            <a:r>
              <a:rPr lang="en-US" dirty="0" err="1"/>
              <a:t>zmenšují</a:t>
            </a:r>
            <a:r>
              <a:rPr lang="en-US" dirty="0"/>
              <a:t>.</a:t>
            </a:r>
            <a:endParaRPr lang="cs-CZ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8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2081865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 </a:t>
            </a:r>
            <a:r>
              <a:rPr lang="en-US" dirty="0" err="1"/>
              <a:t>demografických</a:t>
            </a:r>
            <a:r>
              <a:rPr lang="en-US" dirty="0"/>
              <a:t> </a:t>
            </a:r>
            <a:r>
              <a:rPr lang="en-US" dirty="0" err="1"/>
              <a:t>charakteristik</a:t>
            </a:r>
            <a:r>
              <a:rPr lang="en-US" dirty="0"/>
              <a:t> - </a:t>
            </a:r>
            <a:r>
              <a:rPr lang="en-US" dirty="0" err="1"/>
              <a:t>černošské</a:t>
            </a:r>
            <a:r>
              <a:rPr lang="en-US" dirty="0"/>
              <a:t> </a:t>
            </a:r>
            <a:r>
              <a:rPr lang="en-US" dirty="0" err="1"/>
              <a:t>oběti</a:t>
            </a:r>
            <a:r>
              <a:rPr lang="en-US" dirty="0"/>
              <a:t> </a:t>
            </a:r>
            <a:r>
              <a:rPr lang="en-US" dirty="0" err="1"/>
              <a:t>tvoří</a:t>
            </a:r>
            <a:r>
              <a:rPr lang="en-US" dirty="0"/>
              <a:t> 36% </a:t>
            </a:r>
            <a:r>
              <a:rPr lang="en-US" dirty="0" err="1"/>
              <a:t>případů</a:t>
            </a:r>
            <a:r>
              <a:rPr lang="en-US" dirty="0"/>
              <a:t>, </a:t>
            </a:r>
            <a:r>
              <a:rPr lang="en-US" dirty="0" err="1"/>
              <a:t>což</a:t>
            </a:r>
            <a:r>
              <a:rPr lang="en-US" dirty="0"/>
              <a:t> je </a:t>
            </a:r>
            <a:r>
              <a:rPr lang="en-US" dirty="0" err="1"/>
              <a:t>výrazná</a:t>
            </a:r>
            <a:r>
              <a:rPr lang="en-US" dirty="0"/>
              <a:t> </a:t>
            </a:r>
            <a:r>
              <a:rPr lang="en-US" dirty="0" err="1"/>
              <a:t>nadreprezentace</a:t>
            </a:r>
            <a:r>
              <a:rPr lang="en-US" dirty="0"/>
              <a:t> </a:t>
            </a:r>
            <a:r>
              <a:rPr lang="en-US" dirty="0" err="1"/>
              <a:t>vzhledem</a:t>
            </a:r>
            <a:r>
              <a:rPr lang="en-US" dirty="0"/>
              <a:t> k </a:t>
            </a:r>
            <a:r>
              <a:rPr lang="en-US" dirty="0" err="1"/>
              <a:t>jejich</a:t>
            </a:r>
            <a:r>
              <a:rPr lang="en-US" dirty="0"/>
              <a:t> 13% </a:t>
            </a:r>
            <a:r>
              <a:rPr lang="en-US" dirty="0" err="1"/>
              <a:t>podílu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populaci</a:t>
            </a:r>
            <a:r>
              <a:rPr lang="en-US" dirty="0"/>
              <a:t> USA. 96% </a:t>
            </a:r>
            <a:r>
              <a:rPr lang="en-US" dirty="0" err="1"/>
              <a:t>obětí</a:t>
            </a:r>
            <a:r>
              <a:rPr lang="en-US" dirty="0"/>
              <a:t> </a:t>
            </a:r>
            <a:r>
              <a:rPr lang="en-US" dirty="0" err="1"/>
              <a:t>jsou</a:t>
            </a:r>
            <a:r>
              <a:rPr lang="en-US" dirty="0"/>
              <a:t> </a:t>
            </a:r>
            <a:r>
              <a:rPr lang="en-US" dirty="0" err="1"/>
              <a:t>muži</a:t>
            </a:r>
            <a:r>
              <a:rPr lang="en-US" dirty="0"/>
              <a:t>.</a:t>
            </a:r>
            <a:endParaRPr lang="cs-CZ" dirty="0"/>
          </a:p>
          <a:p>
            <a:endParaRPr lang="en-US" dirty="0"/>
          </a:p>
          <a:p>
            <a:r>
              <a:rPr lang="en-US" dirty="0"/>
              <a:t>Z </a:t>
            </a:r>
            <a:r>
              <a:rPr lang="en-US" dirty="0" err="1"/>
              <a:t>okolností</a:t>
            </a:r>
            <a:r>
              <a:rPr lang="en-US" dirty="0"/>
              <a:t> </a:t>
            </a:r>
            <a:r>
              <a:rPr lang="en-US" dirty="0" err="1"/>
              <a:t>incidentů</a:t>
            </a:r>
            <a:r>
              <a:rPr lang="en-US" dirty="0"/>
              <a:t> - </a:t>
            </a:r>
            <a:r>
              <a:rPr lang="en-US" dirty="0" err="1"/>
              <a:t>většina</a:t>
            </a:r>
            <a:r>
              <a:rPr lang="en-US" dirty="0"/>
              <a:t> </a:t>
            </a:r>
            <a:r>
              <a:rPr lang="en-US" dirty="0" err="1"/>
              <a:t>obětí</a:t>
            </a:r>
            <a:r>
              <a:rPr lang="en-US" dirty="0"/>
              <a:t> </a:t>
            </a:r>
            <a:r>
              <a:rPr lang="en-US" dirty="0" err="1"/>
              <a:t>byla</a:t>
            </a:r>
            <a:r>
              <a:rPr lang="en-US" dirty="0"/>
              <a:t> </a:t>
            </a:r>
            <a:r>
              <a:rPr lang="en-US" dirty="0" err="1"/>
              <a:t>ozbrojená</a:t>
            </a:r>
            <a:r>
              <a:rPr lang="en-US" dirty="0"/>
              <a:t>, </a:t>
            </a:r>
            <a:r>
              <a:rPr lang="en-US" dirty="0" err="1"/>
              <a:t>nejčastěji</a:t>
            </a:r>
            <a:r>
              <a:rPr lang="en-US" dirty="0"/>
              <a:t> </a:t>
            </a:r>
            <a:r>
              <a:rPr lang="en-US" dirty="0" err="1"/>
              <a:t>střelnou</a:t>
            </a:r>
            <a:r>
              <a:rPr lang="en-US" dirty="0"/>
              <a:t> </a:t>
            </a:r>
            <a:r>
              <a:rPr lang="en-US" dirty="0" err="1"/>
              <a:t>zbraní</a:t>
            </a:r>
            <a:r>
              <a:rPr lang="en-US" dirty="0"/>
              <a:t>. 65% </a:t>
            </a:r>
            <a:r>
              <a:rPr lang="en-US" dirty="0" err="1"/>
              <a:t>incidentů</a:t>
            </a:r>
            <a:r>
              <a:rPr lang="en-US" dirty="0"/>
              <a:t> </a:t>
            </a:r>
            <a:r>
              <a:rPr lang="en-US" dirty="0" err="1"/>
              <a:t>bylo</a:t>
            </a:r>
            <a:r>
              <a:rPr lang="en-US" dirty="0"/>
              <a:t> </a:t>
            </a:r>
            <a:r>
              <a:rPr lang="en-US" dirty="0" err="1"/>
              <a:t>klasifikováno</a:t>
            </a:r>
            <a:r>
              <a:rPr lang="en-US" dirty="0"/>
              <a:t> </a:t>
            </a:r>
            <a:r>
              <a:rPr lang="en-US" dirty="0" err="1"/>
              <a:t>jako</a:t>
            </a:r>
            <a:r>
              <a:rPr lang="en-US" dirty="0"/>
              <a:t> </a:t>
            </a:r>
            <a:r>
              <a:rPr lang="en-US" dirty="0" err="1"/>
              <a:t>útok</a:t>
            </a:r>
            <a:r>
              <a:rPr lang="en-US" dirty="0"/>
              <a:t>. </a:t>
            </a:r>
            <a:r>
              <a:rPr lang="en-US" dirty="0" err="1"/>
              <a:t>Větší</a:t>
            </a:r>
            <a:r>
              <a:rPr lang="en-US" dirty="0"/>
              <a:t> </a:t>
            </a:r>
            <a:r>
              <a:rPr lang="en-US" dirty="0" err="1"/>
              <a:t>města</a:t>
            </a:r>
            <a:r>
              <a:rPr lang="en-US" dirty="0"/>
              <a:t> </a:t>
            </a:r>
            <a:r>
              <a:rPr lang="en-US" dirty="0" err="1"/>
              <a:t>používají</a:t>
            </a:r>
            <a:r>
              <a:rPr lang="en-US" dirty="0"/>
              <a:t> body </a:t>
            </a:r>
            <a:r>
              <a:rPr lang="en-US" dirty="0" err="1"/>
              <a:t>kamery</a:t>
            </a:r>
            <a:r>
              <a:rPr lang="en-US" dirty="0"/>
              <a:t> </a:t>
            </a:r>
            <a:r>
              <a:rPr lang="en-US" dirty="0" err="1"/>
              <a:t>častěji</a:t>
            </a:r>
            <a:r>
              <a:rPr lang="en-US" dirty="0"/>
              <a:t>.</a:t>
            </a:r>
            <a:endParaRPr lang="cs-CZ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9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571570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Hlavní</a:t>
            </a:r>
            <a:r>
              <a:rPr lang="en-US" dirty="0"/>
              <a:t> </a:t>
            </a:r>
            <a:r>
              <a:rPr lang="en-US" dirty="0" err="1"/>
              <a:t>zjištění</a:t>
            </a:r>
            <a:r>
              <a:rPr lang="en-US" dirty="0"/>
              <a:t> </a:t>
            </a:r>
            <a:r>
              <a:rPr lang="en-US" dirty="0" err="1"/>
              <a:t>práce</a:t>
            </a:r>
            <a:r>
              <a:rPr lang="en-US" dirty="0"/>
              <a:t> </a:t>
            </a:r>
            <a:r>
              <a:rPr lang="en-US" dirty="0" err="1"/>
              <a:t>nazývám</a:t>
            </a:r>
            <a:r>
              <a:rPr lang="en-US" dirty="0"/>
              <a:t> Paradox </a:t>
            </a:r>
            <a:r>
              <a:rPr lang="en-US" dirty="0" err="1"/>
              <a:t>policejního</a:t>
            </a:r>
            <a:r>
              <a:rPr lang="en-US" dirty="0"/>
              <a:t> </a:t>
            </a:r>
            <a:r>
              <a:rPr lang="en-US" dirty="0" err="1"/>
              <a:t>rozpočtu</a:t>
            </a:r>
            <a:r>
              <a:rPr lang="en-US" dirty="0"/>
              <a:t>. </a:t>
            </a:r>
            <a:r>
              <a:rPr lang="en-US" dirty="0" err="1"/>
              <a:t>Korelace</a:t>
            </a:r>
            <a:r>
              <a:rPr lang="en-US" dirty="0"/>
              <a:t> je </a:t>
            </a:r>
            <a:r>
              <a:rPr lang="en-US" dirty="0" err="1"/>
              <a:t>téměř</a:t>
            </a:r>
            <a:r>
              <a:rPr lang="en-US" dirty="0"/>
              <a:t> </a:t>
            </a:r>
            <a:r>
              <a:rPr lang="en-US" dirty="0" err="1"/>
              <a:t>nulová</a:t>
            </a:r>
            <a:r>
              <a:rPr lang="en-US" dirty="0"/>
              <a:t> - r </a:t>
            </a:r>
            <a:r>
              <a:rPr lang="en-US" dirty="0" err="1"/>
              <a:t>rovná</a:t>
            </a:r>
            <a:r>
              <a:rPr lang="en-US" dirty="0"/>
              <a:t> se 0,09. </a:t>
            </a:r>
            <a:r>
              <a:rPr lang="en-US" dirty="0" err="1"/>
              <a:t>Města</a:t>
            </a:r>
            <a:r>
              <a:rPr lang="en-US" dirty="0"/>
              <a:t> s </a:t>
            </a:r>
            <a:r>
              <a:rPr lang="en-US" dirty="0" err="1"/>
              <a:t>vysokým</a:t>
            </a:r>
            <a:r>
              <a:rPr lang="en-US" dirty="0"/>
              <a:t> </a:t>
            </a:r>
            <a:r>
              <a:rPr lang="en-US" dirty="0" err="1"/>
              <a:t>rozpočtem</a:t>
            </a:r>
            <a:r>
              <a:rPr lang="en-US" dirty="0"/>
              <a:t> </a:t>
            </a:r>
            <a:r>
              <a:rPr lang="en-US" dirty="0" err="1"/>
              <a:t>mají</a:t>
            </a:r>
            <a:r>
              <a:rPr lang="en-US" dirty="0"/>
              <a:t> </a:t>
            </a:r>
            <a:r>
              <a:rPr lang="en-US" dirty="0" err="1"/>
              <a:t>dokonce</a:t>
            </a:r>
            <a:r>
              <a:rPr lang="en-US" dirty="0"/>
              <a:t> </a:t>
            </a:r>
            <a:r>
              <a:rPr lang="en-US" dirty="0" err="1"/>
              <a:t>vyšší</a:t>
            </a:r>
            <a:r>
              <a:rPr lang="en-US" dirty="0"/>
              <a:t> </a:t>
            </a:r>
            <a:r>
              <a:rPr lang="en-US" dirty="0" err="1"/>
              <a:t>pravděpodobnost</a:t>
            </a:r>
            <a:r>
              <a:rPr lang="en-US" dirty="0"/>
              <a:t> </a:t>
            </a:r>
            <a:r>
              <a:rPr lang="en-US" dirty="0" err="1"/>
              <a:t>vysoké</a:t>
            </a:r>
            <a:r>
              <a:rPr lang="en-US" dirty="0"/>
              <a:t> </a:t>
            </a:r>
            <a:r>
              <a:rPr lang="en-US" dirty="0" err="1"/>
              <a:t>míry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 - 69,4% </a:t>
            </a:r>
            <a:r>
              <a:rPr lang="en-US" dirty="0" err="1"/>
              <a:t>podle</a:t>
            </a:r>
            <a:r>
              <a:rPr lang="en-US" dirty="0"/>
              <a:t> 4ft-Miner </a:t>
            </a:r>
            <a:r>
              <a:rPr lang="en-US" dirty="0" err="1"/>
              <a:t>pravidla</a:t>
            </a:r>
            <a:r>
              <a:rPr lang="en-US" dirty="0"/>
              <a:t>.</a:t>
            </a:r>
            <a:endParaRPr lang="cs-CZ" dirty="0"/>
          </a:p>
          <a:p>
            <a:r>
              <a:rPr lang="en-US" dirty="0" err="1"/>
              <a:t>Interpretace</a:t>
            </a:r>
            <a:r>
              <a:rPr lang="en-US" dirty="0"/>
              <a:t>: Vyšší </a:t>
            </a:r>
            <a:r>
              <a:rPr lang="en-US" dirty="0" err="1"/>
              <a:t>rozpočet</a:t>
            </a:r>
            <a:r>
              <a:rPr lang="en-US" dirty="0"/>
              <a:t> </a:t>
            </a:r>
            <a:r>
              <a:rPr lang="en-US" dirty="0" err="1"/>
              <a:t>automaticky</a:t>
            </a:r>
            <a:r>
              <a:rPr lang="en-US" dirty="0"/>
              <a:t> </a:t>
            </a:r>
            <a:r>
              <a:rPr lang="en-US" dirty="0" err="1"/>
              <a:t>neznamená</a:t>
            </a:r>
            <a:r>
              <a:rPr lang="en-US" dirty="0"/>
              <a:t> </a:t>
            </a:r>
            <a:r>
              <a:rPr lang="en-US" dirty="0" err="1"/>
              <a:t>méně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. </a:t>
            </a:r>
            <a:r>
              <a:rPr lang="en-US" dirty="0" err="1"/>
              <a:t>Zajímavé</a:t>
            </a:r>
            <a:r>
              <a:rPr lang="en-US" dirty="0"/>
              <a:t> je, </a:t>
            </a:r>
            <a:r>
              <a:rPr lang="en-US" dirty="0" err="1"/>
              <a:t>že</a:t>
            </a:r>
            <a:r>
              <a:rPr lang="en-US" dirty="0"/>
              <a:t> </a:t>
            </a:r>
            <a:r>
              <a:rPr lang="en-US" dirty="0" err="1"/>
              <a:t>velká</a:t>
            </a:r>
            <a:r>
              <a:rPr lang="en-US" dirty="0"/>
              <a:t> </a:t>
            </a:r>
            <a:r>
              <a:rPr lang="en-US" dirty="0" err="1"/>
              <a:t>města</a:t>
            </a:r>
            <a:r>
              <a:rPr lang="en-US" dirty="0"/>
              <a:t> </a:t>
            </a:r>
            <a:r>
              <a:rPr lang="en-US" dirty="0" err="1"/>
              <a:t>mají</a:t>
            </a:r>
            <a:r>
              <a:rPr lang="en-US" dirty="0"/>
              <a:t> </a:t>
            </a:r>
            <a:r>
              <a:rPr lang="en-US" dirty="0" err="1"/>
              <a:t>paradoxně</a:t>
            </a:r>
            <a:r>
              <a:rPr lang="en-US" dirty="0"/>
              <a:t> </a:t>
            </a:r>
            <a:r>
              <a:rPr lang="en-US" dirty="0" err="1"/>
              <a:t>nejnižší</a:t>
            </a:r>
            <a:r>
              <a:rPr lang="en-US" dirty="0"/>
              <a:t> </a:t>
            </a:r>
            <a:r>
              <a:rPr lang="en-US" dirty="0" err="1"/>
              <a:t>relativní</a:t>
            </a:r>
            <a:r>
              <a:rPr lang="en-US" dirty="0"/>
              <a:t> </a:t>
            </a:r>
            <a:r>
              <a:rPr lang="en-US" dirty="0" err="1"/>
              <a:t>míru</a:t>
            </a:r>
            <a:r>
              <a:rPr lang="en-US" dirty="0"/>
              <a:t> - </a:t>
            </a:r>
            <a:r>
              <a:rPr lang="en-US" dirty="0" err="1"/>
              <a:t>pouze</a:t>
            </a:r>
            <a:r>
              <a:rPr lang="en-US" dirty="0"/>
              <a:t> 28,9% v </a:t>
            </a:r>
            <a:r>
              <a:rPr lang="en-US" dirty="0" err="1"/>
              <a:t>kategorii</a:t>
            </a:r>
            <a:r>
              <a:rPr lang="en-US" dirty="0"/>
              <a:t> High Rate, </a:t>
            </a:r>
            <a:r>
              <a:rPr lang="en-US" dirty="0" err="1"/>
              <a:t>zatímco</a:t>
            </a:r>
            <a:r>
              <a:rPr lang="en-US" dirty="0"/>
              <a:t> </a:t>
            </a:r>
            <a:r>
              <a:rPr lang="en-US" dirty="0" err="1"/>
              <a:t>střední</a:t>
            </a:r>
            <a:r>
              <a:rPr lang="en-US" dirty="0"/>
              <a:t> </a:t>
            </a:r>
            <a:r>
              <a:rPr lang="en-US" dirty="0" err="1"/>
              <a:t>města</a:t>
            </a:r>
            <a:r>
              <a:rPr lang="en-US" dirty="0"/>
              <a:t> 63,5%.</a:t>
            </a:r>
            <a:endParaRPr lang="cs-CZ" dirty="0"/>
          </a:p>
          <a:p>
            <a:endParaRPr lang="en-US" dirty="0"/>
          </a:p>
          <a:p>
            <a:r>
              <a:rPr lang="en-US" dirty="0" err="1"/>
              <a:t>Praktická</a:t>
            </a:r>
            <a:r>
              <a:rPr lang="en-US" dirty="0"/>
              <a:t> </a:t>
            </a:r>
            <a:r>
              <a:rPr lang="en-US" dirty="0" err="1"/>
              <a:t>aplikace</a:t>
            </a:r>
            <a:r>
              <a:rPr lang="en-US" dirty="0"/>
              <a:t>: Je </a:t>
            </a:r>
            <a:r>
              <a:rPr lang="en-US" dirty="0" err="1"/>
              <a:t>potřeba</a:t>
            </a:r>
            <a:r>
              <a:rPr lang="en-US" dirty="0"/>
              <a:t> </a:t>
            </a:r>
            <a:r>
              <a:rPr lang="en-US" dirty="0" err="1"/>
              <a:t>přesměrovat</a:t>
            </a:r>
            <a:r>
              <a:rPr lang="en-US" dirty="0"/>
              <a:t> </a:t>
            </a:r>
            <a:r>
              <a:rPr lang="en-US" dirty="0" err="1"/>
              <a:t>debatu</a:t>
            </a:r>
            <a:r>
              <a:rPr lang="en-US" dirty="0"/>
              <a:t> z </a:t>
            </a:r>
            <a:r>
              <a:rPr lang="en-US" dirty="0" err="1"/>
              <a:t>otázky</a:t>
            </a:r>
            <a:r>
              <a:rPr lang="en-US" dirty="0"/>
              <a:t> '</a:t>
            </a:r>
            <a:r>
              <a:rPr lang="en-US" dirty="0" err="1"/>
              <a:t>kolik</a:t>
            </a:r>
            <a:r>
              <a:rPr lang="en-US" dirty="0"/>
              <a:t> </a:t>
            </a:r>
            <a:r>
              <a:rPr lang="en-US" dirty="0" err="1"/>
              <a:t>peněz</a:t>
            </a:r>
            <a:r>
              <a:rPr lang="en-US" dirty="0"/>
              <a:t>' </a:t>
            </a:r>
            <a:r>
              <a:rPr lang="en-US" dirty="0" err="1"/>
              <a:t>na</a:t>
            </a:r>
            <a:r>
              <a:rPr lang="en-US" dirty="0"/>
              <a:t> 'jak </a:t>
            </a:r>
            <a:r>
              <a:rPr lang="en-US" dirty="0" err="1"/>
              <a:t>efektivně</a:t>
            </a:r>
            <a:r>
              <a:rPr lang="en-US" dirty="0"/>
              <a:t> </a:t>
            </a:r>
            <a:r>
              <a:rPr lang="en-US" dirty="0" err="1"/>
              <a:t>peníze</a:t>
            </a:r>
            <a:r>
              <a:rPr lang="en-US" dirty="0"/>
              <a:t> </a:t>
            </a:r>
            <a:r>
              <a:rPr lang="en-US" dirty="0" err="1"/>
              <a:t>využít</a:t>
            </a:r>
            <a:r>
              <a:rPr lang="en-US" dirty="0"/>
              <a:t>'.</a:t>
            </a:r>
            <a:endParaRPr lang="cs-CZ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10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240843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SD4ft-Miner </a:t>
            </a:r>
            <a:r>
              <a:rPr lang="en-US" dirty="0" err="1"/>
              <a:t>odhalil</a:t>
            </a:r>
            <a:r>
              <a:rPr lang="en-US" dirty="0"/>
              <a:t> </a:t>
            </a:r>
            <a:r>
              <a:rPr lang="en-US" dirty="0" err="1"/>
              <a:t>rasové</a:t>
            </a:r>
            <a:r>
              <a:rPr lang="en-US" dirty="0"/>
              <a:t> disparity u neozbrojených obětí. Černošské oběti mají o 31% vyšší pravděpodobnost být neozbrojené než bílé oběti. Hispánské oběti dokonce o 42% vyšší. Chi-square test potvrzuje statistickou významnost s p-value pod 0,01.</a:t>
            </a:r>
            <a:endParaRPr lang="cs-CZ"/>
          </a:p>
          <a:p>
            <a:r>
              <a:rPr lang="en-US" dirty="0" err="1"/>
              <a:t>Konkrétně</a:t>
            </a:r>
            <a:r>
              <a:rPr lang="en-US" dirty="0"/>
              <a:t>: 12,4% </a:t>
            </a:r>
            <a:r>
              <a:rPr lang="en-US" dirty="0" err="1"/>
              <a:t>černošských</a:t>
            </a:r>
            <a:r>
              <a:rPr lang="en-US" dirty="0"/>
              <a:t> obětí bylo neozbrojených, 13,5% hispánských, ale pouze 9,5% bílých. To naznačuje potřebu přezkoumat policejní procedury pro hodnocení hrozby.</a:t>
            </a:r>
            <a:endParaRPr lang="cs-CZ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11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3639253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4ft-Miner </a:t>
            </a:r>
            <a:r>
              <a:rPr lang="en-US" dirty="0" err="1"/>
              <a:t>identifikoval</a:t>
            </a:r>
            <a:r>
              <a:rPr lang="en-US" dirty="0"/>
              <a:t> </a:t>
            </a:r>
            <a:r>
              <a:rPr lang="en-US" dirty="0" err="1"/>
              <a:t>specifickou</a:t>
            </a:r>
            <a:r>
              <a:rPr lang="en-US" dirty="0"/>
              <a:t> </a:t>
            </a:r>
            <a:r>
              <a:rPr lang="en-US" dirty="0" err="1"/>
              <a:t>rizikovou</a:t>
            </a:r>
            <a:r>
              <a:rPr lang="en-US" dirty="0"/>
              <a:t> </a:t>
            </a:r>
            <a:r>
              <a:rPr lang="en-US" dirty="0" err="1"/>
              <a:t>skupinu</a:t>
            </a:r>
            <a:r>
              <a:rPr lang="en-US" dirty="0"/>
              <a:t>: </a:t>
            </a:r>
            <a:r>
              <a:rPr lang="en-US" dirty="0" err="1"/>
              <a:t>starší</a:t>
            </a:r>
            <a:r>
              <a:rPr lang="en-US" dirty="0"/>
              <a:t> </a:t>
            </a:r>
            <a:r>
              <a:rPr lang="en-US" dirty="0" err="1"/>
              <a:t>bílé</a:t>
            </a:r>
            <a:r>
              <a:rPr lang="en-US" dirty="0"/>
              <a:t> </a:t>
            </a:r>
            <a:r>
              <a:rPr lang="en-US" dirty="0" err="1"/>
              <a:t>oběti</a:t>
            </a:r>
            <a:r>
              <a:rPr lang="en-US" dirty="0"/>
              <a:t> s </a:t>
            </a:r>
            <a:r>
              <a:rPr lang="en-US" dirty="0" err="1"/>
              <a:t>duševním</a:t>
            </a:r>
            <a:r>
              <a:rPr lang="en-US" dirty="0"/>
              <a:t> </a:t>
            </a:r>
            <a:r>
              <a:rPr lang="en-US" dirty="0" err="1"/>
              <a:t>onemocněním</a:t>
            </a:r>
            <a:r>
              <a:rPr lang="en-US" dirty="0"/>
              <a:t>. Tato </a:t>
            </a:r>
            <a:r>
              <a:rPr lang="en-US" dirty="0" err="1"/>
              <a:t>kombinace</a:t>
            </a:r>
            <a:r>
              <a:rPr lang="en-US" dirty="0"/>
              <a:t> </a:t>
            </a:r>
            <a:r>
              <a:rPr lang="en-US" dirty="0" err="1"/>
              <a:t>má</a:t>
            </a:r>
            <a:r>
              <a:rPr lang="en-US" dirty="0"/>
              <a:t> confidence 38,3% s AAD plus 102%, </a:t>
            </a:r>
            <a:r>
              <a:rPr lang="en-US" dirty="0" err="1"/>
              <a:t>tedy</a:t>
            </a:r>
            <a:r>
              <a:rPr lang="en-US" dirty="0"/>
              <a:t> </a:t>
            </a:r>
            <a:r>
              <a:rPr lang="en-US" dirty="0" err="1"/>
              <a:t>více</a:t>
            </a:r>
            <a:r>
              <a:rPr lang="en-US" dirty="0"/>
              <a:t> </a:t>
            </a:r>
            <a:r>
              <a:rPr lang="en-US" dirty="0" err="1"/>
              <a:t>než</a:t>
            </a:r>
            <a:r>
              <a:rPr lang="en-US" dirty="0"/>
              <a:t> </a:t>
            </a:r>
            <a:r>
              <a:rPr lang="en-US" dirty="0" err="1"/>
              <a:t>dvojnásobek</a:t>
            </a:r>
            <a:r>
              <a:rPr lang="en-US" dirty="0"/>
              <a:t> </a:t>
            </a:r>
            <a:r>
              <a:rPr lang="en-US" dirty="0" err="1"/>
              <a:t>průměru</a:t>
            </a:r>
            <a:r>
              <a:rPr lang="en-US" dirty="0"/>
              <a:t>. Chi-square test pro </a:t>
            </a:r>
            <a:r>
              <a:rPr lang="en-US" dirty="0" err="1"/>
              <a:t>věk</a:t>
            </a:r>
            <a:r>
              <a:rPr lang="en-US" dirty="0"/>
              <a:t> versus </a:t>
            </a:r>
            <a:r>
              <a:rPr lang="en-US" dirty="0" err="1"/>
              <a:t>duševní</a:t>
            </a:r>
            <a:r>
              <a:rPr lang="en-US" dirty="0"/>
              <a:t> </a:t>
            </a:r>
            <a:r>
              <a:rPr lang="en-US" dirty="0" err="1"/>
              <a:t>onemocnění</a:t>
            </a:r>
            <a:r>
              <a:rPr lang="en-US" dirty="0"/>
              <a:t> je </a:t>
            </a:r>
            <a:r>
              <a:rPr lang="en-US" dirty="0" err="1"/>
              <a:t>vysoce</a:t>
            </a:r>
            <a:r>
              <a:rPr lang="en-US" dirty="0"/>
              <a:t> </a:t>
            </a:r>
            <a:r>
              <a:rPr lang="en-US" dirty="0" err="1"/>
              <a:t>signifikantní</a:t>
            </a:r>
            <a:r>
              <a:rPr lang="en-US" dirty="0"/>
              <a:t> s p-value 0,0008.</a:t>
            </a:r>
            <a:endParaRPr lang="cs-CZ" dirty="0"/>
          </a:p>
          <a:p>
            <a:endParaRPr lang="en-US" dirty="0"/>
          </a:p>
          <a:p>
            <a:r>
              <a:rPr lang="en-US" dirty="0" err="1"/>
              <a:t>Praktická</a:t>
            </a:r>
            <a:r>
              <a:rPr lang="en-US" dirty="0"/>
              <a:t> </a:t>
            </a:r>
            <a:r>
              <a:rPr lang="en-US" dirty="0" err="1"/>
              <a:t>aplikace</a:t>
            </a:r>
            <a:r>
              <a:rPr lang="en-US" dirty="0"/>
              <a:t>: </a:t>
            </a:r>
            <a:r>
              <a:rPr lang="en-US" dirty="0" err="1"/>
              <a:t>Vytvoření</a:t>
            </a:r>
            <a:r>
              <a:rPr lang="en-US" dirty="0"/>
              <a:t> </a:t>
            </a:r>
            <a:r>
              <a:rPr lang="en-US" dirty="0" err="1"/>
              <a:t>specializovaných</a:t>
            </a:r>
            <a:r>
              <a:rPr lang="en-US" dirty="0"/>
              <a:t> </a:t>
            </a:r>
            <a:r>
              <a:rPr lang="en-US" dirty="0" err="1"/>
              <a:t>jednotek</a:t>
            </a:r>
            <a:r>
              <a:rPr lang="en-US" dirty="0"/>
              <a:t> pro mental health crisis, </a:t>
            </a:r>
            <a:r>
              <a:rPr lang="en-US" dirty="0" err="1"/>
              <a:t>takzvané</a:t>
            </a:r>
            <a:r>
              <a:rPr lang="en-US" dirty="0"/>
              <a:t> CIT teams, s </a:t>
            </a:r>
            <a:r>
              <a:rPr lang="en-US" dirty="0" err="1"/>
              <a:t>prioritou</a:t>
            </a:r>
            <a:r>
              <a:rPr lang="en-US" dirty="0"/>
              <a:t> v </a:t>
            </a:r>
            <a:r>
              <a:rPr lang="en-US" dirty="0" err="1"/>
              <a:t>oblastech</a:t>
            </a:r>
            <a:r>
              <a:rPr lang="en-US" dirty="0"/>
              <a:t> s </a:t>
            </a:r>
            <a:r>
              <a:rPr lang="en-US" dirty="0" err="1"/>
              <a:t>vyšším</a:t>
            </a:r>
            <a:r>
              <a:rPr lang="en-US" dirty="0"/>
              <a:t> </a:t>
            </a:r>
            <a:r>
              <a:rPr lang="en-US" dirty="0" err="1"/>
              <a:t>podílem</a:t>
            </a:r>
            <a:r>
              <a:rPr lang="en-US" dirty="0"/>
              <a:t> </a:t>
            </a:r>
            <a:r>
              <a:rPr lang="en-US" dirty="0" err="1"/>
              <a:t>seniorů</a:t>
            </a:r>
            <a:r>
              <a:rPr lang="en-US" dirty="0"/>
              <a:t>.</a:t>
            </a:r>
            <a:endParaRPr lang="cs-CZ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12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377309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Nejsilnější</a:t>
            </a:r>
            <a:r>
              <a:rPr lang="en-US" dirty="0"/>
              <a:t> </a:t>
            </a:r>
            <a:r>
              <a:rPr lang="en-US" dirty="0" err="1"/>
              <a:t>nalezený</a:t>
            </a:r>
            <a:r>
              <a:rPr lang="en-US" dirty="0"/>
              <a:t> </a:t>
            </a:r>
            <a:r>
              <a:rPr lang="en-US" dirty="0" err="1"/>
              <a:t>vztah</a:t>
            </a:r>
            <a:r>
              <a:rPr lang="en-US" dirty="0"/>
              <a:t> je </a:t>
            </a:r>
            <a:r>
              <a:rPr lang="en-US" dirty="0" err="1"/>
              <a:t>mezi</a:t>
            </a:r>
            <a:r>
              <a:rPr lang="en-US" dirty="0"/>
              <a:t> </a:t>
            </a:r>
            <a:r>
              <a:rPr lang="en-US" dirty="0" err="1"/>
              <a:t>velikostí</a:t>
            </a:r>
            <a:r>
              <a:rPr lang="en-US" dirty="0"/>
              <a:t> </a:t>
            </a:r>
            <a:r>
              <a:rPr lang="en-US" dirty="0" err="1"/>
              <a:t>města</a:t>
            </a:r>
            <a:r>
              <a:rPr lang="en-US" dirty="0"/>
              <a:t> a </a:t>
            </a:r>
            <a:r>
              <a:rPr lang="en-US" dirty="0" err="1"/>
              <a:t>relativní</a:t>
            </a:r>
            <a:r>
              <a:rPr lang="en-US" dirty="0"/>
              <a:t> </a:t>
            </a:r>
            <a:r>
              <a:rPr lang="en-US" dirty="0" err="1"/>
              <a:t>mírou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 - Cramer's V 0,2357, p-value </a:t>
            </a:r>
            <a:r>
              <a:rPr lang="en-US" dirty="0" err="1"/>
              <a:t>prakticky</a:t>
            </a:r>
            <a:r>
              <a:rPr lang="en-US" dirty="0"/>
              <a:t> </a:t>
            </a:r>
            <a:r>
              <a:rPr lang="en-US" dirty="0" err="1"/>
              <a:t>nulová</a:t>
            </a:r>
            <a:r>
              <a:rPr lang="en-US" dirty="0"/>
              <a:t>. Malá a </a:t>
            </a:r>
            <a:r>
              <a:rPr lang="en-US" dirty="0" err="1"/>
              <a:t>střední</a:t>
            </a:r>
            <a:r>
              <a:rPr lang="en-US" dirty="0"/>
              <a:t> </a:t>
            </a:r>
            <a:r>
              <a:rPr lang="en-US" dirty="0" err="1"/>
              <a:t>města</a:t>
            </a:r>
            <a:r>
              <a:rPr lang="en-US" dirty="0"/>
              <a:t> </a:t>
            </a:r>
            <a:r>
              <a:rPr lang="en-US" dirty="0" err="1"/>
              <a:t>mají</a:t>
            </a:r>
            <a:r>
              <a:rPr lang="en-US" dirty="0"/>
              <a:t> </a:t>
            </a:r>
            <a:r>
              <a:rPr lang="en-US" dirty="0" err="1"/>
              <a:t>kolem</a:t>
            </a:r>
            <a:r>
              <a:rPr lang="en-US" dirty="0"/>
              <a:t> 62% </a:t>
            </a:r>
            <a:r>
              <a:rPr lang="en-US" dirty="0" err="1"/>
              <a:t>případů</a:t>
            </a:r>
            <a:r>
              <a:rPr lang="en-US" dirty="0"/>
              <a:t> v </a:t>
            </a:r>
            <a:r>
              <a:rPr lang="en-US" dirty="0" err="1"/>
              <a:t>kategorii</a:t>
            </a:r>
            <a:r>
              <a:rPr lang="en-US" dirty="0"/>
              <a:t> High Rate, </a:t>
            </a:r>
            <a:r>
              <a:rPr lang="en-US" dirty="0" err="1"/>
              <a:t>zatímco</a:t>
            </a:r>
            <a:r>
              <a:rPr lang="en-US" dirty="0"/>
              <a:t> </a:t>
            </a:r>
            <a:r>
              <a:rPr lang="en-US" dirty="0" err="1"/>
              <a:t>velká</a:t>
            </a:r>
            <a:r>
              <a:rPr lang="en-US" dirty="0"/>
              <a:t> </a:t>
            </a:r>
            <a:r>
              <a:rPr lang="en-US" dirty="0" err="1"/>
              <a:t>města</a:t>
            </a:r>
            <a:r>
              <a:rPr lang="en-US" dirty="0"/>
              <a:t> </a:t>
            </a:r>
            <a:r>
              <a:rPr lang="en-US" dirty="0" err="1"/>
              <a:t>pouze</a:t>
            </a:r>
            <a:r>
              <a:rPr lang="en-US" dirty="0"/>
              <a:t> 29%.</a:t>
            </a:r>
            <a:endParaRPr lang="cs-CZ" dirty="0"/>
          </a:p>
          <a:p>
            <a:r>
              <a:rPr lang="en-US" dirty="0" err="1"/>
              <a:t>Interpretace</a:t>
            </a:r>
            <a:r>
              <a:rPr lang="en-US" dirty="0"/>
              <a:t>: </a:t>
            </a:r>
            <a:r>
              <a:rPr lang="en-US" dirty="0" err="1"/>
              <a:t>Menší</a:t>
            </a:r>
            <a:r>
              <a:rPr lang="en-US" dirty="0"/>
              <a:t> </a:t>
            </a:r>
            <a:r>
              <a:rPr lang="en-US" dirty="0" err="1"/>
              <a:t>města</a:t>
            </a:r>
            <a:r>
              <a:rPr lang="en-US" dirty="0"/>
              <a:t> </a:t>
            </a:r>
            <a:r>
              <a:rPr lang="en-US" dirty="0" err="1"/>
              <a:t>mají</a:t>
            </a:r>
            <a:r>
              <a:rPr lang="en-US" dirty="0"/>
              <a:t> </a:t>
            </a:r>
            <a:r>
              <a:rPr lang="en-US" dirty="0" err="1"/>
              <a:t>výrazně</a:t>
            </a:r>
            <a:r>
              <a:rPr lang="en-US" dirty="0"/>
              <a:t> </a:t>
            </a:r>
            <a:r>
              <a:rPr lang="en-US" dirty="0" err="1"/>
              <a:t>vyšší</a:t>
            </a:r>
            <a:r>
              <a:rPr lang="en-US" dirty="0"/>
              <a:t> </a:t>
            </a:r>
            <a:r>
              <a:rPr lang="en-US" dirty="0" err="1"/>
              <a:t>relativní</a:t>
            </a:r>
            <a:r>
              <a:rPr lang="en-US" dirty="0"/>
              <a:t> </a:t>
            </a:r>
            <a:r>
              <a:rPr lang="en-US" dirty="0" err="1"/>
              <a:t>míru</a:t>
            </a:r>
            <a:r>
              <a:rPr lang="en-US" dirty="0"/>
              <a:t> </a:t>
            </a:r>
            <a:r>
              <a:rPr lang="en-US" dirty="0" err="1"/>
              <a:t>střeleb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100 </a:t>
            </a:r>
            <a:r>
              <a:rPr lang="en-US" dirty="0" err="1"/>
              <a:t>tisíc</a:t>
            </a:r>
            <a:r>
              <a:rPr lang="en-US" dirty="0"/>
              <a:t> </a:t>
            </a:r>
            <a:r>
              <a:rPr lang="en-US" dirty="0" err="1"/>
              <a:t>obyvatel</a:t>
            </a:r>
            <a:r>
              <a:rPr lang="en-US" dirty="0"/>
              <a:t>. </a:t>
            </a:r>
            <a:r>
              <a:rPr lang="en-US" dirty="0" err="1"/>
              <a:t>Praktická</a:t>
            </a:r>
            <a:r>
              <a:rPr lang="en-US" dirty="0"/>
              <a:t> </a:t>
            </a:r>
            <a:r>
              <a:rPr lang="en-US" dirty="0" err="1"/>
              <a:t>aplikace</a:t>
            </a:r>
            <a:r>
              <a:rPr lang="en-US" dirty="0"/>
              <a:t>: </a:t>
            </a:r>
            <a:r>
              <a:rPr lang="en-US" dirty="0" err="1"/>
              <a:t>Cílit</a:t>
            </a:r>
            <a:r>
              <a:rPr lang="en-US" dirty="0"/>
              <a:t> </a:t>
            </a:r>
            <a:r>
              <a:rPr lang="en-US" dirty="0" err="1"/>
              <a:t>preventivní</a:t>
            </a:r>
            <a:r>
              <a:rPr lang="en-US" dirty="0"/>
              <a:t> </a:t>
            </a:r>
            <a:r>
              <a:rPr lang="en-US" dirty="0" err="1"/>
              <a:t>programy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malá</a:t>
            </a:r>
            <a:r>
              <a:rPr lang="en-US" dirty="0"/>
              <a:t> a </a:t>
            </a:r>
            <a:r>
              <a:rPr lang="en-US" dirty="0" err="1"/>
              <a:t>střední</a:t>
            </a:r>
            <a:r>
              <a:rPr lang="en-US" dirty="0"/>
              <a:t> </a:t>
            </a:r>
            <a:r>
              <a:rPr lang="en-US" dirty="0" err="1"/>
              <a:t>města</a:t>
            </a:r>
            <a:r>
              <a:rPr lang="en-US" dirty="0"/>
              <a:t> a </a:t>
            </a:r>
            <a:r>
              <a:rPr lang="en-US" dirty="0" err="1"/>
              <a:t>sdílet</a:t>
            </a:r>
            <a:r>
              <a:rPr lang="en-US" dirty="0"/>
              <a:t> best practices z </a:t>
            </a:r>
            <a:r>
              <a:rPr lang="en-US" dirty="0" err="1"/>
              <a:t>velkých</a:t>
            </a:r>
            <a:r>
              <a:rPr lang="en-US" dirty="0"/>
              <a:t> </a:t>
            </a:r>
            <a:r>
              <a:rPr lang="en-US" dirty="0" err="1"/>
              <a:t>měst</a:t>
            </a:r>
            <a:r>
              <a:rPr lang="en-US" dirty="0"/>
              <a:t>.</a:t>
            </a:r>
            <a:endParaRPr lang="cs-CZ" dirty="0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D7887F-6850-4035-AC54-18CAEC2670FC}" type="slidenum">
              <a:t>13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070480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601C6-9A0C-4A2F-9361-88D10206EF23}" type="slidenum">
              <a:rPr lang="cs-CZ" smtClean="0"/>
              <a:t>14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441740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endParaRPr lang="cs-CZ" dirty="0">
              <a:solidFill>
                <a:srgbClr val="FF0000"/>
              </a:solidFill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601C6-9A0C-4A2F-9361-88D10206EF23}" type="slidenum">
              <a:rPr lang="cs-CZ" smtClean="0"/>
              <a:t>15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260484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601C6-9A0C-4A2F-9361-88D10206EF23}" type="slidenum">
              <a:rPr lang="cs-CZ" smtClean="0"/>
              <a:t>16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399625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0815" indent="-170815"/>
            <a:endParaRPr lang="cs-CZ" sz="2400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1601C6-9A0C-4A2F-9361-88D10206EF23}" type="slidenum">
              <a:rPr lang="cs-CZ" smtClean="0"/>
              <a:t>17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59930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text 2">
            <a:extLst>
              <a:ext uri="{FF2B5EF4-FFF2-40B4-BE49-F238E27FC236}">
                <a16:creationId xmlns:a16="http://schemas.microsoft.com/office/drawing/2014/main" id="{2389DD16-FB00-4D9A-B48C-50050FDDC1F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838009" y="933549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500" b="1">
                <a:solidFill>
                  <a:srgbClr val="009881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dirty="0"/>
              <a:t>Jméno a příjmení autora</a:t>
            </a:r>
          </a:p>
        </p:txBody>
      </p:sp>
      <p:sp>
        <p:nvSpPr>
          <p:cNvPr id="11" name="Zástupný text 2">
            <a:extLst>
              <a:ext uri="{FF2B5EF4-FFF2-40B4-BE49-F238E27FC236}">
                <a16:creationId xmlns:a16="http://schemas.microsoft.com/office/drawing/2014/main" id="{6BBD7AF0-0104-49C6-B49F-55B685879E0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4838009" y="1245177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400">
                <a:solidFill>
                  <a:srgbClr val="4A4A49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dirty="0"/>
              <a:t>Název katedry / oddělení</a:t>
            </a:r>
          </a:p>
        </p:txBody>
      </p:sp>
      <p:sp>
        <p:nvSpPr>
          <p:cNvPr id="12" name="Nadpis 1">
            <a:extLst>
              <a:ext uri="{FF2B5EF4-FFF2-40B4-BE49-F238E27FC236}">
                <a16:creationId xmlns:a16="http://schemas.microsoft.com/office/drawing/2014/main" id="{6609EC98-6EA4-4C3E-A04D-5D810F2A423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3591" y="2591091"/>
            <a:ext cx="7886701" cy="1782150"/>
          </a:xfrm>
          <a:prstGeom prst="rect">
            <a:avLst/>
          </a:prstGeom>
        </p:spPr>
        <p:txBody>
          <a:bodyPr anchor="t"/>
          <a:lstStyle>
            <a:lvl1pPr algn="l">
              <a:defRPr sz="4500">
                <a:solidFill>
                  <a:srgbClr val="4A4A4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cs-CZ" dirty="0"/>
              <a:t>Název prezentace</a:t>
            </a:r>
          </a:p>
        </p:txBody>
      </p:sp>
      <p:sp>
        <p:nvSpPr>
          <p:cNvPr id="13" name="Podnadpis 2">
            <a:extLst>
              <a:ext uri="{FF2B5EF4-FFF2-40B4-BE49-F238E27FC236}">
                <a16:creationId xmlns:a16="http://schemas.microsoft.com/office/drawing/2014/main" id="{8DECF7AF-89F1-4012-9B20-327F67C10B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831" y="4487541"/>
            <a:ext cx="7871461" cy="81365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>
                <a:solidFill>
                  <a:srgbClr val="4A4A4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cs-CZ"/>
              <a:t>Kliknutím můžete upravit styl předlohy.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054176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text 2">
            <a:extLst>
              <a:ext uri="{FF2B5EF4-FFF2-40B4-BE49-F238E27FC236}">
                <a16:creationId xmlns:a16="http://schemas.microsoft.com/office/drawing/2014/main" id="{9235DDD2-26F3-4A0D-93F4-FB32B5B241DA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4838009" y="870423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500" b="1">
                <a:solidFill>
                  <a:srgbClr val="89F7E2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dirty="0"/>
              <a:t>Jméno a příjmení autora</a:t>
            </a:r>
          </a:p>
        </p:txBody>
      </p:sp>
      <p:sp>
        <p:nvSpPr>
          <p:cNvPr id="11" name="Zástupný text 2">
            <a:extLst>
              <a:ext uri="{FF2B5EF4-FFF2-40B4-BE49-F238E27FC236}">
                <a16:creationId xmlns:a16="http://schemas.microsoft.com/office/drawing/2014/main" id="{D7300AA5-064D-49EA-BBBE-873363EE3286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4838009" y="1182051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dirty="0"/>
              <a:t>Jmeno.prijmeni@vse.cz</a:t>
            </a:r>
          </a:p>
        </p:txBody>
      </p:sp>
      <p:sp>
        <p:nvSpPr>
          <p:cNvPr id="12" name="Nadpis 1">
            <a:extLst>
              <a:ext uri="{FF2B5EF4-FFF2-40B4-BE49-F238E27FC236}">
                <a16:creationId xmlns:a16="http://schemas.microsoft.com/office/drawing/2014/main" id="{2206462F-D376-411D-9D76-52EE5EED75D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3591" y="2591091"/>
            <a:ext cx="7886701" cy="1782150"/>
          </a:xfrm>
          <a:prstGeom prst="rect">
            <a:avLst/>
          </a:prstGeom>
        </p:spPr>
        <p:txBody>
          <a:bodyPr anchor="t"/>
          <a:lstStyle>
            <a:lvl1pPr algn="l">
              <a:defRPr sz="45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cs-CZ" dirty="0"/>
              <a:t>Název prezentace</a:t>
            </a:r>
          </a:p>
        </p:txBody>
      </p:sp>
      <p:sp>
        <p:nvSpPr>
          <p:cNvPr id="13" name="Podnadpis 2">
            <a:extLst>
              <a:ext uri="{FF2B5EF4-FFF2-40B4-BE49-F238E27FC236}">
                <a16:creationId xmlns:a16="http://schemas.microsoft.com/office/drawing/2014/main" id="{A3092441-B532-4881-997F-6A08EF51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831" y="4487541"/>
            <a:ext cx="7871461" cy="81365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cs-CZ" dirty="0"/>
              <a:t>Kliknutím můžete upravit styl předlohy.</a:t>
            </a:r>
          </a:p>
        </p:txBody>
      </p:sp>
    </p:spTree>
    <p:extLst>
      <p:ext uri="{BB962C8B-B14F-4D97-AF65-F5344CB8AC3E}">
        <p14:creationId xmlns:p14="http://schemas.microsoft.com/office/powerpoint/2010/main" val="3727089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1FEBE9D-4844-416F-A47B-E71F5CB39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D6471AA-641D-48E4-895F-2C70DDA4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924055"/>
            <a:ext cx="7779544" cy="4493370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5D51239B-9FE1-4DB1-BD79-B7D38D332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1E3E641A-DC32-4DD9-8307-46D9DFF5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E92F49C3-090D-4190-9CE2-36066030C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37968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2EAB441-3D76-4218-81BE-D7E4F3F92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cs-CZ" dirty="0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BA84F63F-E322-46AC-A5C6-E1540E1BD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1939DC5B-E1B0-4FCB-9D9A-C6471A28B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4A462326-6725-45D6-8FAC-124BEDCD3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3B92F161-156E-4802-8F1B-078DF89F7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54167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7FA8AAD-C4A1-48ED-8D79-3AB4069FE7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3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89D2D865-A902-4D7C-A0B5-B2C4BB1953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8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CC5CC91-7444-4FBB-B6F3-3E6FBD5B3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CC05772A-E403-4DD1-B232-954A3547E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1A89E5D0-757E-45AA-8FEA-238040FBC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76233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8401FF8-98E7-49CB-8B33-E139EF39E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AF8276E-A998-4BB7-B53A-49EC37A410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530730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55672645-DFF8-41C8-8BAC-5F24D188FE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4"/>
            <a:ext cx="3886200" cy="4530729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23C31C8-960E-4A18-BC09-35D75D589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BE33D9D5-2EC6-4E2A-AA85-6FCF97D65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CF1E174-D347-4AB1-95DE-ECA0F485F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11119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9E112A9-1FE6-4496-81B4-0842D25D8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1012830"/>
            <a:ext cx="7886700" cy="1325563"/>
          </a:xfrm>
        </p:spPr>
        <p:txBody>
          <a:bodyPr/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2F9BFB9E-5D3E-46B3-ABDB-B7E57DAC61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06502C15-7789-4EE7-A643-5A633ABA3C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851280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C6F85072-0475-4304-BE03-A72EA7AC39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2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2F1610A2-3C29-4B70-AF60-C2A3EBCE30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2" y="2505074"/>
            <a:ext cx="3887391" cy="3851279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72C164E5-0EFB-46F1-BB95-CBBAC80CA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54FD1153-99E6-4ECA-BF33-0E377D334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56282298-48D6-4F29-8798-A54B0577B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20216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G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5843D58-00E6-4F74-B46F-884BB0737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D11A4E0E-761B-449A-9AA3-FAB726390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FED2199A-57B9-4C7C-A04D-6C8B8FF22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95D08B6B-5218-473D-BD06-9695102C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39516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Graf vz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5843D58-00E6-4F74-B46F-884BB0737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D11A4E0E-761B-449A-9AA3-FAB726390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FED2199A-57B9-4C7C-A04D-6C8B8FF22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95D08B6B-5218-473D-BD06-9695102C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  <p:graphicFrame>
        <p:nvGraphicFramePr>
          <p:cNvPr id="8" name="Graf 7">
            <a:extLst>
              <a:ext uri="{FF2B5EF4-FFF2-40B4-BE49-F238E27FC236}">
                <a16:creationId xmlns:a16="http://schemas.microsoft.com/office/drawing/2014/main" id="{A2CFF3E3-BFCF-4550-86A1-C1FA2629A69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058343424"/>
              </p:ext>
            </p:extLst>
          </p:nvPr>
        </p:nvGraphicFramePr>
        <p:xfrm>
          <a:off x="628652" y="1990725"/>
          <a:ext cx="7779543" cy="41476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46088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ul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64B6AD0B-CD39-418F-BD86-753F9D93E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AF3563E2-1FFA-41D6-A180-AB12573EE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807A9ED8-2B82-40D5-A9B1-F2B165BE7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  <p:sp>
        <p:nvSpPr>
          <p:cNvPr id="14" name="Nadpis 1">
            <a:extLst>
              <a:ext uri="{FF2B5EF4-FFF2-40B4-BE49-F238E27FC236}">
                <a16:creationId xmlns:a16="http://schemas.microsoft.com/office/drawing/2014/main" id="{3595AC0D-E641-4E07-B2CB-74274830B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00016"/>
            <a:ext cx="7779544" cy="689952"/>
          </a:xfrm>
        </p:spPr>
        <p:txBody>
          <a:bodyPr/>
          <a:lstStyle/>
          <a:p>
            <a:r>
              <a:rPr lang="cs-CZ" dirty="0"/>
              <a:t>Kliknutím lze upravit styl.</a:t>
            </a:r>
          </a:p>
        </p:txBody>
      </p:sp>
    </p:spTree>
    <p:extLst>
      <p:ext uri="{BB962C8B-B14F-4D97-AF65-F5344CB8AC3E}">
        <p14:creationId xmlns:p14="http://schemas.microsoft.com/office/powerpoint/2010/main" val="3224159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ulka vz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64B6AD0B-CD39-418F-BD86-753F9D93E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AF3563E2-1FFA-41D6-A180-AB12573EE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807A9ED8-2B82-40D5-A9B1-F2B165BE7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  <p:graphicFrame>
        <p:nvGraphicFramePr>
          <p:cNvPr id="5" name="Tabulka 5">
            <a:extLst>
              <a:ext uri="{FF2B5EF4-FFF2-40B4-BE49-F238E27FC236}">
                <a16:creationId xmlns:a16="http://schemas.microsoft.com/office/drawing/2014/main" id="{9841DB2C-4E87-4F77-9936-DB53842AFF3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049251074"/>
              </p:ext>
            </p:extLst>
          </p:nvPr>
        </p:nvGraphicFramePr>
        <p:xfrm>
          <a:off x="731521" y="2152650"/>
          <a:ext cx="7581899" cy="3605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0525">
                  <a:extLst>
                    <a:ext uri="{9D8B030D-6E8A-4147-A177-3AD203B41FA5}">
                      <a16:colId xmlns:a16="http://schemas.microsoft.com/office/drawing/2014/main" val="1219353005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4046355216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1360489622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2421545816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445562066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4004064892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1769508777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3799914238"/>
                    </a:ext>
                  </a:extLst>
                </a:gridCol>
                <a:gridCol w="857699">
                  <a:extLst>
                    <a:ext uri="{9D8B030D-6E8A-4147-A177-3AD203B41FA5}">
                      <a16:colId xmlns:a16="http://schemas.microsoft.com/office/drawing/2014/main" val="1835371581"/>
                    </a:ext>
                  </a:extLst>
                </a:gridCol>
              </a:tblGrid>
              <a:tr h="450667"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504544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812970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8039754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0737182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019941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095225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3294286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252544"/>
                  </a:ext>
                </a:extLst>
              </a:tr>
            </a:tbl>
          </a:graphicData>
        </a:graphic>
      </p:graphicFrame>
      <p:sp>
        <p:nvSpPr>
          <p:cNvPr id="14" name="Nadpis 1">
            <a:extLst>
              <a:ext uri="{FF2B5EF4-FFF2-40B4-BE49-F238E27FC236}">
                <a16:creationId xmlns:a16="http://schemas.microsoft.com/office/drawing/2014/main" id="{3595AC0D-E641-4E07-B2CB-74274830B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00016"/>
            <a:ext cx="7779544" cy="689952"/>
          </a:xfrm>
        </p:spPr>
        <p:txBody>
          <a:bodyPr/>
          <a:lstStyle/>
          <a:p>
            <a:r>
              <a:rPr lang="cs-CZ" dirty="0"/>
              <a:t>Kliknutím lze upravit styl.</a:t>
            </a:r>
          </a:p>
        </p:txBody>
      </p:sp>
    </p:spTree>
    <p:extLst>
      <p:ext uri="{BB962C8B-B14F-4D97-AF65-F5344CB8AC3E}">
        <p14:creationId xmlns:p14="http://schemas.microsoft.com/office/powerpoint/2010/main" val="3926611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B75CB4D-7416-4123-83CE-C769D1CEF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987429"/>
            <a:ext cx="2949178" cy="106997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D0998F7-E90D-471F-891C-0FD12349B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30"/>
            <a:ext cx="4629150" cy="536892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10F5FE98-251D-4D3C-B8B7-DADD6DEB86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399"/>
            <a:ext cx="2949178" cy="4298955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390EA42-058E-4D22-B615-D930D64C6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E78A484A-2BA3-41B7-86CF-5D3F9304C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C01B4CD1-4B53-455D-AE40-D95A24E4F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20010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A697884-28AE-4700-9C13-68750D37E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987429"/>
            <a:ext cx="2949178" cy="106997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7173077C-429C-4C0E-8F05-9FFAC62D14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30"/>
            <a:ext cx="4629150" cy="5368924"/>
          </a:xfrm>
        </p:spPr>
        <p:txBody>
          <a:bodyPr/>
          <a:lstStyle>
            <a:lvl1pPr marL="0" indent="0">
              <a:buNone/>
              <a:defRPr sz="2400"/>
            </a:lvl1pPr>
            <a:lvl2pPr marL="342892" indent="0">
              <a:buNone/>
              <a:defRPr sz="2100"/>
            </a:lvl2pPr>
            <a:lvl3pPr marL="685783" indent="0">
              <a:buNone/>
              <a:defRPr sz="1800"/>
            </a:lvl3pPr>
            <a:lvl4pPr marL="1028675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8" indent="0">
              <a:buNone/>
              <a:defRPr sz="1500"/>
            </a:lvl7pPr>
            <a:lvl8pPr marL="2400240" indent="0">
              <a:buNone/>
              <a:defRPr sz="1500"/>
            </a:lvl8pPr>
            <a:lvl9pPr marL="2743132" indent="0">
              <a:buNone/>
              <a:defRPr sz="15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17844AFA-992F-4BE4-ABDB-10F592A441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399"/>
            <a:ext cx="2949178" cy="4298955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C0442129-45B5-4C81-B28A-AA85D4F4D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46712F59-4F02-4916-92FC-440DB3FE4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A893627A-E54A-4DF9-9A32-88F06F6E2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60211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text 2">
            <a:extLst>
              <a:ext uri="{FF2B5EF4-FFF2-40B4-BE49-F238E27FC236}">
                <a16:creationId xmlns:a16="http://schemas.microsoft.com/office/drawing/2014/main" id="{9235DDD2-26F3-4A0D-93F4-FB32B5B241DA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4838009" y="870423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500" b="1">
                <a:solidFill>
                  <a:srgbClr val="89F7E2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Jméno a příjmení autora</a:t>
            </a:r>
          </a:p>
        </p:txBody>
      </p:sp>
      <p:sp>
        <p:nvSpPr>
          <p:cNvPr id="11" name="Zástupný text 2">
            <a:extLst>
              <a:ext uri="{FF2B5EF4-FFF2-40B4-BE49-F238E27FC236}">
                <a16:creationId xmlns:a16="http://schemas.microsoft.com/office/drawing/2014/main" id="{D7300AA5-064D-49EA-BBBE-873363EE3286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4838009" y="1182051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Jmeno.prijmeni@vse.cz</a:t>
            </a:r>
          </a:p>
        </p:txBody>
      </p:sp>
      <p:sp>
        <p:nvSpPr>
          <p:cNvPr id="12" name="Nadpis 1">
            <a:extLst>
              <a:ext uri="{FF2B5EF4-FFF2-40B4-BE49-F238E27FC236}">
                <a16:creationId xmlns:a16="http://schemas.microsoft.com/office/drawing/2014/main" id="{2206462F-D376-411D-9D76-52EE5EED75D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3591" y="2591091"/>
            <a:ext cx="7886701" cy="1782150"/>
          </a:xfrm>
          <a:prstGeom prst="rect">
            <a:avLst/>
          </a:prstGeom>
        </p:spPr>
        <p:txBody>
          <a:bodyPr anchor="t"/>
          <a:lstStyle>
            <a:lvl1pPr algn="l">
              <a:defRPr sz="45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cs-CZ"/>
              <a:t>Název prezentace</a:t>
            </a:r>
          </a:p>
        </p:txBody>
      </p:sp>
      <p:sp>
        <p:nvSpPr>
          <p:cNvPr id="13" name="Podnadpis 2">
            <a:extLst>
              <a:ext uri="{FF2B5EF4-FFF2-40B4-BE49-F238E27FC236}">
                <a16:creationId xmlns:a16="http://schemas.microsoft.com/office/drawing/2014/main" id="{A3092441-B532-4881-997F-6A08EF51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831" y="4487541"/>
            <a:ext cx="7871461" cy="81365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cs-CZ"/>
              <a:t>Kliknutím můžete upravit styl předlohy.</a:t>
            </a:r>
          </a:p>
        </p:txBody>
      </p:sp>
    </p:spTree>
    <p:extLst>
      <p:ext uri="{BB962C8B-B14F-4D97-AF65-F5344CB8AC3E}">
        <p14:creationId xmlns:p14="http://schemas.microsoft.com/office/powerpoint/2010/main" val="38581238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text 2">
            <a:extLst>
              <a:ext uri="{FF2B5EF4-FFF2-40B4-BE49-F238E27FC236}">
                <a16:creationId xmlns:a16="http://schemas.microsoft.com/office/drawing/2014/main" id="{9235DDD2-26F3-4A0D-93F4-FB32B5B241DA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4838009" y="870423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500" b="1">
                <a:solidFill>
                  <a:srgbClr val="89F7E2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Jméno a příjmení autora</a:t>
            </a:r>
          </a:p>
        </p:txBody>
      </p:sp>
      <p:sp>
        <p:nvSpPr>
          <p:cNvPr id="11" name="Zástupný text 2">
            <a:extLst>
              <a:ext uri="{FF2B5EF4-FFF2-40B4-BE49-F238E27FC236}">
                <a16:creationId xmlns:a16="http://schemas.microsoft.com/office/drawing/2014/main" id="{D7300AA5-064D-49EA-BBBE-873363EE3286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4838009" y="1182051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Jmeno.prijmeni@vse.cz</a:t>
            </a:r>
          </a:p>
        </p:txBody>
      </p:sp>
      <p:sp>
        <p:nvSpPr>
          <p:cNvPr id="12" name="Nadpis 1">
            <a:extLst>
              <a:ext uri="{FF2B5EF4-FFF2-40B4-BE49-F238E27FC236}">
                <a16:creationId xmlns:a16="http://schemas.microsoft.com/office/drawing/2014/main" id="{2206462F-D376-411D-9D76-52EE5EED75D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3591" y="2591091"/>
            <a:ext cx="7886701" cy="1782150"/>
          </a:xfrm>
          <a:prstGeom prst="rect">
            <a:avLst/>
          </a:prstGeom>
        </p:spPr>
        <p:txBody>
          <a:bodyPr anchor="t"/>
          <a:lstStyle>
            <a:lvl1pPr algn="l">
              <a:defRPr sz="45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cs-CZ"/>
              <a:t>Název prezentace</a:t>
            </a:r>
          </a:p>
        </p:txBody>
      </p:sp>
      <p:sp>
        <p:nvSpPr>
          <p:cNvPr id="13" name="Podnadpis 2">
            <a:extLst>
              <a:ext uri="{FF2B5EF4-FFF2-40B4-BE49-F238E27FC236}">
                <a16:creationId xmlns:a16="http://schemas.microsoft.com/office/drawing/2014/main" id="{A3092441-B532-4881-997F-6A08EF51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831" y="4487541"/>
            <a:ext cx="7871461" cy="81365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cs-CZ"/>
              <a:t>Kliknutím můžete upravit styl předlohy.</a:t>
            </a:r>
          </a:p>
        </p:txBody>
      </p:sp>
    </p:spTree>
    <p:extLst>
      <p:ext uri="{BB962C8B-B14F-4D97-AF65-F5344CB8AC3E}">
        <p14:creationId xmlns:p14="http://schemas.microsoft.com/office/powerpoint/2010/main" val="37270895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3.xml"/><Relationship Id="rId18" Type="http://schemas.openxmlformats.org/officeDocument/2006/relationships/image" Target="../media/image9.png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17" Type="http://schemas.openxmlformats.org/officeDocument/2006/relationships/image" Target="../media/image8.svg"/><Relationship Id="rId2" Type="http://schemas.openxmlformats.org/officeDocument/2006/relationships/slideLayout" Target="../slideLayouts/slideLayout4.xml"/><Relationship Id="rId16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image" Target="../media/image6.svg"/><Relationship Id="rId10" Type="http://schemas.openxmlformats.org/officeDocument/2006/relationships/slideLayout" Target="../slideLayouts/slideLayout12.xml"/><Relationship Id="rId19" Type="http://schemas.openxmlformats.org/officeDocument/2006/relationships/image" Target="../media/image10.svg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cký objekt 7">
            <a:extLst>
              <a:ext uri="{FF2B5EF4-FFF2-40B4-BE49-F238E27FC236}">
                <a16:creationId xmlns:a16="http://schemas.microsoft.com/office/drawing/2014/main" id="{719039ED-503B-4BFC-8729-F0E04FD0713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" y="-3085"/>
            <a:ext cx="9144000" cy="6861085"/>
          </a:xfrm>
          <a:prstGeom prst="rect">
            <a:avLst/>
          </a:prstGeom>
        </p:spPr>
      </p:pic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6144A193-2443-4336-B8E6-567C50C42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B62FE8A-B6A8-4920-9B7E-768DE3DF4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dirty="0"/>
              <a:t>Po kliknutí můžete upravovat styly textu v předloze.</a:t>
            </a:r>
          </a:p>
          <a:p>
            <a:pPr lvl="1"/>
            <a:r>
              <a:rPr lang="cs-CZ" dirty="0"/>
              <a:t>Druhá úroveň</a:t>
            </a:r>
          </a:p>
          <a:p>
            <a:pPr lvl="2"/>
            <a:r>
              <a:rPr lang="cs-CZ" dirty="0"/>
              <a:t>Třetí úroveň</a:t>
            </a:r>
          </a:p>
          <a:p>
            <a:pPr lvl="3"/>
            <a:r>
              <a:rPr lang="cs-CZ" dirty="0"/>
              <a:t>Čtvrtá úroveň</a:t>
            </a:r>
          </a:p>
          <a:p>
            <a:pPr lvl="4"/>
            <a:r>
              <a:rPr lang="cs-CZ" dirty="0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712BF67-B920-4B8E-84CF-AAC489B8AB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29CD2-0146-4F3B-A4AA-75EB0CF2F752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85ED088-792C-4229-99A4-13C382DAC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5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FF2DEB4-37E5-4BE0-984C-F6914BD2C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9FAB3-BFA5-4172-A475-10F9ABCB38B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604509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rgbClr val="4A4A49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Clr>
          <a:srgbClr val="009881"/>
        </a:buClr>
        <a:buFont typeface="Arial" panose="020B0604020202020204" pitchFamily="34" charset="0"/>
        <a:buChar char="•"/>
        <a:defRPr sz="210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80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50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35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35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cký objekt 6">
            <a:extLst>
              <a:ext uri="{FF2B5EF4-FFF2-40B4-BE49-F238E27FC236}">
                <a16:creationId xmlns:a16="http://schemas.microsoft.com/office/drawing/2014/main" id="{D3D61E27-7486-4CBD-80A0-7CDBAF7D7AF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3085"/>
            <a:ext cx="9144000" cy="6861085"/>
          </a:xfrm>
          <a:prstGeom prst="rect">
            <a:avLst/>
          </a:prstGeom>
        </p:spPr>
      </p:pic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6144A193-2443-4336-B8E6-567C50C42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B62FE8A-B6A8-4920-9B7E-768DE3DF4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dirty="0"/>
              <a:t>Po kliknutí můžete upravovat styly textu v předloze.</a:t>
            </a:r>
          </a:p>
          <a:p>
            <a:pPr lvl="1"/>
            <a:r>
              <a:rPr lang="cs-CZ" dirty="0"/>
              <a:t>Druhá úroveň</a:t>
            </a:r>
          </a:p>
          <a:p>
            <a:pPr lvl="2"/>
            <a:r>
              <a:rPr lang="cs-CZ" dirty="0"/>
              <a:t>Třetí úroveň</a:t>
            </a:r>
          </a:p>
          <a:p>
            <a:pPr lvl="3"/>
            <a:r>
              <a:rPr lang="cs-CZ" dirty="0"/>
              <a:t>Čtvrtá úroveň</a:t>
            </a:r>
          </a:p>
          <a:p>
            <a:pPr lvl="4"/>
            <a:r>
              <a:rPr lang="cs-CZ" dirty="0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712BF67-B920-4B8E-84CF-AAC489B8AB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29CD2-0146-4F3B-A4AA-75EB0CF2F752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85ED088-792C-4229-99A4-13C382DAC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5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FF2DEB4-37E5-4BE0-984C-F6914BD2C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9FAB3-BFA5-4172-A475-10F9ABCB38B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85974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Clr>
          <a:srgbClr val="89F7E2"/>
        </a:buClr>
        <a:buFont typeface="Arial" panose="020B0604020202020204" pitchFamily="34" charset="0"/>
        <a:buChar char="•"/>
        <a:defRPr sz="21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5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35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35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cký objekt 13">
            <a:extLst>
              <a:ext uri="{FF2B5EF4-FFF2-40B4-BE49-F238E27FC236}">
                <a16:creationId xmlns:a16="http://schemas.microsoft.com/office/drawing/2014/main" id="{1664D167-1933-44B8-9DE6-BCF4B4ADB8DE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-4125" y="8313"/>
            <a:ext cx="9148126" cy="6858000"/>
          </a:xfrm>
          <a:prstGeom prst="rect">
            <a:avLst/>
          </a:prstGeom>
        </p:spPr>
      </p:pic>
      <p:pic>
        <p:nvPicPr>
          <p:cNvPr id="9" name="Grafický objekt 8">
            <a:extLst>
              <a:ext uri="{FF2B5EF4-FFF2-40B4-BE49-F238E27FC236}">
                <a16:creationId xmlns:a16="http://schemas.microsoft.com/office/drawing/2014/main" id="{D89BE277-1B57-4A04-A616-0D6719FD6A11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46539" y="360307"/>
            <a:ext cx="179594" cy="179594"/>
          </a:xfrm>
          <a:prstGeom prst="rect">
            <a:avLst/>
          </a:prstGeom>
        </p:spPr>
      </p:pic>
      <p:pic>
        <p:nvPicPr>
          <p:cNvPr id="13" name="Grafický objekt 12">
            <a:extLst>
              <a:ext uri="{FF2B5EF4-FFF2-40B4-BE49-F238E27FC236}">
                <a16:creationId xmlns:a16="http://schemas.microsoft.com/office/drawing/2014/main" id="{3CE1673A-F13A-49C1-A0F3-7628437F7F90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684010" y="360307"/>
            <a:ext cx="179594" cy="179594"/>
          </a:xfrm>
          <a:prstGeom prst="rect">
            <a:avLst/>
          </a:prstGeom>
        </p:spPr>
      </p:pic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07A972C7-80EA-4001-A2C8-48457C784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00016"/>
            <a:ext cx="7779544" cy="68995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04A64F96-20EB-4338-812A-2CF45FA87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924055"/>
            <a:ext cx="7779544" cy="41914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dirty="0"/>
              <a:t>Po kliknutí můžete upravovat styly textu v předloze.</a:t>
            </a:r>
          </a:p>
          <a:p>
            <a:pPr lvl="1"/>
            <a:r>
              <a:rPr lang="cs-CZ" dirty="0"/>
              <a:t>Druhá úroveň</a:t>
            </a:r>
          </a:p>
          <a:p>
            <a:pPr lvl="2"/>
            <a:r>
              <a:rPr lang="cs-CZ" dirty="0"/>
              <a:t>Třetí úroveň</a:t>
            </a:r>
          </a:p>
          <a:p>
            <a:pPr lvl="3"/>
            <a:r>
              <a:rPr lang="cs-CZ" dirty="0"/>
              <a:t>Čtvrtá úroveň</a:t>
            </a:r>
          </a:p>
          <a:p>
            <a:pPr lvl="4"/>
            <a:r>
              <a:rPr lang="cs-CZ" dirty="0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B849455D-C2AF-42AF-A377-1FD9570338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B329ADC-2255-4EF3-B5C0-B90829E78CD9}" type="datetimeFigureOut">
              <a:rPr lang="cs-CZ" smtClean="0"/>
              <a:pPr/>
              <a:t>28.01.2026</a:t>
            </a:fld>
            <a:endParaRPr lang="cs-CZ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FE38892D-BE40-4B7B-98A7-1B108AC51A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5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cs-CZ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C1406528-E83B-4FF2-81FD-6E1ED0DE8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25530" y="6356355"/>
            <a:ext cx="198266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95CA258-668E-4A85-A197-2757C3BEE154}" type="slidenum">
              <a:rPr lang="cs-CZ" smtClean="0"/>
              <a:pPr/>
              <a:t>‹#›</a:t>
            </a:fld>
            <a:endParaRPr lang="cs-CZ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Zástupný nadpis 1">
            <a:extLst>
              <a:ext uri="{FF2B5EF4-FFF2-40B4-BE49-F238E27FC236}">
                <a16:creationId xmlns:a16="http://schemas.microsoft.com/office/drawing/2014/main" id="{6CADA8D1-4B1D-49C0-B645-EB5D43487BC1}"/>
              </a:ext>
            </a:extLst>
          </p:cNvPr>
          <p:cNvSpPr txBox="1">
            <a:spLocks/>
          </p:cNvSpPr>
          <p:nvPr userDrawn="1"/>
        </p:nvSpPr>
        <p:spPr>
          <a:xfrm>
            <a:off x="8815389" y="6436824"/>
            <a:ext cx="416717" cy="452926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5BC4F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fld id="{166024C8-F27F-4469-B950-3CAEC9128C7E}" type="slidenum">
              <a:rPr lang="cs-CZ" sz="1100" smtClean="0">
                <a:solidFill>
                  <a:schemeClr val="bg1"/>
                </a:solidFill>
              </a:rPr>
              <a:pPr algn="ctr"/>
              <a:t>‹#›</a:t>
            </a:fld>
            <a:endParaRPr lang="cs-CZ" sz="3200" dirty="0">
              <a:solidFill>
                <a:schemeClr val="bg1"/>
              </a:solidFill>
            </a:endParaRPr>
          </a:p>
        </p:txBody>
      </p:sp>
      <p:sp>
        <p:nvSpPr>
          <p:cNvPr id="16" name="TextovéPole 15">
            <a:extLst>
              <a:ext uri="{FF2B5EF4-FFF2-40B4-BE49-F238E27FC236}">
                <a16:creationId xmlns:a16="http://schemas.microsoft.com/office/drawing/2014/main" id="{FCDCD643-C700-45E8-8816-DD3D4AEF500E}"/>
              </a:ext>
            </a:extLst>
          </p:cNvPr>
          <p:cNvSpPr txBox="1"/>
          <p:nvPr userDrawn="1"/>
        </p:nvSpPr>
        <p:spPr>
          <a:xfrm>
            <a:off x="6722748" y="299366"/>
            <a:ext cx="963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cs-CZ" sz="1200" dirty="0">
                <a:solidFill>
                  <a:srgbClr val="00988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fis.vse.cz</a:t>
            </a:r>
          </a:p>
        </p:txBody>
      </p:sp>
      <p:sp>
        <p:nvSpPr>
          <p:cNvPr id="17" name="TextovéPole 16">
            <a:extLst>
              <a:ext uri="{FF2B5EF4-FFF2-40B4-BE49-F238E27FC236}">
                <a16:creationId xmlns:a16="http://schemas.microsoft.com/office/drawing/2014/main" id="{68403B65-A3E4-4EA5-A348-D73A327280A2}"/>
              </a:ext>
            </a:extLst>
          </p:cNvPr>
          <p:cNvSpPr txBox="1"/>
          <p:nvPr userDrawn="1"/>
        </p:nvSpPr>
        <p:spPr>
          <a:xfrm>
            <a:off x="7851988" y="299366"/>
            <a:ext cx="11959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cs-CZ" sz="1200" dirty="0" err="1">
                <a:solidFill>
                  <a:srgbClr val="00988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fisvse</a:t>
            </a:r>
            <a:endParaRPr lang="cs-CZ" sz="1600" dirty="0">
              <a:solidFill>
                <a:srgbClr val="00988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92054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3" r:id="rId2"/>
    <p:sldLayoutId id="2147483665" r:id="rId3"/>
    <p:sldLayoutId id="2147483666" r:id="rId4"/>
    <p:sldLayoutId id="2147483667" r:id="rId5"/>
    <p:sldLayoutId id="2147483668" r:id="rId6"/>
    <p:sldLayoutId id="2147483672" r:id="rId7"/>
    <p:sldLayoutId id="2147483669" r:id="rId8"/>
    <p:sldLayoutId id="2147483673" r:id="rId9"/>
    <p:sldLayoutId id="2147483670" r:id="rId10"/>
    <p:sldLayoutId id="2147483671" r:id="rId11"/>
    <p:sldLayoutId id="2147483678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000" kern="1200">
          <a:solidFill>
            <a:srgbClr val="00988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46" indent="-171446" algn="l" defTabSz="685783" rtl="0" eaLnBrk="1" latinLnBrk="0" hangingPunct="1">
        <a:lnSpc>
          <a:spcPct val="100000"/>
        </a:lnSpc>
        <a:spcBef>
          <a:spcPts val="750"/>
        </a:spcBef>
        <a:buClr>
          <a:srgbClr val="009881"/>
        </a:buClr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10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10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10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10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cký objekt 6">
            <a:extLst>
              <a:ext uri="{FF2B5EF4-FFF2-40B4-BE49-F238E27FC236}">
                <a16:creationId xmlns:a16="http://schemas.microsoft.com/office/drawing/2014/main" id="{D3D61E27-7486-4CBD-80A0-7CDBAF7D7AF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3085"/>
            <a:ext cx="9144000" cy="6861085"/>
          </a:xfrm>
          <a:prstGeom prst="rect">
            <a:avLst/>
          </a:prstGeom>
        </p:spPr>
      </p:pic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6144A193-2443-4336-B8E6-567C50C42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B62FE8A-B6A8-4920-9B7E-768DE3DF4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712BF67-B920-4B8E-84CF-AAC489B8AB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29CD2-0146-4F3B-A4AA-75EB0CF2F752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85ED088-792C-4229-99A4-13C382DAC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5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FF2DEB4-37E5-4BE0-984C-F6914BD2C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9FAB3-BFA5-4172-A475-10F9ABCB38B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85974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Clr>
          <a:srgbClr val="89F7E2"/>
        </a:buClr>
        <a:buFont typeface="Arial" panose="020B0604020202020204" pitchFamily="34" charset="0"/>
        <a:buChar char="•"/>
        <a:defRPr sz="21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5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35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35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dpis 1">
            <a:extLst>
              <a:ext uri="{FF2B5EF4-FFF2-40B4-BE49-F238E27FC236}">
                <a16:creationId xmlns:a16="http://schemas.microsoft.com/office/drawing/2014/main" id="{FDA0EE84-57A3-437C-B722-52ACFBB5ED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591" y="2428716"/>
            <a:ext cx="7908788" cy="3250932"/>
          </a:xfrm>
        </p:spPr>
        <p:txBody>
          <a:bodyPr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Analýza vztahu mezi policejními rozpočty a mírou policejních střeleb v USA</a:t>
            </a:r>
            <a:endParaRPr lang="cs-CZ" dirty="0"/>
          </a:p>
        </p:txBody>
      </p:sp>
      <p:sp>
        <p:nvSpPr>
          <p:cNvPr id="8" name="Zástupný text 3">
            <a:extLst>
              <a:ext uri="{FF2B5EF4-FFF2-40B4-BE49-F238E27FC236}">
                <a16:creationId xmlns:a16="http://schemas.microsoft.com/office/drawing/2014/main" id="{E29E5E70-22CD-4E96-8CAB-90368F65564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572000" y="662940"/>
            <a:ext cx="3984915" cy="51911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sz="1400" dirty="0">
                <a:latin typeface="Arial"/>
                <a:cs typeface="Arial"/>
              </a:rPr>
              <a:t>Bc. Josef Gajda </a:t>
            </a:r>
            <a:endParaRPr lang="cs-CZ" sz="1400"/>
          </a:p>
        </p:txBody>
      </p:sp>
      <p:sp>
        <p:nvSpPr>
          <p:cNvPr id="9" name="Zástupný text 4">
            <a:extLst>
              <a:ext uri="{FF2B5EF4-FFF2-40B4-BE49-F238E27FC236}">
                <a16:creationId xmlns:a16="http://schemas.microsoft.com/office/drawing/2014/main" id="{C9002A16-94F7-4B76-9824-2D769080A319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4838009" y="1030911"/>
            <a:ext cx="3718906" cy="31162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Studijní program: Informační management</a:t>
            </a:r>
            <a:endParaRPr lang="cs-CZ" dirty="0"/>
          </a:p>
        </p:txBody>
      </p:sp>
      <p:sp>
        <p:nvSpPr>
          <p:cNvPr id="2" name="Zástupný text 4">
            <a:extLst>
              <a:ext uri="{FF2B5EF4-FFF2-40B4-BE49-F238E27FC236}">
                <a16:creationId xmlns:a16="http://schemas.microsoft.com/office/drawing/2014/main" id="{6DC8903B-1E09-1F86-58A9-F8FAB7A289F8}"/>
              </a:ext>
            </a:extLst>
          </p:cNvPr>
          <p:cNvSpPr txBox="1">
            <a:spLocks/>
          </p:cNvSpPr>
          <p:nvPr/>
        </p:nvSpPr>
        <p:spPr>
          <a:xfrm>
            <a:off x="4838009" y="1402766"/>
            <a:ext cx="3718906" cy="3116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r" defTabSz="685783" rtl="0" eaLnBrk="1" latinLnBrk="0" hangingPunct="1">
              <a:lnSpc>
                <a:spcPct val="90000"/>
              </a:lnSpc>
              <a:spcBef>
                <a:spcPts val="750"/>
              </a:spcBef>
              <a:buClr>
                <a:srgbClr val="009881"/>
              </a:buClr>
              <a:buFont typeface="Arial" panose="020B0604020202020204" pitchFamily="34" charset="0"/>
              <a:buNone/>
              <a:defRPr sz="1400" kern="1200">
                <a:solidFill>
                  <a:srgbClr val="4A4A49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42892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881"/>
              </a:buClr>
              <a:buFont typeface="Arial" panose="020B0604020202020204" pitchFamily="34" charset="0"/>
              <a:buNone/>
              <a:defRPr sz="15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85783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881"/>
              </a:buClr>
              <a:buFont typeface="Arial" panose="020B0604020202020204" pitchFamily="34" charset="0"/>
              <a:buNone/>
              <a:defRPr sz="135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028675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881"/>
              </a:buClr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371566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881"/>
              </a:buClr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714457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348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240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132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dirty="0">
                <a:latin typeface="Arial"/>
                <a:cs typeface="Arial"/>
              </a:rPr>
              <a:t>Datum: 30.01.2025</a:t>
            </a:r>
          </a:p>
        </p:txBody>
      </p:sp>
    </p:spTree>
    <p:extLst>
      <p:ext uri="{BB962C8B-B14F-4D97-AF65-F5344CB8AC3E}">
        <p14:creationId xmlns:p14="http://schemas.microsoft.com/office/powerpoint/2010/main" val="37865492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98B41-9007-2A18-1DCF-E4FDB13B9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203128E-662C-3957-CB07-9F4A60E4C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Popis</a:t>
            </a:r>
            <a:r>
              <a:rPr lang="en-US" dirty="0"/>
              <a:t> </a:t>
            </a:r>
            <a:r>
              <a:rPr lang="cs-CZ" dirty="0"/>
              <a:t>řešené oblasti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FB03FD0-6621-58F3-A6B7-A35FC57926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170815" indent="-170815"/>
            <a:r>
              <a:rPr lang="cs-CZ" sz="2400" dirty="0">
                <a:solidFill>
                  <a:srgbClr val="000000"/>
                </a:solidFill>
                <a:latin typeface="Arial"/>
                <a:ea typeface="Calibri"/>
                <a:cs typeface="Arial"/>
              </a:rPr>
              <a:t>Cílem projektu je analyzovat faktory ovlivňující četnost a geografické rozložení policejních střeleb v USA.</a:t>
            </a:r>
          </a:p>
          <a:p>
            <a:pPr marL="0" indent="0">
              <a:buNone/>
            </a:pPr>
            <a:endParaRPr lang="cs-CZ" sz="2400" dirty="0">
              <a:ea typeface="Calibri"/>
            </a:endParaRPr>
          </a:p>
          <a:p>
            <a:pPr marL="170815" indent="-170815"/>
            <a:r>
              <a:rPr lang="cs-CZ" sz="2400" dirty="0">
                <a:solidFill>
                  <a:srgbClr val="000000"/>
                </a:solidFill>
                <a:latin typeface="Arial"/>
                <a:ea typeface="Calibri"/>
                <a:cs typeface="Arial"/>
              </a:rPr>
              <a:t>Analýza zkoumá možné souvislosti mezi výší rozpočtů na policii a počtem zaznamenaných střeleb.</a:t>
            </a:r>
          </a:p>
        </p:txBody>
      </p:sp>
    </p:spTree>
    <p:extLst>
      <p:ext uri="{BB962C8B-B14F-4D97-AF65-F5344CB8AC3E}">
        <p14:creationId xmlns:p14="http://schemas.microsoft.com/office/powerpoint/2010/main" val="4196028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7BF2E-2AB9-A8FB-03C5-8728F9015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B742DEB-8846-2D0E-09BA-ABCD9C5FB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Cíle analýzy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D0D4454-B025-E60E-9BD8-C5222B9054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AutoNum type="arabicPeriod"/>
            </a:pPr>
            <a:r>
              <a:rPr lang="cs-CZ" sz="2400" dirty="0">
                <a:solidFill>
                  <a:srgbClr val="000000"/>
                </a:solidFill>
                <a:latin typeface="Arial"/>
                <a:cs typeface="Arial"/>
              </a:rPr>
              <a:t>Identifikovat vztah mezi výší policejních rozpočtů měst a četností policejních střeleb v USA</a:t>
            </a:r>
            <a:endParaRPr lang="cs-CZ" sz="2400" dirty="0">
              <a:solidFill>
                <a:srgbClr val="000000"/>
              </a:solidFill>
            </a:endParaRPr>
          </a:p>
          <a:p>
            <a:pPr marL="457200" indent="-457200">
              <a:buAutoNum type="arabicPeriod"/>
            </a:pPr>
            <a:endParaRPr lang="cs-CZ" sz="2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457200" indent="-457200">
              <a:buAutoNum type="arabicPeriod"/>
            </a:pPr>
            <a:r>
              <a:rPr lang="cs-CZ" sz="2400" dirty="0">
                <a:solidFill>
                  <a:srgbClr val="000000"/>
                </a:solidFill>
                <a:latin typeface="Arial"/>
                <a:cs typeface="Arial"/>
              </a:rPr>
              <a:t>Analyzovat geografické </a:t>
            </a:r>
            <a:r>
              <a:rPr lang="cs-CZ" sz="2400" b="0" i="0" dirty="0">
                <a:solidFill>
                  <a:srgbClr val="000000"/>
                </a:solidFill>
                <a:effectLst/>
                <a:latin typeface="Arial"/>
                <a:cs typeface="Arial"/>
              </a:rPr>
              <a:t>a </a:t>
            </a:r>
            <a:r>
              <a:rPr lang="cs-CZ" sz="2400" dirty="0">
                <a:solidFill>
                  <a:srgbClr val="000000"/>
                </a:solidFill>
                <a:latin typeface="Arial"/>
                <a:cs typeface="Arial"/>
              </a:rPr>
              <a:t>demografické vzorce policejních střeleb včetně rasového složení obětí</a:t>
            </a:r>
            <a:r>
              <a:rPr lang="cs-CZ" sz="2400" b="0" i="0" dirty="0">
                <a:solidFill>
                  <a:srgbClr val="000000"/>
                </a:solidFill>
                <a:effectLst/>
                <a:latin typeface="Arial"/>
                <a:cs typeface="Arial"/>
              </a:rPr>
              <a:t>.</a:t>
            </a:r>
            <a:endParaRPr lang="cs-CZ" dirty="0">
              <a:solidFill>
                <a:srgbClr val="000000"/>
              </a:solidFill>
            </a:endParaRPr>
          </a:p>
          <a:p>
            <a:pPr marL="457200" indent="-457200">
              <a:buAutoNum type="arabicPeriod"/>
            </a:pPr>
            <a:endParaRPr lang="cs-CZ" sz="2400" dirty="0">
              <a:solidFill>
                <a:srgbClr val="000000"/>
              </a:solidFill>
            </a:endParaRPr>
          </a:p>
          <a:p>
            <a:pPr marL="457200" indent="-457200">
              <a:lnSpc>
                <a:spcPct val="110000"/>
              </a:lnSpc>
              <a:buAutoNum type="arabicPeriod"/>
            </a:pPr>
            <a:r>
              <a:rPr lang="cs-CZ" sz="2400" dirty="0">
                <a:solidFill>
                  <a:srgbClr val="000000"/>
                </a:solidFill>
                <a:latin typeface="Arial"/>
                <a:cs typeface="Arial"/>
              </a:rPr>
              <a:t>Analyzovat demografické a situační faktory spojené s policejními střelbami.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4139299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50660-EE0F-3255-6AF0-442908384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DDC37E9-85DD-2231-4FBA-B97601DCC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Způsob řešení otázek pro data science - 1/2</a:t>
            </a:r>
            <a:br>
              <a:rPr lang="cs-CZ" dirty="0">
                <a:latin typeface="Arial"/>
                <a:cs typeface="Arial"/>
              </a:rPr>
            </a:b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179EC6F-21E7-0F86-D493-56C9068D6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" y="1789968"/>
            <a:ext cx="7882414" cy="46274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170815" indent="-170815"/>
            <a:r>
              <a:rPr lang="cs-CZ" sz="2400" dirty="0">
                <a:latin typeface="Arial"/>
                <a:cs typeface="Arial"/>
              </a:rPr>
              <a:t>Příprava dat (ETL) v nástroji </a:t>
            </a:r>
            <a:r>
              <a:rPr lang="cs-CZ" sz="2400" b="1" dirty="0" err="1">
                <a:latin typeface="Arial"/>
                <a:cs typeface="Arial"/>
              </a:rPr>
              <a:t>BigQuery</a:t>
            </a:r>
            <a:r>
              <a:rPr lang="cs-CZ" sz="2400" b="1" dirty="0">
                <a:latin typeface="Arial"/>
                <a:cs typeface="Arial"/>
              </a:rPr>
              <a:t>,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100" dirty="0">
                <a:latin typeface="Arial"/>
                <a:cs typeface="Arial"/>
              </a:rPr>
              <a:t>SQL dotazy pro transformaci tabulek,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100" dirty="0">
                <a:latin typeface="Arial"/>
                <a:cs typeface="Arial"/>
              </a:rPr>
              <a:t>příprava dat pro BI část a Data Science část.</a:t>
            </a:r>
          </a:p>
          <a:p>
            <a:pPr marL="170815" indent="-170815"/>
            <a:endParaRPr lang="cs-CZ" sz="2400" b="1" dirty="0">
              <a:latin typeface="Arial"/>
              <a:cs typeface="Arial"/>
            </a:endParaRPr>
          </a:p>
          <a:p>
            <a:pPr marL="170815" indent="-170815"/>
            <a:r>
              <a:rPr lang="cs-CZ" sz="2400" dirty="0">
                <a:latin typeface="Arial"/>
                <a:cs typeface="Arial"/>
              </a:rPr>
              <a:t>BI část provedena v nástroji </a:t>
            </a:r>
            <a:r>
              <a:rPr lang="cs-CZ" sz="2400" b="1" dirty="0" err="1">
                <a:latin typeface="Arial"/>
                <a:cs typeface="Arial"/>
              </a:rPr>
              <a:t>PowerBI</a:t>
            </a:r>
            <a:r>
              <a:rPr lang="cs-CZ" sz="2400" b="1" dirty="0">
                <a:latin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020548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7365D-F509-5246-0DC5-141029BD7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8642C89-C92D-A0EB-B91B-292F691E9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Způsob řešení otázek pro data science - 2/2</a:t>
            </a:r>
            <a:br>
              <a:rPr lang="cs-CZ" dirty="0">
                <a:latin typeface="Arial"/>
                <a:cs typeface="Arial"/>
              </a:rPr>
            </a:b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FB6CE4D-4C9C-F6CA-5335-6665E41925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780" y="1789968"/>
            <a:ext cx="7882414" cy="46274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170815" indent="-170815"/>
            <a:r>
              <a:rPr lang="cs-CZ" sz="2400" dirty="0">
                <a:latin typeface="Arial"/>
                <a:cs typeface="Arial"/>
              </a:rPr>
              <a:t>Analýza dat bude prováděna v nástroji </a:t>
            </a:r>
            <a:r>
              <a:rPr lang="cs-CZ" sz="2400" b="1" dirty="0">
                <a:latin typeface="Arial"/>
                <a:cs typeface="Arial"/>
              </a:rPr>
              <a:t>Python,</a:t>
            </a:r>
            <a:endParaRPr lang="cs-CZ" sz="2400" b="1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100" b="1" dirty="0">
                <a:latin typeface="Arial"/>
                <a:cs typeface="Arial"/>
              </a:rPr>
              <a:t>statistická analýza:</a:t>
            </a:r>
            <a:r>
              <a:rPr lang="cs-CZ" sz="2100" dirty="0">
                <a:latin typeface="Arial"/>
                <a:cs typeface="Arial"/>
              </a:rPr>
              <a:t> </a:t>
            </a:r>
            <a:r>
              <a:rPr lang="cs-CZ" sz="2100" dirty="0" err="1">
                <a:latin typeface="Arial"/>
                <a:cs typeface="Arial"/>
              </a:rPr>
              <a:t>Chi</a:t>
            </a:r>
            <a:r>
              <a:rPr lang="cs-CZ" sz="2100" dirty="0">
                <a:latin typeface="Arial"/>
                <a:cs typeface="Arial"/>
              </a:rPr>
              <a:t>-square testy, </a:t>
            </a:r>
            <a:r>
              <a:rPr lang="cs-CZ" sz="2100" dirty="0" err="1">
                <a:latin typeface="Arial"/>
                <a:cs typeface="Arial"/>
              </a:rPr>
              <a:t>Cramerovo</a:t>
            </a:r>
            <a:r>
              <a:rPr lang="cs-CZ" sz="2100" dirty="0">
                <a:latin typeface="Arial"/>
                <a:cs typeface="Arial"/>
              </a:rPr>
              <a:t> V, korelační analýza,</a:t>
            </a:r>
            <a:endParaRPr lang="cs-CZ" sz="2100" b="1" dirty="0"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100" b="1" dirty="0">
                <a:latin typeface="Arial"/>
                <a:cs typeface="Arial"/>
              </a:rPr>
              <a:t>4ft-Miner:</a:t>
            </a:r>
            <a:r>
              <a:rPr lang="cs-CZ" sz="2100" dirty="0">
                <a:latin typeface="Arial"/>
                <a:cs typeface="Arial"/>
              </a:rPr>
              <a:t> Asociační pravidla pro identifikaci vzorců,</a:t>
            </a:r>
            <a:endParaRPr lang="cs-CZ" sz="21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100" b="1" dirty="0">
                <a:latin typeface="Arial"/>
                <a:cs typeface="Arial"/>
              </a:rPr>
              <a:t>CF-</a:t>
            </a:r>
            <a:r>
              <a:rPr lang="cs-CZ" sz="2100" b="1" dirty="0" err="1">
                <a:latin typeface="Arial"/>
                <a:cs typeface="Arial"/>
              </a:rPr>
              <a:t>Miner</a:t>
            </a:r>
            <a:r>
              <a:rPr lang="cs-CZ" sz="2100" b="1" dirty="0">
                <a:latin typeface="Arial"/>
                <a:cs typeface="Arial"/>
              </a:rPr>
              <a:t>:</a:t>
            </a:r>
            <a:r>
              <a:rPr lang="cs-CZ" sz="2100" dirty="0">
                <a:latin typeface="Arial"/>
                <a:cs typeface="Arial"/>
              </a:rPr>
              <a:t> Analýza distribuce histogramů mezi skupinami,</a:t>
            </a:r>
            <a:endParaRPr lang="cs-CZ" sz="21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100" b="1" dirty="0">
                <a:latin typeface="Arial"/>
                <a:cs typeface="Arial"/>
              </a:rPr>
              <a:t>SD4ft-Miner:</a:t>
            </a:r>
            <a:r>
              <a:rPr lang="cs-CZ" sz="2100" dirty="0">
                <a:latin typeface="Arial"/>
                <a:cs typeface="Arial"/>
              </a:rPr>
              <a:t> </a:t>
            </a:r>
            <a:r>
              <a:rPr lang="cs-CZ" sz="2100" dirty="0" err="1">
                <a:latin typeface="Arial"/>
                <a:cs typeface="Arial"/>
              </a:rPr>
              <a:t>Subgroup</a:t>
            </a:r>
            <a:r>
              <a:rPr lang="cs-CZ" sz="2100" dirty="0">
                <a:latin typeface="Arial"/>
                <a:cs typeface="Arial"/>
              </a:rPr>
              <a:t> </a:t>
            </a:r>
            <a:r>
              <a:rPr lang="cs-CZ" sz="2100" dirty="0" err="1">
                <a:latin typeface="Arial"/>
                <a:cs typeface="Arial"/>
              </a:rPr>
              <a:t>discovery</a:t>
            </a:r>
            <a:r>
              <a:rPr lang="cs-CZ" sz="2100" dirty="0">
                <a:latin typeface="Arial"/>
                <a:cs typeface="Arial"/>
              </a:rPr>
              <a:t> pro rozdíly mezi podskupinami,</a:t>
            </a:r>
            <a:endParaRPr lang="cs-CZ" sz="21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100" b="1" dirty="0">
                <a:latin typeface="Arial"/>
                <a:cs typeface="Arial"/>
              </a:rPr>
              <a:t>prediktivní modely</a:t>
            </a:r>
            <a:r>
              <a:rPr lang="cs-CZ" sz="2100" dirty="0">
                <a:latin typeface="Arial"/>
                <a:cs typeface="Arial"/>
              </a:rPr>
              <a:t>: </a:t>
            </a:r>
            <a:r>
              <a:rPr lang="cs-CZ" sz="2100" err="1">
                <a:latin typeface="Arial"/>
                <a:cs typeface="Arial"/>
              </a:rPr>
              <a:t>Random</a:t>
            </a:r>
            <a:r>
              <a:rPr lang="cs-CZ" sz="2100" dirty="0">
                <a:latin typeface="Arial"/>
                <a:cs typeface="Arial"/>
              </a:rPr>
              <a:t> </a:t>
            </a:r>
            <a:r>
              <a:rPr lang="cs-CZ" sz="2100" err="1">
                <a:latin typeface="Arial"/>
                <a:cs typeface="Arial"/>
              </a:rPr>
              <a:t>Forest</a:t>
            </a:r>
            <a:r>
              <a:rPr lang="cs-CZ" sz="2100" dirty="0">
                <a:latin typeface="Arial"/>
                <a:cs typeface="Arial"/>
              </a:rPr>
              <a:t> (</a:t>
            </a:r>
            <a:r>
              <a:rPr lang="cs-CZ" sz="2100" err="1">
                <a:latin typeface="Arial"/>
                <a:cs typeface="Arial"/>
              </a:rPr>
              <a:t>feature</a:t>
            </a:r>
            <a:r>
              <a:rPr lang="cs-CZ" sz="2100" dirty="0">
                <a:latin typeface="Arial"/>
                <a:cs typeface="Arial"/>
              </a:rPr>
              <a:t> </a:t>
            </a:r>
            <a:r>
              <a:rPr lang="cs-CZ" sz="2100" err="1">
                <a:latin typeface="Arial"/>
                <a:cs typeface="Arial"/>
              </a:rPr>
              <a:t>importance</a:t>
            </a:r>
            <a:r>
              <a:rPr lang="cs-CZ" sz="2100" dirty="0">
                <a:latin typeface="Arial"/>
                <a:cs typeface="Arial"/>
              </a:rPr>
              <a:t>).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2100" b="1" dirty="0"/>
          </a:p>
        </p:txBody>
      </p:sp>
    </p:spTree>
    <p:extLst>
      <p:ext uri="{BB962C8B-B14F-4D97-AF65-F5344CB8AC3E}">
        <p14:creationId xmlns:p14="http://schemas.microsoft.com/office/powerpoint/2010/main" val="1019644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0B30A-842E-226B-17F7-D0DE4D49F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4004393-A3DB-39CE-E5B1-AD71958DE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endParaRPr lang="cs-CZ" dirty="0"/>
          </a:p>
        </p:txBody>
      </p:sp>
      <p:pic>
        <p:nvPicPr>
          <p:cNvPr id="4" name="Zástupný obsah 3" descr="Obsah obrázku text, snímek obrazovky, software, číslo&#10;&#10;Obsah generovaný pomocí AI může být nesprávný.">
            <a:extLst>
              <a:ext uri="{FF2B5EF4-FFF2-40B4-BE49-F238E27FC236}">
                <a16:creationId xmlns:a16="http://schemas.microsoft.com/office/drawing/2014/main" id="{8D6BCB3B-B008-38C7-1244-1F0BA83DDF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79" y="1009547"/>
            <a:ext cx="9149353" cy="5169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004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7FEAD-6F4F-BA98-D603-83E1DC40E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ástupný obsah 4">
            <a:extLst>
              <a:ext uri="{FF2B5EF4-FFF2-40B4-BE49-F238E27FC236}">
                <a16:creationId xmlns:a16="http://schemas.microsoft.com/office/drawing/2014/main" id="{7A4D6CB9-409F-9FDE-D7E6-AB32366236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157" y="1712899"/>
            <a:ext cx="8743518" cy="491568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VÝSLEDKY ÚLOHY 2:</a:t>
            </a:r>
            <a:endParaRPr lang="cs-CZ" sz="100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endParaRPr lang="cs-CZ" sz="1000" dirty="0">
              <a:latin typeface="Consolas"/>
              <a:cs typeface="Arial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 err="1">
                <a:latin typeface="Consolas"/>
                <a:cs typeface="Arial"/>
              </a:rPr>
              <a:t>CleverMiner</a:t>
            </a:r>
            <a:r>
              <a:rPr lang="cs-CZ" sz="1000" dirty="0">
                <a:latin typeface="Consolas"/>
                <a:cs typeface="Arial"/>
              </a:rPr>
              <a:t> </a:t>
            </a:r>
            <a:r>
              <a:rPr lang="cs-CZ" sz="1000" dirty="0" err="1">
                <a:latin typeface="Consolas"/>
                <a:cs typeface="Arial"/>
              </a:rPr>
              <a:t>task</a:t>
            </a:r>
            <a:r>
              <a:rPr lang="cs-CZ" sz="1000" dirty="0">
                <a:latin typeface="Consolas"/>
                <a:cs typeface="Arial"/>
              </a:rPr>
              <a:t> </a:t>
            </a:r>
            <a:r>
              <a:rPr lang="cs-CZ" sz="1000" dirty="0" err="1">
                <a:latin typeface="Consolas"/>
                <a:cs typeface="Arial"/>
              </a:rPr>
              <a:t>processing</a:t>
            </a:r>
            <a:r>
              <a:rPr lang="cs-CZ" sz="1000" dirty="0">
                <a:latin typeface="Consolas"/>
                <a:cs typeface="Arial"/>
              </a:rPr>
              <a:t> </a:t>
            </a:r>
            <a:r>
              <a:rPr lang="cs-CZ" sz="1000" dirty="0" err="1">
                <a:latin typeface="Consolas"/>
                <a:cs typeface="Arial"/>
              </a:rPr>
              <a:t>summary</a:t>
            </a:r>
            <a:r>
              <a:rPr lang="cs-CZ" sz="1000" dirty="0">
                <a:latin typeface="Consolas"/>
                <a:cs typeface="Arial"/>
              </a:rPr>
              <a:t>:</a:t>
            </a:r>
            <a:endParaRPr lang="cs-CZ" sz="100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endParaRPr lang="cs-CZ" sz="1000" dirty="0">
              <a:latin typeface="Consolas"/>
              <a:cs typeface="Arial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 err="1">
                <a:latin typeface="Consolas"/>
                <a:cs typeface="Arial"/>
              </a:rPr>
              <a:t>Task</a:t>
            </a:r>
            <a:r>
              <a:rPr lang="cs-CZ" sz="1000" dirty="0">
                <a:latin typeface="Consolas"/>
                <a:cs typeface="Arial"/>
              </a:rPr>
              <a:t> type : 4ftMiner</a:t>
            </a:r>
            <a:endParaRPr lang="cs-CZ" sz="1000" dirty="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err="1">
                <a:latin typeface="Consolas"/>
                <a:cs typeface="Arial"/>
              </a:rPr>
              <a:t>Number</a:t>
            </a:r>
            <a:r>
              <a:rPr lang="cs-CZ" sz="1000" dirty="0">
                <a:latin typeface="Consolas"/>
                <a:cs typeface="Arial"/>
              </a:rPr>
              <a:t> </a:t>
            </a:r>
            <a:r>
              <a:rPr lang="cs-CZ" sz="1000" err="1">
                <a:latin typeface="Consolas"/>
                <a:cs typeface="Arial"/>
              </a:rPr>
              <a:t>of</a:t>
            </a:r>
            <a:r>
              <a:rPr lang="cs-CZ" sz="1000" dirty="0">
                <a:latin typeface="Consolas"/>
                <a:cs typeface="Arial"/>
              </a:rPr>
              <a:t> </a:t>
            </a:r>
            <a:r>
              <a:rPr lang="cs-CZ" sz="1000" err="1">
                <a:latin typeface="Consolas"/>
                <a:cs typeface="Arial"/>
              </a:rPr>
              <a:t>verifications</a:t>
            </a:r>
            <a:r>
              <a:rPr lang="cs-CZ" sz="1000" dirty="0">
                <a:latin typeface="Consolas"/>
                <a:cs typeface="Arial"/>
              </a:rPr>
              <a:t> : 45</a:t>
            </a:r>
            <a:endParaRPr lang="cs-CZ" sz="100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err="1">
                <a:latin typeface="Consolas"/>
                <a:cs typeface="Arial"/>
              </a:rPr>
              <a:t>Number</a:t>
            </a:r>
            <a:r>
              <a:rPr lang="cs-CZ" sz="1000" dirty="0">
                <a:latin typeface="Consolas"/>
                <a:cs typeface="Arial"/>
              </a:rPr>
              <a:t> </a:t>
            </a:r>
            <a:r>
              <a:rPr lang="cs-CZ" sz="1000" err="1">
                <a:latin typeface="Consolas"/>
                <a:cs typeface="Arial"/>
              </a:rPr>
              <a:t>of</a:t>
            </a:r>
            <a:r>
              <a:rPr lang="cs-CZ" sz="1000" dirty="0">
                <a:latin typeface="Consolas"/>
                <a:cs typeface="Arial"/>
              </a:rPr>
              <a:t> </a:t>
            </a:r>
            <a:r>
              <a:rPr lang="cs-CZ" sz="1000" err="1">
                <a:latin typeface="Consolas"/>
                <a:cs typeface="Arial"/>
              </a:rPr>
              <a:t>rules</a:t>
            </a:r>
            <a:r>
              <a:rPr lang="cs-CZ" sz="1000" dirty="0">
                <a:latin typeface="Consolas"/>
                <a:cs typeface="Arial"/>
              </a:rPr>
              <a:t> : 13</a:t>
            </a:r>
            <a:endParaRPr lang="cs-CZ" sz="100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err="1">
                <a:latin typeface="Consolas"/>
                <a:cs typeface="Arial"/>
              </a:rPr>
              <a:t>Total</a:t>
            </a:r>
            <a:r>
              <a:rPr lang="cs-CZ" sz="1000" dirty="0">
                <a:latin typeface="Consolas"/>
                <a:cs typeface="Arial"/>
              </a:rPr>
              <a:t> </a:t>
            </a:r>
            <a:r>
              <a:rPr lang="cs-CZ" sz="1000" err="1">
                <a:latin typeface="Consolas"/>
                <a:cs typeface="Arial"/>
              </a:rPr>
              <a:t>time</a:t>
            </a:r>
            <a:r>
              <a:rPr lang="cs-CZ" sz="1000" dirty="0">
                <a:latin typeface="Consolas"/>
                <a:cs typeface="Arial"/>
              </a:rPr>
              <a:t> </a:t>
            </a:r>
            <a:r>
              <a:rPr lang="cs-CZ" sz="1000" err="1">
                <a:latin typeface="Consolas"/>
                <a:cs typeface="Arial"/>
              </a:rPr>
              <a:t>needed</a:t>
            </a:r>
            <a:r>
              <a:rPr lang="cs-CZ" sz="1000" dirty="0">
                <a:latin typeface="Consolas"/>
                <a:cs typeface="Arial"/>
              </a:rPr>
              <a:t> : 00h 00m 00s</a:t>
            </a:r>
            <a:endParaRPr lang="cs-CZ" sz="100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Time </a:t>
            </a:r>
            <a:r>
              <a:rPr lang="cs-CZ" sz="1000" err="1">
                <a:latin typeface="Consolas"/>
                <a:cs typeface="Arial"/>
              </a:rPr>
              <a:t>of</a:t>
            </a:r>
            <a:r>
              <a:rPr lang="cs-CZ" sz="1000" dirty="0">
                <a:latin typeface="Consolas"/>
                <a:cs typeface="Arial"/>
              </a:rPr>
              <a:t> data </a:t>
            </a:r>
            <a:r>
              <a:rPr lang="cs-CZ" sz="1000" err="1">
                <a:latin typeface="Consolas"/>
                <a:cs typeface="Arial"/>
              </a:rPr>
              <a:t>preparation</a:t>
            </a:r>
            <a:r>
              <a:rPr lang="cs-CZ" sz="1000" dirty="0">
                <a:latin typeface="Consolas"/>
                <a:cs typeface="Arial"/>
              </a:rPr>
              <a:t> : 00h 00m 00s</a:t>
            </a:r>
            <a:endParaRPr lang="cs-CZ" sz="100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Time </a:t>
            </a:r>
            <a:r>
              <a:rPr lang="cs-CZ" sz="1000" err="1">
                <a:latin typeface="Consolas"/>
                <a:cs typeface="Arial"/>
              </a:rPr>
              <a:t>of</a:t>
            </a:r>
            <a:r>
              <a:rPr lang="cs-CZ" sz="1000" dirty="0">
                <a:latin typeface="Consolas"/>
                <a:cs typeface="Arial"/>
              </a:rPr>
              <a:t> rule </a:t>
            </a:r>
            <a:r>
              <a:rPr lang="cs-CZ" sz="1000" err="1">
                <a:latin typeface="Consolas"/>
                <a:cs typeface="Arial"/>
              </a:rPr>
              <a:t>mining</a:t>
            </a:r>
            <a:r>
              <a:rPr lang="cs-CZ" sz="1000" dirty="0">
                <a:latin typeface="Consolas"/>
                <a:cs typeface="Arial"/>
              </a:rPr>
              <a:t> : 00h 00m 00s</a:t>
            </a:r>
            <a:endParaRPr lang="cs-CZ" sz="100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endParaRPr lang="cs-CZ" sz="1000" dirty="0">
              <a:latin typeface="Consolas"/>
              <a:cs typeface="Arial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List </a:t>
            </a:r>
            <a:r>
              <a:rPr lang="cs-CZ" sz="1000" err="1">
                <a:latin typeface="Consolas"/>
                <a:cs typeface="Arial"/>
              </a:rPr>
              <a:t>of</a:t>
            </a:r>
            <a:r>
              <a:rPr lang="cs-CZ" sz="1000" dirty="0">
                <a:latin typeface="Consolas"/>
                <a:cs typeface="Arial"/>
              </a:rPr>
              <a:t> </a:t>
            </a:r>
            <a:r>
              <a:rPr lang="cs-CZ" sz="1000" err="1">
                <a:latin typeface="Consolas"/>
                <a:cs typeface="Arial"/>
              </a:rPr>
              <a:t>rules</a:t>
            </a:r>
            <a:r>
              <a:rPr lang="cs-CZ" sz="1000" dirty="0">
                <a:latin typeface="Consolas"/>
                <a:cs typeface="Arial"/>
              </a:rPr>
              <a:t>:</a:t>
            </a:r>
            <a:endParaRPr lang="cs-CZ" sz="100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RULEID BASE  CONF  AAD    Rule</a:t>
            </a:r>
            <a:endParaRPr lang="cs-CZ" sz="100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  </a:t>
            </a:r>
            <a:r>
              <a:rPr lang="cs-CZ" sz="1000" b="1" dirty="0">
                <a:latin typeface="Consolas"/>
                <a:cs typeface="Arial"/>
              </a:rPr>
              <a:t>1    33 0.611 +0.243 </a:t>
            </a:r>
            <a:r>
              <a:rPr lang="cs-CZ" sz="1000" b="1" dirty="0" err="1">
                <a:latin typeface="Consolas"/>
                <a:cs typeface="Arial"/>
              </a:rPr>
              <a:t>race_category</a:t>
            </a:r>
            <a:r>
              <a:rPr lang="cs-CZ" sz="1000" b="1" dirty="0">
                <a:latin typeface="Consolas"/>
                <a:cs typeface="Arial"/>
              </a:rPr>
              <a:t>(Black) &amp; </a:t>
            </a:r>
            <a:r>
              <a:rPr lang="cs-CZ" sz="1000" b="1" dirty="0" err="1">
                <a:latin typeface="Consolas"/>
                <a:cs typeface="Arial"/>
              </a:rPr>
              <a:t>budget_category</a:t>
            </a:r>
            <a:r>
              <a:rPr lang="cs-CZ" sz="1000" b="1" dirty="0">
                <a:latin typeface="Consolas"/>
                <a:cs typeface="Arial"/>
              </a:rPr>
              <a:t>(</a:t>
            </a:r>
            <a:r>
              <a:rPr lang="cs-CZ" sz="1000" b="1" dirty="0" err="1">
                <a:latin typeface="Consolas"/>
                <a:cs typeface="Arial"/>
              </a:rPr>
              <a:t>High_Budget</a:t>
            </a:r>
            <a:r>
              <a:rPr lang="cs-CZ" sz="1000" b="1" dirty="0">
                <a:latin typeface="Consolas"/>
                <a:cs typeface="Arial"/>
              </a:rPr>
              <a:t>) =&gt; </a:t>
            </a:r>
            <a:r>
              <a:rPr lang="cs-CZ" sz="1000" b="1" dirty="0" err="1">
                <a:latin typeface="Consolas"/>
                <a:cs typeface="Arial"/>
              </a:rPr>
              <a:t>shooting_rate_category</a:t>
            </a:r>
            <a:r>
              <a:rPr lang="cs-CZ" sz="1000" b="1" dirty="0">
                <a:latin typeface="Consolas"/>
                <a:cs typeface="Arial"/>
              </a:rPr>
              <a:t>(</a:t>
            </a:r>
            <a:r>
              <a:rPr lang="cs-CZ" sz="1000" b="1" dirty="0" err="1">
                <a:latin typeface="Consolas"/>
                <a:cs typeface="Arial"/>
              </a:rPr>
              <a:t>High_Rate</a:t>
            </a:r>
            <a:r>
              <a:rPr lang="cs-CZ" sz="1000" b="1" dirty="0">
                <a:latin typeface="Consolas"/>
                <a:cs typeface="Arial"/>
              </a:rPr>
              <a:t>) | ---</a:t>
            </a:r>
            <a:endParaRPr lang="cs-CZ" sz="1000" b="1" dirty="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  </a:t>
            </a:r>
            <a:r>
              <a:rPr lang="cs-CZ" sz="1000" b="1" dirty="0">
                <a:latin typeface="Consolas"/>
                <a:cs typeface="Arial"/>
              </a:rPr>
              <a:t>2    21 0.778 +0.582 </a:t>
            </a:r>
            <a:r>
              <a:rPr lang="cs-CZ" sz="1000" b="1" err="1">
                <a:latin typeface="Consolas"/>
                <a:cs typeface="Arial"/>
              </a:rPr>
              <a:t>race_category</a:t>
            </a:r>
            <a:r>
              <a:rPr lang="cs-CZ" sz="1000" b="1" dirty="0">
                <a:latin typeface="Consolas"/>
                <a:cs typeface="Arial"/>
              </a:rPr>
              <a:t>(</a:t>
            </a:r>
            <a:r>
              <a:rPr lang="cs-CZ" sz="1000" b="1" err="1">
                <a:latin typeface="Consolas"/>
                <a:cs typeface="Arial"/>
              </a:rPr>
              <a:t>Hispanic</a:t>
            </a:r>
            <a:r>
              <a:rPr lang="cs-CZ" sz="1000" b="1" dirty="0">
                <a:latin typeface="Consolas"/>
                <a:cs typeface="Arial"/>
              </a:rPr>
              <a:t>) &amp; </a:t>
            </a:r>
            <a:r>
              <a:rPr lang="cs-CZ" sz="1000" b="1" err="1">
                <a:latin typeface="Consolas"/>
                <a:cs typeface="Arial"/>
              </a:rPr>
              <a:t>budget_category</a:t>
            </a:r>
            <a:r>
              <a:rPr lang="cs-CZ" sz="1000" b="1" dirty="0">
                <a:latin typeface="Consolas"/>
                <a:cs typeface="Arial"/>
              </a:rPr>
              <a:t>(</a:t>
            </a:r>
            <a:r>
              <a:rPr lang="cs-CZ" sz="1000" b="1" err="1">
                <a:latin typeface="Consolas"/>
                <a:cs typeface="Arial"/>
              </a:rPr>
              <a:t>High_Budget</a:t>
            </a:r>
            <a:r>
              <a:rPr lang="cs-CZ" sz="1000" b="1" dirty="0">
                <a:latin typeface="Consolas"/>
                <a:cs typeface="Arial"/>
              </a:rPr>
              <a:t>) =&gt; </a:t>
            </a:r>
            <a:r>
              <a:rPr lang="cs-CZ" sz="1000" b="1" err="1">
                <a:latin typeface="Consolas"/>
                <a:cs typeface="Arial"/>
              </a:rPr>
              <a:t>shooting_rate_category</a:t>
            </a:r>
            <a:r>
              <a:rPr lang="cs-CZ" sz="1000" b="1" dirty="0">
                <a:latin typeface="Consolas"/>
                <a:cs typeface="Arial"/>
              </a:rPr>
              <a:t>(</a:t>
            </a:r>
            <a:r>
              <a:rPr lang="cs-CZ" sz="1000" b="1" err="1">
                <a:latin typeface="Consolas"/>
                <a:cs typeface="Arial"/>
              </a:rPr>
              <a:t>High_Rate</a:t>
            </a:r>
            <a:r>
              <a:rPr lang="cs-CZ" sz="1000" b="1" dirty="0">
                <a:latin typeface="Consolas"/>
                <a:cs typeface="Arial"/>
              </a:rPr>
              <a:t>) |</a:t>
            </a:r>
            <a:endParaRPr lang="cs-CZ" sz="1000" b="1" dirty="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  3    45 0.652 +0.327 </a:t>
            </a:r>
            <a:r>
              <a:rPr lang="cs-CZ" sz="1000" dirty="0" err="1">
                <a:latin typeface="Consolas"/>
                <a:cs typeface="Arial"/>
              </a:rPr>
              <a:t>race_category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Hispanic</a:t>
            </a:r>
            <a:r>
              <a:rPr lang="cs-CZ" sz="1000" dirty="0">
                <a:latin typeface="Consolas"/>
                <a:cs typeface="Arial"/>
              </a:rPr>
              <a:t>) &amp; </a:t>
            </a:r>
            <a:r>
              <a:rPr lang="cs-CZ" sz="1000" dirty="0" err="1">
                <a:latin typeface="Consolas"/>
                <a:cs typeface="Arial"/>
              </a:rPr>
              <a:t>budget_category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Medium_Budget</a:t>
            </a:r>
            <a:r>
              <a:rPr lang="cs-CZ" sz="1000" dirty="0">
                <a:latin typeface="Consolas"/>
                <a:cs typeface="Arial"/>
              </a:rPr>
              <a:t>) =&gt; </a:t>
            </a:r>
            <a:r>
              <a:rPr lang="cs-CZ" sz="1000" dirty="0" err="1">
                <a:latin typeface="Consolas"/>
                <a:cs typeface="Arial"/>
              </a:rPr>
              <a:t>shooting_rate_category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High_Rate</a:t>
            </a:r>
            <a:r>
              <a:rPr lang="cs-CZ" sz="1000" dirty="0">
                <a:latin typeface="Consolas"/>
                <a:cs typeface="Arial"/>
              </a:rPr>
              <a:t>) </a:t>
            </a:r>
            <a:endParaRPr lang="cs-CZ" sz="1000" dirty="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  4    29 0.592 +0.204 </a:t>
            </a:r>
            <a:r>
              <a:rPr lang="cs-CZ" sz="1000" dirty="0" err="1">
                <a:latin typeface="Consolas"/>
                <a:cs typeface="Arial"/>
              </a:rPr>
              <a:t>race_category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Hispanic</a:t>
            </a:r>
            <a:r>
              <a:rPr lang="cs-CZ" sz="1000" dirty="0">
                <a:latin typeface="Consolas"/>
                <a:cs typeface="Arial"/>
              </a:rPr>
              <a:t>) &amp; </a:t>
            </a:r>
            <a:r>
              <a:rPr lang="cs-CZ" sz="1000" dirty="0" err="1">
                <a:latin typeface="Consolas"/>
                <a:cs typeface="Arial"/>
              </a:rPr>
              <a:t>armed_category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Unarmed</a:t>
            </a:r>
            <a:r>
              <a:rPr lang="cs-CZ" sz="1000" dirty="0">
                <a:latin typeface="Consolas"/>
                <a:cs typeface="Arial"/>
              </a:rPr>
              <a:t>) =&gt; </a:t>
            </a:r>
            <a:r>
              <a:rPr lang="cs-CZ" sz="1000" dirty="0" err="1">
                <a:latin typeface="Consolas"/>
                <a:cs typeface="Arial"/>
              </a:rPr>
              <a:t>shooting_rate_category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High_Rate</a:t>
            </a:r>
            <a:r>
              <a:rPr lang="cs-CZ" sz="1000" dirty="0">
                <a:latin typeface="Consolas"/>
                <a:cs typeface="Arial"/>
              </a:rPr>
              <a:t>) | ---</a:t>
            </a:r>
            <a:endParaRPr lang="cs-CZ" sz="1000" dirty="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  5   295 0.596 +0.213 </a:t>
            </a:r>
            <a:r>
              <a:rPr lang="cs-CZ" sz="1000" dirty="0" err="1">
                <a:latin typeface="Consolas"/>
                <a:cs typeface="Arial"/>
              </a:rPr>
              <a:t>race_category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White</a:t>
            </a:r>
            <a:r>
              <a:rPr lang="cs-CZ" sz="1000" dirty="0">
                <a:latin typeface="Consolas"/>
                <a:cs typeface="Arial"/>
              </a:rPr>
              <a:t>) =&gt; </a:t>
            </a:r>
            <a:r>
              <a:rPr lang="cs-CZ" sz="1000" dirty="0" err="1">
                <a:latin typeface="Consolas"/>
                <a:cs typeface="Arial"/>
              </a:rPr>
              <a:t>shooting_rate_category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High_Rate</a:t>
            </a:r>
            <a:r>
              <a:rPr lang="cs-CZ" sz="1000" dirty="0">
                <a:latin typeface="Consolas"/>
                <a:cs typeface="Arial"/>
              </a:rPr>
              <a:t>) | ---</a:t>
            </a:r>
            <a:endParaRPr lang="cs-CZ" sz="1000" dirty="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  </a:t>
            </a:r>
            <a:r>
              <a:rPr lang="cs-CZ" sz="1000" b="1" dirty="0">
                <a:latin typeface="Consolas"/>
                <a:cs typeface="Arial"/>
              </a:rPr>
              <a:t>6    51 0.729 +0.482 </a:t>
            </a:r>
            <a:r>
              <a:rPr lang="cs-CZ" sz="1000" b="1" dirty="0" err="1">
                <a:latin typeface="Consolas"/>
                <a:cs typeface="Arial"/>
              </a:rPr>
              <a:t>race_category</a:t>
            </a:r>
            <a:r>
              <a:rPr lang="cs-CZ" sz="1000" b="1" dirty="0">
                <a:latin typeface="Consolas"/>
                <a:cs typeface="Arial"/>
              </a:rPr>
              <a:t>(</a:t>
            </a:r>
            <a:r>
              <a:rPr lang="cs-CZ" sz="1000" b="1" dirty="0" err="1">
                <a:latin typeface="Consolas"/>
                <a:cs typeface="Arial"/>
              </a:rPr>
              <a:t>White</a:t>
            </a:r>
            <a:r>
              <a:rPr lang="cs-CZ" sz="1000" b="1" dirty="0">
                <a:latin typeface="Consolas"/>
                <a:cs typeface="Arial"/>
              </a:rPr>
              <a:t>) &amp; </a:t>
            </a:r>
            <a:r>
              <a:rPr lang="cs-CZ" sz="1000" b="1" dirty="0" err="1">
                <a:latin typeface="Consolas"/>
                <a:cs typeface="Arial"/>
              </a:rPr>
              <a:t>budget_category</a:t>
            </a:r>
            <a:r>
              <a:rPr lang="cs-CZ" sz="1000" b="1" dirty="0">
                <a:latin typeface="Consolas"/>
                <a:cs typeface="Arial"/>
              </a:rPr>
              <a:t>(</a:t>
            </a:r>
            <a:r>
              <a:rPr lang="cs-CZ" sz="1000" b="1" dirty="0" err="1">
                <a:latin typeface="Consolas"/>
                <a:cs typeface="Arial"/>
              </a:rPr>
              <a:t>High_Budget</a:t>
            </a:r>
            <a:r>
              <a:rPr lang="cs-CZ" sz="1000" b="1" dirty="0">
                <a:latin typeface="Consolas"/>
                <a:cs typeface="Arial"/>
              </a:rPr>
              <a:t>) =&gt; </a:t>
            </a:r>
            <a:r>
              <a:rPr lang="cs-CZ" sz="1000" b="1" dirty="0" err="1">
                <a:latin typeface="Consolas"/>
                <a:cs typeface="Arial"/>
              </a:rPr>
              <a:t>shooting_rate_category</a:t>
            </a:r>
            <a:r>
              <a:rPr lang="cs-CZ" sz="1000" b="1" dirty="0">
                <a:latin typeface="Consolas"/>
                <a:cs typeface="Arial"/>
              </a:rPr>
              <a:t>(</a:t>
            </a:r>
            <a:r>
              <a:rPr lang="cs-CZ" sz="1000" b="1" dirty="0" err="1">
                <a:latin typeface="Consolas"/>
                <a:cs typeface="Arial"/>
              </a:rPr>
              <a:t>High_Rate</a:t>
            </a:r>
            <a:r>
              <a:rPr lang="cs-CZ" sz="1000" b="1" dirty="0">
                <a:latin typeface="Consolas"/>
                <a:cs typeface="Arial"/>
              </a:rPr>
              <a:t>) | ---</a:t>
            </a:r>
            <a:endParaRPr lang="cs-CZ" sz="1000" b="1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  7    83 0.648 +0.319 </a:t>
            </a:r>
            <a:r>
              <a:rPr lang="cs-CZ" sz="1000" dirty="0" err="1">
                <a:latin typeface="Consolas"/>
                <a:cs typeface="Arial"/>
              </a:rPr>
              <a:t>race_category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White</a:t>
            </a:r>
            <a:r>
              <a:rPr lang="cs-CZ" sz="1000" dirty="0">
                <a:latin typeface="Consolas"/>
                <a:cs typeface="Arial"/>
              </a:rPr>
              <a:t>) &amp; </a:t>
            </a:r>
            <a:r>
              <a:rPr lang="cs-CZ" sz="1000" dirty="0" err="1">
                <a:latin typeface="Consolas"/>
                <a:cs typeface="Arial"/>
              </a:rPr>
              <a:t>budget_category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Medium_Budget</a:t>
            </a:r>
            <a:r>
              <a:rPr lang="cs-CZ" sz="1000" dirty="0">
                <a:latin typeface="Consolas"/>
                <a:cs typeface="Arial"/>
              </a:rPr>
              <a:t>) =&gt; </a:t>
            </a:r>
            <a:r>
              <a:rPr lang="cs-CZ" sz="1000" dirty="0" err="1">
                <a:latin typeface="Consolas"/>
                <a:cs typeface="Arial"/>
              </a:rPr>
              <a:t>shooting_rate_category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High_Rate</a:t>
            </a:r>
            <a:r>
              <a:rPr lang="cs-CZ" sz="1000" dirty="0">
                <a:latin typeface="Consolas"/>
                <a:cs typeface="Arial"/>
              </a:rPr>
              <a:t>) | -</a:t>
            </a:r>
            <a:endParaRPr lang="cs-CZ" sz="1000" dirty="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  8   181 0.637 +0.297 </a:t>
            </a:r>
            <a:r>
              <a:rPr lang="cs-CZ" sz="1000" dirty="0" err="1">
                <a:latin typeface="Consolas"/>
                <a:cs typeface="Arial"/>
              </a:rPr>
              <a:t>race_category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White</a:t>
            </a:r>
            <a:r>
              <a:rPr lang="cs-CZ" sz="1000" dirty="0">
                <a:latin typeface="Consolas"/>
                <a:cs typeface="Arial"/>
              </a:rPr>
              <a:t>) &amp; </a:t>
            </a:r>
            <a:r>
              <a:rPr lang="cs-CZ" sz="1000" dirty="0" err="1">
                <a:latin typeface="Consolas"/>
                <a:cs typeface="Arial"/>
              </a:rPr>
              <a:t>armed_category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Gun</a:t>
            </a:r>
            <a:r>
              <a:rPr lang="cs-CZ" sz="1000" dirty="0">
                <a:latin typeface="Consolas"/>
                <a:cs typeface="Arial"/>
              </a:rPr>
              <a:t>) =&gt; </a:t>
            </a:r>
            <a:r>
              <a:rPr lang="cs-CZ" sz="1000" dirty="0" err="1">
                <a:latin typeface="Consolas"/>
                <a:cs typeface="Arial"/>
              </a:rPr>
              <a:t>shooting_rate_category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High_Rate</a:t>
            </a:r>
            <a:r>
              <a:rPr lang="cs-CZ" sz="1000" dirty="0">
                <a:latin typeface="Consolas"/>
                <a:cs typeface="Arial"/>
              </a:rPr>
              <a:t>) | ---</a:t>
            </a:r>
            <a:endParaRPr lang="cs-CZ" sz="1000" dirty="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  </a:t>
            </a:r>
            <a:r>
              <a:rPr lang="cs-CZ" sz="1000" b="1" dirty="0">
                <a:latin typeface="Consolas"/>
                <a:cs typeface="Arial"/>
              </a:rPr>
              <a:t>9   118 0.694 +0.412 </a:t>
            </a:r>
            <a:r>
              <a:rPr lang="cs-CZ" sz="1000" b="1" dirty="0" err="1">
                <a:latin typeface="Consolas"/>
                <a:cs typeface="Arial"/>
              </a:rPr>
              <a:t>budget_category</a:t>
            </a:r>
            <a:r>
              <a:rPr lang="cs-CZ" sz="1000" b="1" dirty="0">
                <a:latin typeface="Consolas"/>
                <a:cs typeface="Arial"/>
              </a:rPr>
              <a:t>(</a:t>
            </a:r>
            <a:r>
              <a:rPr lang="cs-CZ" sz="1000" b="1" dirty="0" err="1">
                <a:latin typeface="Consolas"/>
                <a:cs typeface="Arial"/>
              </a:rPr>
              <a:t>High_Budget</a:t>
            </a:r>
            <a:r>
              <a:rPr lang="cs-CZ" sz="1000" b="1" dirty="0">
                <a:latin typeface="Consolas"/>
                <a:cs typeface="Arial"/>
              </a:rPr>
              <a:t>) =&gt; </a:t>
            </a:r>
            <a:r>
              <a:rPr lang="cs-CZ" sz="1000" b="1" dirty="0" err="1">
                <a:latin typeface="Consolas"/>
                <a:cs typeface="Arial"/>
              </a:rPr>
              <a:t>shooting_rate_category</a:t>
            </a:r>
            <a:r>
              <a:rPr lang="cs-CZ" sz="1000" b="1" dirty="0">
                <a:latin typeface="Consolas"/>
                <a:cs typeface="Arial"/>
              </a:rPr>
              <a:t>(</a:t>
            </a:r>
            <a:r>
              <a:rPr lang="cs-CZ" sz="1000" b="1" dirty="0" err="1">
                <a:latin typeface="Consolas"/>
                <a:cs typeface="Arial"/>
              </a:rPr>
              <a:t>High_Rate</a:t>
            </a:r>
            <a:r>
              <a:rPr lang="cs-CZ" sz="1000" b="1" dirty="0">
                <a:latin typeface="Consolas"/>
                <a:cs typeface="Arial"/>
              </a:rPr>
              <a:t>) | ---</a:t>
            </a:r>
            <a:endParaRPr lang="cs-CZ" sz="1000" b="1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 10    74 0.712 +0.448 </a:t>
            </a:r>
            <a:r>
              <a:rPr lang="cs-CZ" sz="1000" dirty="0" err="1">
                <a:latin typeface="Consolas"/>
                <a:cs typeface="Arial"/>
              </a:rPr>
              <a:t>budget_category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High_Budget</a:t>
            </a:r>
            <a:r>
              <a:rPr lang="cs-CZ" sz="1000" dirty="0">
                <a:latin typeface="Consolas"/>
                <a:cs typeface="Arial"/>
              </a:rPr>
              <a:t>) &amp; </a:t>
            </a:r>
            <a:r>
              <a:rPr lang="cs-CZ" sz="1000" dirty="0" err="1">
                <a:latin typeface="Consolas"/>
                <a:cs typeface="Arial"/>
              </a:rPr>
              <a:t>armed_category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Gun</a:t>
            </a:r>
            <a:r>
              <a:rPr lang="cs-CZ" sz="1000" dirty="0">
                <a:latin typeface="Consolas"/>
                <a:cs typeface="Arial"/>
              </a:rPr>
              <a:t>) =&gt; </a:t>
            </a:r>
            <a:r>
              <a:rPr lang="cs-CZ" sz="1000" dirty="0" err="1">
                <a:latin typeface="Consolas"/>
                <a:cs typeface="Arial"/>
              </a:rPr>
              <a:t>shooting_rate_category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High_Rate</a:t>
            </a:r>
            <a:r>
              <a:rPr lang="cs-CZ" sz="1000" dirty="0">
                <a:latin typeface="Consolas"/>
                <a:cs typeface="Arial"/>
              </a:rPr>
              <a:t>) | ---</a:t>
            </a:r>
            <a:endParaRPr lang="cs-CZ" sz="1000" dirty="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 11   251 0.591 +0.202 </a:t>
            </a:r>
            <a:r>
              <a:rPr lang="cs-CZ" sz="1000" dirty="0" err="1">
                <a:latin typeface="Consolas"/>
                <a:cs typeface="Arial"/>
              </a:rPr>
              <a:t>budget_category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Medium_Budget</a:t>
            </a:r>
            <a:r>
              <a:rPr lang="cs-CZ" sz="1000" dirty="0">
                <a:latin typeface="Consolas"/>
                <a:cs typeface="Arial"/>
              </a:rPr>
              <a:t>) =&gt; </a:t>
            </a:r>
            <a:r>
              <a:rPr lang="cs-CZ" sz="1000" dirty="0" err="1">
                <a:latin typeface="Consolas"/>
                <a:cs typeface="Arial"/>
              </a:rPr>
              <a:t>shooting_rate_category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High_Rate</a:t>
            </a:r>
            <a:r>
              <a:rPr lang="cs-CZ" sz="1000" dirty="0">
                <a:latin typeface="Consolas"/>
                <a:cs typeface="Arial"/>
              </a:rPr>
              <a:t>) | ---</a:t>
            </a:r>
            <a:endParaRPr lang="cs-CZ" sz="1000" dirty="0">
              <a:latin typeface="Consolas"/>
            </a:endParaRPr>
          </a:p>
          <a:p>
            <a:pPr marL="170815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 12    36 0.621 +0.263 </a:t>
            </a:r>
            <a:r>
              <a:rPr lang="cs-CZ" sz="1000" dirty="0" err="1">
                <a:latin typeface="Consolas"/>
                <a:cs typeface="Arial"/>
              </a:rPr>
              <a:t>budget_category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Medium_Budget</a:t>
            </a:r>
            <a:r>
              <a:rPr lang="cs-CZ" sz="1000" dirty="0">
                <a:latin typeface="Consolas"/>
                <a:cs typeface="Arial"/>
              </a:rPr>
              <a:t>) &amp; </a:t>
            </a:r>
            <a:r>
              <a:rPr lang="cs-CZ" sz="1000" dirty="0" err="1">
                <a:latin typeface="Consolas"/>
                <a:cs typeface="Arial"/>
              </a:rPr>
              <a:t>armed_category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Blade</a:t>
            </a:r>
            <a:r>
              <a:rPr lang="cs-CZ" sz="1000" dirty="0">
                <a:latin typeface="Consolas"/>
                <a:cs typeface="Arial"/>
              </a:rPr>
              <a:t>) =&gt; </a:t>
            </a:r>
            <a:r>
              <a:rPr lang="cs-CZ" sz="1000" dirty="0" err="1">
                <a:latin typeface="Consolas"/>
                <a:cs typeface="Arial"/>
              </a:rPr>
              <a:t>shooting_rate_category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High_Rate</a:t>
            </a:r>
            <a:r>
              <a:rPr lang="cs-CZ" sz="1000" dirty="0">
                <a:latin typeface="Consolas"/>
                <a:cs typeface="Arial"/>
              </a:rPr>
              <a:t>) |</a:t>
            </a:r>
            <a:endParaRPr lang="cs-CZ" sz="1000" dirty="0">
              <a:latin typeface="Consolas"/>
            </a:endParaRPr>
          </a:p>
          <a:p>
            <a:pPr marL="0" indent="0">
              <a:spcBef>
                <a:spcPts val="100"/>
              </a:spcBef>
              <a:buNone/>
            </a:pPr>
            <a:r>
              <a:rPr lang="cs-CZ" sz="1000" dirty="0">
                <a:latin typeface="Consolas"/>
                <a:cs typeface="Arial"/>
              </a:rPr>
              <a:t>      13   143 0.598 +0.217 </a:t>
            </a:r>
            <a:r>
              <a:rPr lang="cs-CZ" sz="1000" dirty="0" err="1">
                <a:latin typeface="Consolas"/>
                <a:cs typeface="Arial"/>
              </a:rPr>
              <a:t>budget_category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Medium_Budget</a:t>
            </a:r>
            <a:r>
              <a:rPr lang="cs-CZ" sz="1000" dirty="0">
                <a:latin typeface="Consolas"/>
                <a:cs typeface="Arial"/>
              </a:rPr>
              <a:t>) &amp; </a:t>
            </a:r>
            <a:r>
              <a:rPr lang="cs-CZ" sz="1000" dirty="0" err="1">
                <a:latin typeface="Consolas"/>
                <a:cs typeface="Arial"/>
              </a:rPr>
              <a:t>armed_category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Gun</a:t>
            </a:r>
            <a:r>
              <a:rPr lang="cs-CZ" sz="1000" dirty="0">
                <a:latin typeface="Consolas"/>
                <a:cs typeface="Arial"/>
              </a:rPr>
              <a:t>) =&gt; </a:t>
            </a:r>
            <a:r>
              <a:rPr lang="cs-CZ" sz="1000" dirty="0" err="1">
                <a:latin typeface="Consolas"/>
                <a:cs typeface="Arial"/>
              </a:rPr>
              <a:t>shooting_rate_category</a:t>
            </a:r>
            <a:r>
              <a:rPr lang="cs-CZ" sz="1000" dirty="0">
                <a:latin typeface="Consolas"/>
                <a:cs typeface="Arial"/>
              </a:rPr>
              <a:t>(</a:t>
            </a:r>
            <a:r>
              <a:rPr lang="cs-CZ" sz="1000" dirty="0" err="1">
                <a:latin typeface="Consolas"/>
                <a:cs typeface="Arial"/>
              </a:rPr>
              <a:t>High_Rate</a:t>
            </a:r>
            <a:r>
              <a:rPr lang="cs-CZ" sz="1000" dirty="0">
                <a:latin typeface="Consolas"/>
                <a:cs typeface="Arial"/>
              </a:rPr>
              <a:t>) | -</a:t>
            </a:r>
            <a:endParaRPr lang="cs-CZ" sz="1000" dirty="0">
              <a:latin typeface="Consolas"/>
            </a:endParaRPr>
          </a:p>
        </p:txBody>
      </p:sp>
      <p:sp>
        <p:nvSpPr>
          <p:cNvPr id="8" name="Nadpis 1">
            <a:extLst>
              <a:ext uri="{FF2B5EF4-FFF2-40B4-BE49-F238E27FC236}">
                <a16:creationId xmlns:a16="http://schemas.microsoft.com/office/drawing/2014/main" id="{9E462838-F223-47D9-D133-11FF306B4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734" y="1026570"/>
            <a:ext cx="7779544" cy="689952"/>
          </a:xfrm>
        </p:spPr>
        <p:txBody>
          <a:bodyPr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Ukázka výsledků z 4ftMiner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374656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9D125-41CC-447A-96FE-3B46FA69E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691CB99-1D30-7FA1-A082-E047D7573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latin typeface="Arial"/>
                <a:cs typeface="Arial"/>
              </a:rPr>
              <a:t>Závěry BI analýzy - 1/2 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0A0B09E-5BC4-D273-8EFD-DE2D95F06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457200" indent="-457200">
              <a:buAutoNum type="arabicPeriod"/>
            </a:pP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Vztah rozpočtu a četnosti střeleb</a:t>
            </a:r>
            <a:endParaRPr lang="cs-CZ" sz="1800" dirty="0">
              <a:solidFill>
                <a:srgbClr val="000000"/>
              </a:solidFill>
            </a:endParaRPr>
          </a:p>
          <a:p>
            <a:pPr marL="800100" lvl="1" indent="-457200">
              <a:buFont typeface="Courier New"/>
              <a:buChar char="o"/>
            </a:pP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Klíčové zjištění: Korelace mezi policejním rozpočtem per capita a mírou </a:t>
            </a:r>
            <a:r>
              <a:rPr lang="cs-CZ" sz="1600" dirty="0" err="1">
                <a:solidFill>
                  <a:srgbClr val="000000"/>
                </a:solidFill>
                <a:latin typeface="Arial"/>
                <a:cs typeface="Arial"/>
              </a:rPr>
              <a:t>střelb</a:t>
            </a: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 je extrémně slabá (r = 0,09),</a:t>
            </a:r>
          </a:p>
          <a:p>
            <a:pPr marL="1143000" lvl="2" indent="-457200">
              <a:buFont typeface="Wingdings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města s vysokým rozpočtem na policii NEMAJÍ statisticky významně nižší míru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střelb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než města s nízkým rozpočtem,</a:t>
            </a:r>
          </a:p>
          <a:p>
            <a:pPr marL="1143000" lvl="2" indent="-457200">
              <a:buFont typeface="Wingdings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průměrná míra střelby se liší minimálně (3,2-3,7 na 100k), ale města s vysokým rozpočtem jsou častěji v kategorii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High_Rate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,</a:t>
            </a:r>
          </a:p>
          <a:p>
            <a:pPr marL="1143000" lvl="2" indent="-457200">
              <a:buFont typeface="Wingdings"/>
              <a:buChar char="§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policy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implikace: Samotné navyšování policejních rozpočtů pravděpodobně není efektivní strategie pro snížení počtu policejních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střelb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.</a:t>
            </a:r>
          </a:p>
          <a:p>
            <a:pPr marL="1143000" lvl="2" indent="-457200">
              <a:buFont typeface="Wingdings"/>
              <a:buChar char="§"/>
            </a:pPr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457200" indent="-457200">
              <a:buAutoNum type="arabicPeriod"/>
            </a:pP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Geografické vzorce</a:t>
            </a:r>
            <a:r>
              <a:rPr lang="cs-CZ" sz="1800" b="0" i="0" dirty="0">
                <a:solidFill>
                  <a:srgbClr val="000000"/>
                </a:solidFill>
                <a:effectLst/>
                <a:latin typeface="Arial"/>
                <a:cs typeface="Arial"/>
              </a:rPr>
              <a:t>.</a:t>
            </a:r>
            <a:endParaRPr lang="cs-CZ" sz="1800" dirty="0">
              <a:solidFill>
                <a:srgbClr val="000000"/>
              </a:solidFill>
            </a:endParaRPr>
          </a:p>
          <a:p>
            <a:pPr marL="800100" lvl="1" indent="-457200">
              <a:buFont typeface="Courier New" panose="020B0604020202020204" pitchFamily="34" charset="0"/>
              <a:buChar char="o"/>
            </a:pPr>
            <a:r>
              <a:rPr lang="cs-CZ" sz="1600" dirty="0">
                <a:solidFill>
                  <a:srgbClr val="000000"/>
                </a:solidFill>
                <a:latin typeface="Arial"/>
                <a:cs typeface="Arial"/>
              </a:rPr>
              <a:t>koncentrace incidentů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</a:p>
          <a:p>
            <a:pPr marL="1143000" lvl="2" indent="-457200">
              <a:buFont typeface="Wingdings" panose="020B0604020202020204" pitchFamily="34" charset="0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Kalifornie a Texas výrazně dominují v absolutním počtu policejních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střelb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,</a:t>
            </a:r>
          </a:p>
          <a:p>
            <a:pPr marL="1143000" lvl="2" indent="-457200">
              <a:buFont typeface="Wingdings" panose="020B0604020202020204" pitchFamily="34" charset="0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velká města (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Large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population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 vykazují vyšší absolutní počty, ale po normalizaci na populaci jsou rozdíly menší.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cs-CZ" sz="2400" dirty="0">
              <a:solidFill>
                <a:srgbClr val="000000"/>
              </a:solidFill>
            </a:endParaRPr>
          </a:p>
          <a:p>
            <a:pPr marL="457200" indent="-457200">
              <a:lnSpc>
                <a:spcPct val="110000"/>
              </a:lnSpc>
              <a:buAutoNum type="arabicPeriod"/>
            </a:pPr>
            <a:endParaRPr lang="cs-CZ" sz="2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0081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8C5C1-83A9-1940-F031-AC599176C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7F55ED7-A23D-1EA2-49DB-E74DAEB2E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latin typeface="Arial"/>
                <a:cs typeface="Arial"/>
              </a:rPr>
              <a:t>Závěry BI analýzy - 2/2 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2FC27E0-316B-4453-035E-FEA1D2D15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cs-CZ" sz="1800" dirty="0">
                <a:solidFill>
                  <a:srgbClr val="009881"/>
                </a:solidFill>
                <a:latin typeface="Arial"/>
                <a:ea typeface="+mj-ea"/>
                <a:cs typeface="Arial"/>
              </a:rPr>
              <a:t>3.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  Demografické charakteristiky obětí</a:t>
            </a:r>
            <a:endParaRPr lang="cs-CZ" sz="1800" dirty="0">
              <a:solidFill>
                <a:srgbClr val="000000"/>
              </a:solidFill>
            </a:endParaRPr>
          </a:p>
          <a:p>
            <a:pPr marL="628650" lvl="1" indent="-285750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rasové složení obětí:</a:t>
            </a:r>
          </a:p>
          <a:p>
            <a:pPr marL="1143000" lvl="2" indent="-170815">
              <a:buFont typeface="Wingdings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Black: 36,3% (výrazně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nadreprezentováno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vzhledem k ~13% podílu na populaci USA),</a:t>
            </a:r>
          </a:p>
          <a:p>
            <a:pPr marL="1143000" lvl="2" indent="-170815">
              <a:buFont typeface="Wingdings"/>
              <a:buChar char="§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White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: 29,03%,</a:t>
            </a:r>
          </a:p>
          <a:p>
            <a:pPr marL="1143000" lvl="2" indent="-170815">
              <a:buFont typeface="Wingdings"/>
              <a:buChar char="§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Hispanic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: 21,3%,</a:t>
            </a:r>
          </a:p>
          <a:p>
            <a:pPr marL="1143000" lvl="2" indent="-170815">
              <a:buFont typeface="Wingdings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rasové disparity jsou patrné i po kontrole na populační velikost a rozpočet města.</a:t>
            </a:r>
          </a:p>
          <a:p>
            <a:pPr marL="628650" lvl="1" indent="-285750">
              <a:buFont typeface="Courier New,monospace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Další demografické faktory:</a:t>
            </a:r>
          </a:p>
          <a:p>
            <a:pPr marL="1143000" lvl="2" indent="-170815">
              <a:buFont typeface="Wingdings,Sans-Serif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naprostá většina obětí jsou muži (~96%).</a:t>
            </a:r>
          </a:p>
          <a:p>
            <a:pPr marL="1143000" lvl="2" indent="-457200">
              <a:buFont typeface="Wingdings"/>
              <a:buChar char="§"/>
            </a:pPr>
            <a:endParaRPr lang="cs-CZ" sz="1400" dirty="0"/>
          </a:p>
          <a:p>
            <a:pPr marL="0" indent="0">
              <a:buNone/>
            </a:pPr>
            <a:r>
              <a:rPr lang="cs-CZ" sz="1800" dirty="0">
                <a:solidFill>
                  <a:srgbClr val="009881"/>
                </a:solidFill>
                <a:latin typeface="Arial"/>
                <a:ea typeface="+mj-ea"/>
                <a:cs typeface="Arial"/>
              </a:rPr>
              <a:t>4.</a:t>
            </a:r>
            <a:r>
              <a:rPr lang="cs-CZ" sz="1800" dirty="0">
                <a:solidFill>
                  <a:srgbClr val="000000"/>
                </a:solidFill>
                <a:latin typeface="Arial"/>
                <a:cs typeface="Arial"/>
              </a:rPr>
              <a:t>  Okolnosti incidentů</a:t>
            </a:r>
            <a:endParaRPr lang="cs-CZ" sz="1800" dirty="0">
              <a:solidFill>
                <a:srgbClr val="000000"/>
              </a:solidFill>
            </a:endParaRPr>
          </a:p>
          <a:p>
            <a:pPr marL="800100" lvl="1" indent="-457200">
              <a:buFont typeface="Courier New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typ výzbroje:</a:t>
            </a:r>
          </a:p>
          <a:p>
            <a:pPr marL="1143000" lvl="2" indent="-457200">
              <a:buFont typeface="Wingdings" panose="020B0604020202020204" pitchFamily="34" charset="0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majorita obětí byla ozbrojená (nejvíce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gun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, druhá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blade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),</a:t>
            </a:r>
          </a:p>
          <a:p>
            <a:pPr marL="1143000" lvl="2" indent="-457200">
              <a:buFont typeface="Wingdings" panose="020B0604020202020204" pitchFamily="34" charset="0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kategorie "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Unarmed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" představuje významnou menšinu případů,</a:t>
            </a:r>
          </a:p>
          <a:p>
            <a:pPr marL="800100" lvl="1" indent="-457200">
              <a:buFont typeface="Courier New" panose="020B0604020202020204" pitchFamily="34" charset="0"/>
              <a:buChar char="o"/>
            </a:pP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threat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assessment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:</a:t>
            </a:r>
          </a:p>
          <a:p>
            <a:pPr marL="1143000" lvl="2" indent="-457200">
              <a:buFont typeface="Wingdings" panose="020B0604020202020204" pitchFamily="34" charset="0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většina incidentů klasifikována jako "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Attack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" (64,99%),</a:t>
            </a:r>
          </a:p>
          <a:p>
            <a:pPr marL="800100" lvl="1" indent="-457200">
              <a:buFont typeface="Courier New,monospace" panose="020B0604020202020204" pitchFamily="34" charset="0"/>
              <a:buChar char="o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body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cameras</a:t>
            </a:r>
            <a:endParaRPr lang="en-US" sz="1400" dirty="0" err="1">
              <a:solidFill>
                <a:srgbClr val="000000"/>
              </a:solidFill>
              <a:latin typeface="Arial"/>
              <a:cs typeface="Arial"/>
            </a:endParaRPr>
          </a:p>
          <a:p>
            <a:pPr marL="1143000" lvl="2" indent="-457200">
              <a:buFont typeface="Wingdings,Sans-Serif" panose="020B0604020202020204" pitchFamily="34" charset="0"/>
              <a:buChar char="§"/>
            </a:pP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větší města používají body </a:t>
            </a:r>
            <a:r>
              <a:rPr lang="cs-CZ" sz="1400" dirty="0" err="1">
                <a:solidFill>
                  <a:srgbClr val="000000"/>
                </a:solidFill>
                <a:latin typeface="Arial"/>
                <a:cs typeface="Arial"/>
              </a:rPr>
              <a:t>cameras</a:t>
            </a:r>
            <a:r>
              <a:rPr lang="cs-CZ" sz="1400" dirty="0">
                <a:solidFill>
                  <a:srgbClr val="000000"/>
                </a:solidFill>
                <a:latin typeface="Arial"/>
                <a:cs typeface="Arial"/>
              </a:rPr>
              <a:t> častěji než menší města.</a:t>
            </a:r>
            <a:endParaRPr lang="cs-CZ" dirty="0"/>
          </a:p>
          <a:p>
            <a:pPr marL="1143000" lvl="2" indent="-457200">
              <a:buFont typeface="Wingdings" panose="020B0604020202020204" pitchFamily="34" charset="0"/>
              <a:buChar char="§"/>
            </a:pPr>
            <a:endParaRPr lang="cs-CZ" sz="1400" dirty="0">
              <a:solidFill>
                <a:srgbClr val="000000"/>
              </a:solidFill>
            </a:endParaRPr>
          </a:p>
          <a:p>
            <a:pPr marL="800100" lvl="1" indent="-457200">
              <a:buFont typeface="Wingdings" panose="020B0604020202020204" pitchFamily="34" charset="0"/>
              <a:buChar char="§"/>
            </a:pPr>
            <a:endParaRPr lang="cs-CZ" sz="1700" dirty="0">
              <a:solidFill>
                <a:srgbClr val="000000"/>
              </a:solidFill>
            </a:endParaRPr>
          </a:p>
          <a:p>
            <a:pPr marL="457200" indent="-457200"/>
            <a:endParaRPr lang="cs-CZ" sz="2400" dirty="0">
              <a:solidFill>
                <a:srgbClr val="000000"/>
              </a:solidFill>
            </a:endParaRPr>
          </a:p>
          <a:p>
            <a:pPr marL="457200" indent="-457200">
              <a:lnSpc>
                <a:spcPct val="110000"/>
              </a:lnSpc>
            </a:pPr>
            <a:endParaRPr lang="cs-CZ" sz="2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9842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CC097-7FBE-A19B-B4B5-D25E4BCFD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3AD812C-51DF-81D8-D856-848966436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Klíčové nálezy 1 - Paradox policejního rozpočtu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835102D-2973-54E9-C919-E82EEF307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2000" dirty="0">
                <a:latin typeface="Arial"/>
                <a:ea typeface="+mj-ea"/>
                <a:cs typeface="Arial"/>
              </a:rPr>
              <a:t>Zjištění: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korelace mezi rozpočtem per capita a mírou střeleb: r = 0,09 (téměř žádná,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města s </a:t>
            </a:r>
            <a:r>
              <a:rPr lang="cs-CZ" sz="1600" err="1">
                <a:latin typeface="Arial"/>
                <a:cs typeface="Arial"/>
              </a:rPr>
              <a:t>High_Budget</a:t>
            </a:r>
            <a:r>
              <a:rPr lang="cs-CZ" sz="1600" dirty="0">
                <a:latin typeface="Arial"/>
                <a:cs typeface="Arial"/>
              </a:rPr>
              <a:t> mají dokonce vyšší pravděpodobnost vysoké míry střeleb (69,4%),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4ft-Miner pravidlo: </a:t>
            </a:r>
            <a:r>
              <a:rPr lang="cs-CZ" sz="1600" err="1">
                <a:latin typeface="Arial"/>
                <a:cs typeface="Arial"/>
              </a:rPr>
              <a:t>budget_category</a:t>
            </a:r>
            <a:r>
              <a:rPr lang="cs-CZ" sz="1600" dirty="0">
                <a:latin typeface="Arial"/>
                <a:cs typeface="Arial"/>
              </a:rPr>
              <a:t>(</a:t>
            </a:r>
            <a:r>
              <a:rPr lang="cs-CZ" sz="1600" err="1">
                <a:latin typeface="Arial"/>
                <a:cs typeface="Arial"/>
              </a:rPr>
              <a:t>High_Budget</a:t>
            </a:r>
            <a:r>
              <a:rPr lang="cs-CZ" sz="1600" dirty="0">
                <a:latin typeface="Arial"/>
                <a:cs typeface="Arial"/>
              </a:rPr>
              <a:t>) =&gt; </a:t>
            </a:r>
            <a:r>
              <a:rPr lang="cs-CZ" sz="1600" err="1">
                <a:latin typeface="Arial"/>
                <a:cs typeface="Arial"/>
              </a:rPr>
              <a:t>shooting_rate_category</a:t>
            </a:r>
            <a:r>
              <a:rPr lang="cs-CZ" sz="1600" dirty="0">
                <a:latin typeface="Arial"/>
                <a:cs typeface="Arial"/>
              </a:rPr>
              <a:t>(</a:t>
            </a:r>
            <a:r>
              <a:rPr lang="cs-CZ" sz="1600" err="1">
                <a:latin typeface="Arial"/>
                <a:cs typeface="Arial"/>
              </a:rPr>
              <a:t>High_Rate</a:t>
            </a:r>
            <a:r>
              <a:rPr lang="cs-CZ" sz="1600" dirty="0">
                <a:latin typeface="Arial"/>
                <a:cs typeface="Arial"/>
              </a:rPr>
              <a:t>) s </a:t>
            </a:r>
            <a:r>
              <a:rPr lang="cs-CZ" sz="1600" err="1">
                <a:latin typeface="Arial"/>
                <a:cs typeface="Arial"/>
              </a:rPr>
              <a:t>confidence</a:t>
            </a:r>
            <a:r>
              <a:rPr lang="cs-CZ" sz="1600" dirty="0">
                <a:latin typeface="Arial"/>
                <a:cs typeface="Arial"/>
              </a:rPr>
              <a:t> 0,694 a AAD +0,412.</a:t>
            </a:r>
          </a:p>
          <a:p>
            <a:pPr marL="170815" indent="-170815"/>
            <a:r>
              <a:rPr lang="cs-CZ" sz="2000" dirty="0">
                <a:latin typeface="Arial"/>
                <a:cs typeface="Arial"/>
              </a:rPr>
              <a:t>Interpretace</a:t>
            </a:r>
            <a:r>
              <a:rPr lang="cs-CZ" sz="20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vyšší rozpočet neznamená méně střeleb,</a:t>
            </a:r>
            <a:endParaRPr lang="cs-CZ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malá města: 61,2% v kategorii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High_Rate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,</a:t>
            </a:r>
            <a:endParaRPr lang="cs-CZ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střední města: 63,5% v kategorii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High_Rate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,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velká města: 28,9% v kategorii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High_Rate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.</a:t>
            </a:r>
          </a:p>
          <a:p>
            <a:pPr marL="170815" indent="-170815"/>
            <a:r>
              <a:rPr lang="cs-CZ" sz="2000" dirty="0">
                <a:solidFill>
                  <a:srgbClr val="000000"/>
                </a:solidFill>
                <a:latin typeface="Arial"/>
                <a:cs typeface="Arial"/>
              </a:rPr>
              <a:t>Praktická aplikace:</a:t>
            </a:r>
            <a:endParaRPr lang="cs-CZ" sz="2000" b="1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/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přesměrovat debatu z "kolik peněz" na "jak efektivně peníze využít".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518142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0F44F-796E-9BAF-82F4-2ACEAE7A4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4444950-3AE1-DC0F-75C3-F5992A2B0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Klíčové nálezy 2 - Rasové disparity u neozbrojených obětí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E81DE58-5824-3DE3-5F27-C757ECCF2B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2000" dirty="0">
                <a:latin typeface="Arial"/>
                <a:ea typeface="+mj-ea"/>
                <a:cs typeface="Arial"/>
              </a:rPr>
              <a:t>Zjištění (SD4ft-Miner):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Black vs </a:t>
            </a:r>
            <a:r>
              <a:rPr lang="cs-CZ" sz="1600" err="1">
                <a:latin typeface="Arial"/>
                <a:cs typeface="Arial"/>
              </a:rPr>
              <a:t>White</a:t>
            </a:r>
            <a:r>
              <a:rPr lang="cs-CZ" sz="1600" dirty="0">
                <a:latin typeface="Arial"/>
                <a:cs typeface="Arial"/>
              </a:rPr>
              <a:t>: </a:t>
            </a:r>
            <a:r>
              <a:rPr lang="cs-CZ" sz="1600" err="1">
                <a:latin typeface="Arial"/>
                <a:cs typeface="Arial"/>
              </a:rPr>
              <a:t>RatioConf</a:t>
            </a:r>
            <a:r>
              <a:rPr lang="cs-CZ" sz="1600" dirty="0">
                <a:latin typeface="Arial"/>
                <a:cs typeface="Arial"/>
              </a:rPr>
              <a:t> = 1,310 (o 31% vyšší pravděpodobnost být neozbrojený),</a:t>
            </a:r>
            <a:endParaRPr lang="cs-CZ" sz="160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err="1">
                <a:latin typeface="Arial"/>
                <a:cs typeface="Arial"/>
              </a:rPr>
              <a:t>Hispanic</a:t>
            </a:r>
            <a:r>
              <a:rPr lang="cs-CZ" sz="1600" dirty="0">
                <a:latin typeface="Arial"/>
                <a:cs typeface="Arial"/>
              </a:rPr>
              <a:t> vs </a:t>
            </a:r>
            <a:r>
              <a:rPr lang="cs-CZ" sz="1600" err="1">
                <a:latin typeface="Arial"/>
                <a:cs typeface="Arial"/>
              </a:rPr>
              <a:t>White</a:t>
            </a:r>
            <a:r>
              <a:rPr lang="cs-CZ" sz="1600" dirty="0">
                <a:latin typeface="Arial"/>
                <a:cs typeface="Arial"/>
              </a:rPr>
              <a:t>: </a:t>
            </a:r>
            <a:r>
              <a:rPr lang="cs-CZ" sz="1600" err="1">
                <a:latin typeface="Arial"/>
                <a:cs typeface="Arial"/>
              </a:rPr>
              <a:t>RatioConf</a:t>
            </a:r>
            <a:r>
              <a:rPr lang="cs-CZ" sz="1600" dirty="0">
                <a:latin typeface="Arial"/>
                <a:cs typeface="Arial"/>
              </a:rPr>
              <a:t> = 1,418 (o 42% vyšší pravděpodobnost být neozbrojený),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err="1">
                <a:latin typeface="Arial"/>
                <a:cs typeface="Arial"/>
              </a:rPr>
              <a:t>Chi</a:t>
            </a:r>
            <a:r>
              <a:rPr lang="cs-CZ" sz="1600" dirty="0">
                <a:latin typeface="Arial"/>
                <a:cs typeface="Arial"/>
              </a:rPr>
              <a:t>-square test potvrzuje statisticky významný vztah (p &lt; 0,01).</a:t>
            </a:r>
            <a:endParaRPr lang="cs-CZ" sz="1600"/>
          </a:p>
          <a:p>
            <a:pPr marL="170815" indent="-170815"/>
            <a:r>
              <a:rPr lang="cs-CZ" sz="2000" dirty="0">
                <a:latin typeface="Arial"/>
                <a:cs typeface="Arial"/>
              </a:rPr>
              <a:t>Interpretace</a:t>
            </a:r>
            <a:r>
              <a:rPr lang="cs-CZ" sz="20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černošské oběti: 12,4% neozbrojených,</a:t>
            </a:r>
            <a:endParaRPr lang="cs-CZ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hispánské oběti: 13,5% neozbrojených,</a:t>
            </a:r>
            <a:endParaRPr lang="cs-CZ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bílé oběti: 9,5% neozbrojených,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existují měřitelné rozdíly v tom, jak různé rasové skupiny končí jako oběti střeleb.</a:t>
            </a:r>
          </a:p>
          <a:p>
            <a:pPr marL="170815" indent="-170815"/>
            <a:r>
              <a:rPr lang="cs-CZ" sz="2000" dirty="0">
                <a:solidFill>
                  <a:srgbClr val="000000"/>
                </a:solidFill>
                <a:latin typeface="Arial"/>
                <a:cs typeface="Arial"/>
              </a:rPr>
              <a:t>Praktická aplikace:</a:t>
            </a:r>
            <a:endParaRPr lang="cs-CZ" sz="2000" b="1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/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přezkoumat policejní procedury pro hodnocení hrozby</a:t>
            </a:r>
          </a:p>
          <a:p>
            <a:pPr marL="513715" lvl="1" indent="-170815"/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865210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31787-364E-DB35-1540-A5BDC4981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DB71D78-337F-A13C-1868-AD3B5CC54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Klíčové nálezy 3 - Věk, rasa a duševní onemocnění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90F58D0A-27FE-E413-1736-B5D934723F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2000" dirty="0">
                <a:latin typeface="Arial"/>
                <a:ea typeface="+mj-ea"/>
                <a:cs typeface="Arial"/>
              </a:rPr>
              <a:t>Zjištění (4ft-Miner):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err="1">
                <a:latin typeface="Arial"/>
                <a:cs typeface="Arial"/>
              </a:rPr>
              <a:t>race_category</a:t>
            </a:r>
            <a:r>
              <a:rPr lang="cs-CZ" sz="1600" dirty="0">
                <a:latin typeface="Arial"/>
                <a:cs typeface="Arial"/>
              </a:rPr>
              <a:t>(</a:t>
            </a:r>
            <a:r>
              <a:rPr lang="cs-CZ" sz="1600" err="1">
                <a:latin typeface="Arial"/>
                <a:cs typeface="Arial"/>
              </a:rPr>
              <a:t>White</a:t>
            </a:r>
            <a:r>
              <a:rPr lang="cs-CZ" sz="1600" dirty="0">
                <a:latin typeface="Arial"/>
                <a:cs typeface="Arial"/>
              </a:rPr>
              <a:t>) &amp; </a:t>
            </a:r>
            <a:r>
              <a:rPr lang="cs-CZ" sz="1600" err="1">
                <a:latin typeface="Arial"/>
                <a:cs typeface="Arial"/>
              </a:rPr>
              <a:t>age_group</a:t>
            </a:r>
            <a:r>
              <a:rPr lang="cs-CZ" sz="1600" dirty="0">
                <a:latin typeface="Arial"/>
                <a:cs typeface="Arial"/>
              </a:rPr>
              <a:t>(Senior) =&gt; </a:t>
            </a:r>
            <a:r>
              <a:rPr lang="cs-CZ" sz="1600" err="1">
                <a:latin typeface="Arial"/>
                <a:cs typeface="Arial"/>
              </a:rPr>
              <a:t>mental_illness_flag</a:t>
            </a:r>
            <a:r>
              <a:rPr lang="cs-CZ" sz="1600" dirty="0">
                <a:latin typeface="Arial"/>
                <a:cs typeface="Arial"/>
              </a:rPr>
              <a:t>(</a:t>
            </a:r>
            <a:r>
              <a:rPr lang="cs-CZ" sz="1600" err="1">
                <a:latin typeface="Arial"/>
                <a:cs typeface="Arial"/>
              </a:rPr>
              <a:t>Yes</a:t>
            </a:r>
            <a:r>
              <a:rPr lang="cs-CZ" sz="1600" dirty="0">
                <a:latin typeface="Arial"/>
                <a:cs typeface="Arial"/>
              </a:rPr>
              <a:t>)</a:t>
            </a:r>
            <a:endParaRPr lang="cs-CZ" sz="1600"/>
          </a:p>
          <a:p>
            <a:pPr marL="856615" lvl="2" indent="-457200">
              <a:buFont typeface="Wingdings" panose="020B0604020202020204" pitchFamily="34" charset="0"/>
              <a:buChar char="§"/>
            </a:pPr>
            <a:r>
              <a:rPr lang="cs-CZ" sz="1100" err="1">
                <a:latin typeface="Arial"/>
                <a:cs typeface="Arial"/>
              </a:rPr>
              <a:t>confidence</a:t>
            </a:r>
            <a:r>
              <a:rPr lang="cs-CZ" sz="1100" dirty="0">
                <a:latin typeface="Arial"/>
                <a:cs typeface="Arial"/>
              </a:rPr>
              <a:t>: 38,3%, AAD: +102,2% (více než 2x průměr),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err="1">
                <a:latin typeface="Arial"/>
                <a:cs typeface="Arial"/>
              </a:rPr>
              <a:t>chi</a:t>
            </a:r>
            <a:r>
              <a:rPr lang="cs-CZ" sz="1600" dirty="0">
                <a:latin typeface="Arial"/>
                <a:cs typeface="Arial"/>
              </a:rPr>
              <a:t>-square: Věk vs duševní onemocnění p = 0,0008 (vysoce signifikantní),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senioři celkově: 27,6% s duševním onemocněním vs 18,9% průměr.</a:t>
            </a:r>
            <a:endParaRPr lang="cs-CZ" sz="1600"/>
          </a:p>
          <a:p>
            <a:pPr marL="170815" indent="-170815"/>
            <a:r>
              <a:rPr lang="cs-CZ" sz="2000" dirty="0">
                <a:latin typeface="Arial"/>
                <a:cs typeface="Arial"/>
              </a:rPr>
              <a:t>Interpretace</a:t>
            </a:r>
            <a:r>
              <a:rPr lang="cs-CZ" sz="20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starší běloši s duševním onemocněním představují specifickou rizikovou skupinu,</a:t>
            </a:r>
            <a:endParaRPr lang="cs-CZ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duševní onemocnění je častější u starších obětí napříč všemi rasami,</a:t>
            </a:r>
            <a:endParaRPr lang="cs-CZ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kombinace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White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 + Senior má nejvyšší pravděpodobnost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mental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illness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.</a:t>
            </a:r>
          </a:p>
          <a:p>
            <a:pPr marL="170815" indent="-170815"/>
            <a:r>
              <a:rPr lang="cs-CZ" sz="2000" dirty="0">
                <a:solidFill>
                  <a:srgbClr val="000000"/>
                </a:solidFill>
                <a:latin typeface="Arial"/>
                <a:cs typeface="Arial"/>
              </a:rPr>
              <a:t>Praktická aplikace:</a:t>
            </a:r>
            <a:endParaRPr lang="cs-CZ" sz="2000" b="1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/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vytvořit specializované jednotky pro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mental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health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crisis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 (CIT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teams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),</a:t>
            </a:r>
          </a:p>
          <a:p>
            <a:pPr marL="513715" lvl="1" indent="-170815"/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prioritní zavedení v oblastech s vyšším podílem seniorské populace.</a:t>
            </a:r>
          </a:p>
          <a:p>
            <a:pPr marL="513715" lvl="1" indent="-170815"/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4459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FF981-ED7E-837C-6731-9545B21DC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C329213-1EFF-E97F-C85B-D58DBDC87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Klíčové nálezy 4 - Velikost města a relativní míra střeleb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00194A5-E198-A8F7-0375-E4812A9F0D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170815" indent="-170815"/>
            <a:r>
              <a:rPr lang="cs-CZ" sz="2000" dirty="0">
                <a:latin typeface="Arial"/>
                <a:ea typeface="+mj-ea"/>
                <a:cs typeface="Arial"/>
              </a:rPr>
              <a:t>Zjištění:</a:t>
            </a:r>
            <a:endParaRPr lang="cs-CZ" sz="2000">
              <a:ea typeface="+mj-ea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err="1">
                <a:latin typeface="Arial"/>
                <a:cs typeface="Arial"/>
              </a:rPr>
              <a:t>chi</a:t>
            </a:r>
            <a:r>
              <a:rPr lang="cs-CZ" sz="1600" dirty="0">
                <a:latin typeface="Arial"/>
                <a:cs typeface="Arial"/>
              </a:rPr>
              <a:t>-square: p &lt; 0,000001, </a:t>
            </a:r>
            <a:r>
              <a:rPr lang="cs-CZ" sz="1600" err="1">
                <a:latin typeface="Arial"/>
                <a:cs typeface="Arial"/>
              </a:rPr>
              <a:t>Cramer's</a:t>
            </a:r>
            <a:r>
              <a:rPr lang="cs-CZ" sz="1600" dirty="0">
                <a:latin typeface="Arial"/>
                <a:cs typeface="Arial"/>
              </a:rPr>
              <a:t> V = 0,2357,</a:t>
            </a:r>
            <a:endParaRPr lang="cs-CZ" sz="160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malá města: 61,2% v kategorii </a:t>
            </a:r>
            <a:r>
              <a:rPr lang="cs-CZ" sz="1600" err="1">
                <a:latin typeface="Arial"/>
                <a:cs typeface="Arial"/>
              </a:rPr>
              <a:t>High_Rate</a:t>
            </a:r>
            <a:r>
              <a:rPr lang="cs-CZ" sz="1600" dirty="0">
                <a:latin typeface="Arial"/>
                <a:cs typeface="Arial"/>
              </a:rPr>
              <a:t>,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střední města: 63,5% v kategorii </a:t>
            </a:r>
            <a:r>
              <a:rPr lang="cs-CZ" sz="1600" err="1">
                <a:latin typeface="Arial"/>
                <a:cs typeface="Arial"/>
              </a:rPr>
              <a:t>High_Rate</a:t>
            </a:r>
            <a:r>
              <a:rPr lang="cs-CZ" sz="1600" dirty="0">
                <a:latin typeface="Arial"/>
                <a:cs typeface="Arial"/>
              </a:rPr>
              <a:t>,</a:t>
            </a:r>
            <a:endParaRPr lang="cs-CZ" sz="160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1600" dirty="0">
                <a:latin typeface="Arial"/>
                <a:cs typeface="Arial"/>
              </a:rPr>
              <a:t>velká města: 28,9% v kategorii </a:t>
            </a:r>
            <a:r>
              <a:rPr lang="cs-CZ" sz="1600" err="1">
                <a:latin typeface="Arial"/>
                <a:cs typeface="Arial"/>
              </a:rPr>
              <a:t>High_Rate</a:t>
            </a:r>
            <a:r>
              <a:rPr lang="cs-CZ" sz="1600" dirty="0">
                <a:latin typeface="Arial"/>
                <a:cs typeface="Arial"/>
              </a:rPr>
              <a:t>.</a:t>
            </a:r>
          </a:p>
          <a:p>
            <a:pPr marL="170815" indent="-170815"/>
            <a:r>
              <a:rPr lang="cs-CZ" sz="2000" dirty="0">
                <a:latin typeface="Arial"/>
                <a:cs typeface="Arial"/>
              </a:rPr>
              <a:t>Interpretace</a:t>
            </a:r>
            <a:r>
              <a:rPr lang="cs-CZ" sz="2000" dirty="0">
                <a:solidFill>
                  <a:srgbClr val="000000"/>
                </a:solidFill>
                <a:latin typeface="Arial"/>
                <a:cs typeface="Arial"/>
              </a:rPr>
              <a:t>: 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menší města mají výrazně vyšší relativní míru střeleb (per 100k obyvatel),</a:t>
            </a:r>
            <a:endParaRPr lang="cs-CZ">
              <a:solidFill>
                <a:srgbClr val="000000"/>
              </a:solidFill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velká města mají více incidentů absolutně, ale lepší poměr k populaci.</a:t>
            </a:r>
            <a:endParaRPr lang="cs-CZ"/>
          </a:p>
          <a:p>
            <a:pPr marL="170815" indent="-170815"/>
            <a:r>
              <a:rPr lang="cs-CZ" sz="2000" dirty="0">
                <a:solidFill>
                  <a:srgbClr val="000000"/>
                </a:solidFill>
                <a:latin typeface="Arial"/>
                <a:cs typeface="Arial"/>
              </a:rPr>
              <a:t>Praktická aplikace:</a:t>
            </a:r>
            <a:endParaRPr lang="cs-CZ" sz="2000" b="1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/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cílit preventivní programy na malá a střední města,</a:t>
            </a:r>
          </a:p>
          <a:p>
            <a:pPr marL="513715" lvl="1" indent="-170815"/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sdílení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best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cs-CZ" err="1">
                <a:solidFill>
                  <a:srgbClr val="000000"/>
                </a:solidFill>
                <a:latin typeface="Arial"/>
                <a:cs typeface="Arial"/>
              </a:rPr>
              <a:t>practices</a:t>
            </a:r>
            <a:r>
              <a:rPr lang="cs-CZ" dirty="0">
                <a:solidFill>
                  <a:srgbClr val="000000"/>
                </a:solidFill>
                <a:latin typeface="Arial"/>
                <a:cs typeface="Arial"/>
              </a:rPr>
              <a:t> z velkých měst.</a:t>
            </a:r>
          </a:p>
          <a:p>
            <a:pPr marL="513715" lvl="1" indent="-170815"/>
            <a:endParaRPr lang="cs-CZ" sz="14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 sz="140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77958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dpis 5">
            <a:extLst>
              <a:ext uri="{FF2B5EF4-FFF2-40B4-BE49-F238E27FC236}">
                <a16:creationId xmlns:a16="http://schemas.microsoft.com/office/drawing/2014/main" id="{FB7216AC-D64E-46AC-BDC6-EF293D050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/>
              <a:t>Závěr 1/3 – Shrnutí výsledků</a:t>
            </a:r>
          </a:p>
        </p:txBody>
      </p:sp>
      <p:sp>
        <p:nvSpPr>
          <p:cNvPr id="7" name="Zástupný obsah 6">
            <a:extLst>
              <a:ext uri="{FF2B5EF4-FFF2-40B4-BE49-F238E27FC236}">
                <a16:creationId xmlns:a16="http://schemas.microsoft.com/office/drawing/2014/main" id="{CA25D872-FF83-4EB5-88DF-5211304DB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170815" indent="-170815"/>
            <a:r>
              <a:rPr lang="cs-CZ" sz="2400" dirty="0">
                <a:latin typeface="Arial"/>
                <a:cs typeface="Arial"/>
              </a:rPr>
              <a:t>Všechny klíčové požadavky implementovány.</a:t>
            </a:r>
            <a:endParaRPr lang="cs-CZ" dirty="0"/>
          </a:p>
          <a:p>
            <a:pPr marL="342900" lvl="1" indent="0">
              <a:lnSpc>
                <a:spcPct val="120000"/>
              </a:lnSpc>
              <a:buNone/>
            </a:pPr>
            <a:endParaRPr lang="cs-CZ" sz="2000" dirty="0">
              <a:latin typeface="Arial"/>
              <a:cs typeface="Arial"/>
            </a:endParaRPr>
          </a:p>
          <a:p>
            <a:pPr marL="170815" indent="-170815"/>
            <a:r>
              <a:rPr lang="cs-CZ" sz="2400" dirty="0">
                <a:latin typeface="Arial"/>
                <a:cs typeface="Arial"/>
              </a:rPr>
              <a:t>Cíl práce byl naplněn.</a:t>
            </a:r>
            <a:endParaRPr lang="en-US" sz="2400" dirty="0"/>
          </a:p>
          <a:p>
            <a:pPr marL="285750" indent="-285750">
              <a:lnSpc>
                <a:spcPct val="120000"/>
              </a:lnSpc>
              <a:buFont typeface="Courier New" panose="02070309020205020404" pitchFamily="49" charset="0"/>
              <a:buChar char="o"/>
            </a:pPr>
            <a:endParaRPr lang="cs-CZ" sz="2600" b="1"/>
          </a:p>
        </p:txBody>
      </p:sp>
    </p:spTree>
    <p:extLst>
      <p:ext uri="{BB962C8B-B14F-4D97-AF65-F5344CB8AC3E}">
        <p14:creationId xmlns:p14="http://schemas.microsoft.com/office/powerpoint/2010/main" val="1986417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dpis 5">
            <a:extLst>
              <a:ext uri="{FF2B5EF4-FFF2-40B4-BE49-F238E27FC236}">
                <a16:creationId xmlns:a16="http://schemas.microsoft.com/office/drawing/2014/main" id="{FB7216AC-D64E-46AC-BDC6-EF293D050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cs-CZ" dirty="0">
                <a:latin typeface="Arial"/>
                <a:cs typeface="Arial"/>
              </a:rPr>
              <a:t>Závěr 2/3 – Hodnocení dosažených výsledků a identifikace neúspěchů</a:t>
            </a:r>
            <a:endParaRPr lang="cs-CZ" dirty="0"/>
          </a:p>
        </p:txBody>
      </p:sp>
      <p:sp>
        <p:nvSpPr>
          <p:cNvPr id="7" name="Zástupný obsah 6">
            <a:extLst>
              <a:ext uri="{FF2B5EF4-FFF2-40B4-BE49-F238E27FC236}">
                <a16:creationId xmlns:a16="http://schemas.microsoft.com/office/drawing/2014/main" id="{CA25D872-FF83-4EB5-88DF-5211304DB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170815" indent="-170815"/>
            <a:r>
              <a:rPr lang="cs-CZ" sz="2400" dirty="0">
                <a:latin typeface="Arial"/>
                <a:cs typeface="Arial"/>
              </a:rPr>
              <a:t>Funkční ETL </a:t>
            </a:r>
            <a:r>
              <a:rPr lang="cs-CZ" sz="2400" dirty="0" err="1">
                <a:latin typeface="Arial"/>
                <a:cs typeface="Arial"/>
              </a:rPr>
              <a:t>pipeline</a:t>
            </a:r>
            <a:r>
              <a:rPr lang="cs-CZ" sz="2400" dirty="0">
                <a:latin typeface="Arial"/>
                <a:cs typeface="Arial"/>
              </a:rPr>
              <a:t> v </a:t>
            </a:r>
            <a:r>
              <a:rPr lang="cs-CZ" sz="2400" dirty="0" err="1">
                <a:latin typeface="Arial"/>
                <a:cs typeface="Arial"/>
              </a:rPr>
              <a:t>BigQuery</a:t>
            </a:r>
            <a:r>
              <a:rPr lang="cs-CZ" sz="2400" dirty="0">
                <a:latin typeface="Arial"/>
                <a:cs typeface="Arial"/>
              </a:rPr>
              <a:t> (9 SQL transformací),</a:t>
            </a:r>
            <a:endParaRPr lang="cs-CZ" dirty="0"/>
          </a:p>
          <a:p>
            <a:pPr marL="170815" indent="-170815"/>
            <a:r>
              <a:rPr lang="cs-CZ" sz="2400" dirty="0">
                <a:latin typeface="Arial"/>
                <a:cs typeface="Arial"/>
              </a:rPr>
              <a:t>odhalení paradoxu policejního rozpočtu (r = 0,09),</a:t>
            </a:r>
            <a:endParaRPr lang="cs-CZ" sz="2400" dirty="0"/>
          </a:p>
          <a:p>
            <a:pPr marL="170815" indent="-170815"/>
            <a:r>
              <a:rPr lang="cs-CZ" sz="2400" dirty="0">
                <a:latin typeface="Arial"/>
                <a:cs typeface="Arial"/>
              </a:rPr>
              <a:t>identifikace rizikových skupin (senioři, rasové disparity).</a:t>
            </a:r>
            <a:endParaRPr lang="cs-CZ" dirty="0"/>
          </a:p>
          <a:p>
            <a:pPr marL="170815" indent="-170815"/>
            <a:endParaRPr lang="cs-CZ" sz="2400"/>
          </a:p>
          <a:p>
            <a:pPr marL="170815" indent="-170815"/>
            <a:r>
              <a:rPr lang="cs-CZ" sz="2400" dirty="0">
                <a:latin typeface="Arial"/>
                <a:cs typeface="Arial"/>
              </a:rPr>
              <a:t>Limity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100" dirty="0">
                <a:latin typeface="Arial"/>
                <a:cs typeface="Arial"/>
              </a:rPr>
              <a:t>propojeno pouze 174 ze 218 měst (79,8% </a:t>
            </a:r>
            <a:r>
              <a:rPr lang="cs-CZ" sz="2100" dirty="0" err="1">
                <a:latin typeface="Arial"/>
                <a:cs typeface="Arial"/>
              </a:rPr>
              <a:t>coverage</a:t>
            </a:r>
            <a:r>
              <a:rPr lang="cs-CZ" sz="2100" dirty="0">
                <a:latin typeface="Arial"/>
                <a:cs typeface="Arial"/>
              </a:rPr>
              <a:t>),</a:t>
            </a:r>
            <a:endParaRPr lang="cs-CZ" sz="2100" dirty="0"/>
          </a:p>
          <a:p>
            <a:pPr marL="513715" lvl="1" indent="-170815">
              <a:buFont typeface="Courier New" panose="020B0604020202020204" pitchFamily="34" charset="0"/>
              <a:buChar char="o"/>
            </a:pPr>
            <a:r>
              <a:rPr lang="cs-CZ" sz="2100" dirty="0">
                <a:latin typeface="Arial"/>
                <a:cs typeface="Arial"/>
              </a:rPr>
              <a:t>chybějící data o socioekonomických faktorech (chudoba, nezaměstnanost).</a:t>
            </a:r>
          </a:p>
          <a:p>
            <a:pPr marL="513715" lvl="1" indent="-170815">
              <a:buFont typeface="Courier New" panose="020B0604020202020204" pitchFamily="34" charset="0"/>
              <a:buChar char="o"/>
            </a:pPr>
            <a:endParaRPr lang="cs-CZ"/>
          </a:p>
          <a:p>
            <a:pPr marL="170815" indent="-170815"/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302609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dpis 5">
            <a:extLst>
              <a:ext uri="{FF2B5EF4-FFF2-40B4-BE49-F238E27FC236}">
                <a16:creationId xmlns:a16="http://schemas.microsoft.com/office/drawing/2014/main" id="{FB7216AC-D64E-46AC-BDC6-EF293D050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/>
              <a:t>Závěr 3/3 - Návrhy pro pokračování výzkumu</a:t>
            </a:r>
          </a:p>
        </p:txBody>
      </p:sp>
      <p:sp>
        <p:nvSpPr>
          <p:cNvPr id="7" name="Zástupný obsah 6">
            <a:extLst>
              <a:ext uri="{FF2B5EF4-FFF2-40B4-BE49-F238E27FC236}">
                <a16:creationId xmlns:a16="http://schemas.microsoft.com/office/drawing/2014/main" id="{CA25D872-FF83-4EB5-88DF-5211304DB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2126030"/>
            <a:ext cx="7779544" cy="429139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170815" indent="-170815"/>
            <a:r>
              <a:rPr lang="cs-CZ" sz="2400" dirty="0">
                <a:latin typeface="Arial"/>
                <a:cs typeface="Arial"/>
              </a:rPr>
              <a:t>Integrace socioekonomických dat (příjem, nezaměstnanost, kriminalita),</a:t>
            </a:r>
            <a:endParaRPr lang="cs-CZ" sz="2100" dirty="0"/>
          </a:p>
          <a:p>
            <a:pPr marL="170815" indent="-170815"/>
            <a:endParaRPr lang="cs-CZ" sz="2400">
              <a:latin typeface="Arial"/>
              <a:cs typeface="Arial"/>
            </a:endParaRPr>
          </a:p>
          <a:p>
            <a:pPr marL="170815" indent="-170815"/>
            <a:r>
              <a:rPr lang="cs-CZ" sz="2400" dirty="0">
                <a:latin typeface="Arial"/>
                <a:cs typeface="Arial"/>
              </a:rPr>
              <a:t>trendy vývoje střeleb v čase (2015-2024).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2326032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text 3">
            <a:extLst>
              <a:ext uri="{FF2B5EF4-FFF2-40B4-BE49-F238E27FC236}">
                <a16:creationId xmlns:a16="http://schemas.microsoft.com/office/drawing/2014/main" id="{0189036C-68F1-2208-6922-3C37B8772AB4}"/>
              </a:ext>
            </a:extLst>
          </p:cNvPr>
          <p:cNvSpPr>
            <a:spLocks noGrp="1"/>
          </p:cNvSpPr>
          <p:nvPr>
            <p:ph type="body" idx="15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cs-CZ">
                <a:latin typeface="Arial"/>
                <a:cs typeface="Arial"/>
              </a:rPr>
              <a:t>Bc. Josef Gajda</a:t>
            </a:r>
            <a:endParaRPr lang="cs-CZ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0AE53F0-E10B-2153-CF02-4D8F6223EB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>
                <a:latin typeface="Arial"/>
                <a:cs typeface="Arial"/>
              </a:rPr>
              <a:t>Otázky oponentury</a:t>
            </a:r>
            <a:endParaRPr lang="cs-CZ" dirty="0"/>
          </a:p>
        </p:txBody>
      </p:sp>
      <p:sp>
        <p:nvSpPr>
          <p:cNvPr id="6" name="Zástupný text 5">
            <a:extLst>
              <a:ext uri="{FF2B5EF4-FFF2-40B4-BE49-F238E27FC236}">
                <a16:creationId xmlns:a16="http://schemas.microsoft.com/office/drawing/2014/main" id="{BB32C666-AF5C-6331-95FF-031498091A4B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cs-CZ"/>
              <a:t>Program studia: Informační management</a:t>
            </a:r>
          </a:p>
        </p:txBody>
      </p:sp>
    </p:spTree>
    <p:extLst>
      <p:ext uri="{BB962C8B-B14F-4D97-AF65-F5344CB8AC3E}">
        <p14:creationId xmlns:p14="http://schemas.microsoft.com/office/powerpoint/2010/main" val="39391200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Úvodní snímek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S_CZ_4_3.potx" id="{83264117-D02B-4AB3-9535-F55BD4626F0A}" vid="{EFCF83D5-7C28-494A-9D09-A3FDE4EA5435}"/>
    </a:ext>
  </a:extLst>
</a:theme>
</file>

<file path=ppt/theme/theme2.xml><?xml version="1.0" encoding="utf-8"?>
<a:theme xmlns:a="http://schemas.openxmlformats.org/drawingml/2006/main" name="Mezititulek / Závěr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S_CZ_4_3.potx" id="{83264117-D02B-4AB3-9535-F55BD4626F0A}" vid="{0719A898-E866-4DE1-A0C7-6673E2DE6ACC}"/>
    </a:ext>
  </a:extLst>
</a:theme>
</file>

<file path=ppt/theme/theme3.xml><?xml version="1.0" encoding="utf-8"?>
<a:theme xmlns:a="http://schemas.openxmlformats.org/drawingml/2006/main" name="Běžné stránky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S_CZ_4_3.potx" id="{83264117-D02B-4AB3-9535-F55BD4626F0A}" vid="{5F4265E7-B574-4FDE-A297-F52502856981}"/>
    </a:ext>
  </a:extLst>
</a:theme>
</file>

<file path=ppt/theme/theme4.xml><?xml version="1.0" encoding="utf-8"?>
<a:theme xmlns:a="http://schemas.openxmlformats.org/drawingml/2006/main" name="Mezititulek / Závěr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S_CZ_4_3.potx" id="{83264117-D02B-4AB3-9535-F55BD4626F0A}" vid="{0719A898-E866-4DE1-A0C7-6673E2DE6ACC}"/>
    </a:ext>
  </a:extLst>
</a:theme>
</file>

<file path=ppt/theme/theme5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5EAD61CDED85140BF5B934B48DD3484" ma:contentTypeVersion="15" ma:contentTypeDescription="Vytvoří nový dokument" ma:contentTypeScope="" ma:versionID="57c7acc678d4da0b8ba39acd8e916ed2">
  <xsd:schema xmlns:xsd="http://www.w3.org/2001/XMLSchema" xmlns:xs="http://www.w3.org/2001/XMLSchema" xmlns:p="http://schemas.microsoft.com/office/2006/metadata/properties" xmlns:ns2="7fe71cfb-81ed-4b9d-9a1f-cae1a72b62ba" xmlns:ns3="184be059-f9c1-47a1-baeb-6b78fb5c2cd7" targetNamespace="http://schemas.microsoft.com/office/2006/metadata/properties" ma:root="true" ma:fieldsID="00b82b4a7cf6d93894e416bb4502bf8f" ns2:_="" ns3:_="">
    <xsd:import namespace="7fe71cfb-81ed-4b9d-9a1f-cae1a72b62ba"/>
    <xsd:import namespace="184be059-f9c1-47a1-baeb-6b78fb5c2cd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fe71cfb-81ed-4b9d-9a1f-cae1a72b62b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Značky obrázků" ma:readOnly="false" ma:fieldId="{5cf76f15-5ced-4ddc-b409-7134ff3c332f}" ma:taxonomyMulti="true" ma:sspId="babb5542-b20f-476f-b885-dfe2db7716b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4be059-f9c1-47a1-baeb-6b78fb5c2cd7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dílí se s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dílené s podrobnostmi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5e9b24e3-0751-412a-b275-2d618e008197}" ma:internalName="TaxCatchAll" ma:showField="CatchAllData" ma:web="184be059-f9c1-47a1-baeb-6b78fb5c2cd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fe71cfb-81ed-4b9d-9a1f-cae1a72b62ba">
      <Terms xmlns="http://schemas.microsoft.com/office/infopath/2007/PartnerControls"/>
    </lcf76f155ced4ddcb4097134ff3c332f>
    <TaxCatchAll xmlns="184be059-f9c1-47a1-baeb-6b78fb5c2cd7" xsi:nil="true"/>
  </documentManagement>
</p:properties>
</file>

<file path=customXml/itemProps1.xml><?xml version="1.0" encoding="utf-8"?>
<ds:datastoreItem xmlns:ds="http://schemas.openxmlformats.org/officeDocument/2006/customXml" ds:itemID="{F8CD9D9D-7B9F-4443-A564-98662DD489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fe71cfb-81ed-4b9d-9a1f-cae1a72b62ba"/>
    <ds:schemaRef ds:uri="184be059-f9c1-47a1-baeb-6b78fb5c2cd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32259C9-B307-4FF4-B7D2-DAD5D3FFF00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0DE5107-EA5C-49BC-849B-82F30D30C53B}">
  <ds:schemaRefs>
    <ds:schemaRef ds:uri="http://purl.org/dc/terms/"/>
    <ds:schemaRef ds:uri="184be059-f9c1-47a1-baeb-6b78fb5c2cd7"/>
    <ds:schemaRef ds:uri="http://schemas.microsoft.com/office/2006/documentManagement/types"/>
    <ds:schemaRef ds:uri="http://purl.org/dc/elements/1.1/"/>
    <ds:schemaRef ds:uri="7fe71cfb-81ed-4b9d-9a1f-cae1a72b62ba"/>
    <ds:schemaRef ds:uri="http://schemas.openxmlformats.org/package/2006/metadata/core-properties"/>
    <ds:schemaRef ds:uri="http://schemas.microsoft.com/office/infopath/2007/PartnerControls"/>
    <ds:schemaRef ds:uri="http://www.w3.org/XML/1998/namespace"/>
    <ds:schemaRef ds:uri="http://purl.org/dc/dcmitype/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AI a IMES_obhajoba_new</Template>
  <TotalTime>799</TotalTime>
  <Words>984</Words>
  <Application>Microsoft Office PowerPoint</Application>
  <PresentationFormat>Předvádění na obrazovce (4:3)</PresentationFormat>
  <Paragraphs>130</Paragraphs>
  <Slides>17</Slides>
  <Notes>16</Notes>
  <HiddenSlides>0</HiddenSlides>
  <MMClips>0</MMClips>
  <ScaleCrop>false</ScaleCrop>
  <HeadingPairs>
    <vt:vector size="4" baseType="variant">
      <vt:variant>
        <vt:lpstr>Motiv</vt:lpstr>
      </vt:variant>
      <vt:variant>
        <vt:i4>4</vt:i4>
      </vt:variant>
      <vt:variant>
        <vt:lpstr>Nadpisy snímků</vt:lpstr>
      </vt:variant>
      <vt:variant>
        <vt:i4>17</vt:i4>
      </vt:variant>
    </vt:vector>
  </HeadingPairs>
  <TitlesOfParts>
    <vt:vector size="21" baseType="lpstr">
      <vt:lpstr>Úvodní snímek</vt:lpstr>
      <vt:lpstr>Mezititulek / Závěr</vt:lpstr>
      <vt:lpstr>Běžné stránky</vt:lpstr>
      <vt:lpstr>Mezititulek / Závěr</vt:lpstr>
      <vt:lpstr>Analýza vztahu mezi policejními rozpočty a mírou policejních střeleb v USA</vt:lpstr>
      <vt:lpstr>Popis řešené oblasti</vt:lpstr>
      <vt:lpstr>Cíle analýzy</vt:lpstr>
      <vt:lpstr>Způsob řešení otázek pro data science - 1/2 </vt:lpstr>
      <vt:lpstr>Způsob řešení otázek pro data science - 2/2 </vt:lpstr>
      <vt:lpstr>Prezentace aplikace PowerPoint</vt:lpstr>
      <vt:lpstr>Ukázka výsledků z 4ftMiner</vt:lpstr>
      <vt:lpstr>Závěry BI analýzy - 1/2 </vt:lpstr>
      <vt:lpstr>Závěry BI analýzy - 2/2 </vt:lpstr>
      <vt:lpstr>Klíčové nálezy 1 - Paradox policejního rozpočtu</vt:lpstr>
      <vt:lpstr>Klíčové nálezy 2 - Rasové disparity u neozbrojených obětí</vt:lpstr>
      <vt:lpstr>Klíčové nálezy 3 - Věk, rasa a duševní onemocnění</vt:lpstr>
      <vt:lpstr>Klíčové nálezy 4 - Velikost města a relativní míra střeleb</vt:lpstr>
      <vt:lpstr>Závěr 1/3 – Shrnutí výsledků</vt:lpstr>
      <vt:lpstr>Závěr 2/3 – Hodnocení dosažených výsledků a identifikace neúspěchů</vt:lpstr>
      <vt:lpstr>Závěr 3/3 - Návrhy pro pokračování výzkumu</vt:lpstr>
      <vt:lpstr>Otázky oponentury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Lorem ipsum dolor sit amet, consectetuer adipiscing elit. Etiam commodo dui eget wisi.</dc:title>
  <dc:creator>Martina Jandová</dc:creator>
  <cp:lastModifiedBy>Josef Gajda</cp:lastModifiedBy>
  <cp:revision>2212</cp:revision>
  <dcterms:created xsi:type="dcterms:W3CDTF">2021-03-30T17:50:31Z</dcterms:created>
  <dcterms:modified xsi:type="dcterms:W3CDTF">2026-01-28T22:59:21Z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0x010100A5EAD61CDED85140BF5B934B48DD3484</vt:lpwstr>
  </property>
</Properties>
</file>