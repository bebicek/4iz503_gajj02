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slideLayouts/slideLayout15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  <p:sldMasterId id="2147483676" r:id="rId5"/>
    <p:sldMasterId id="2147483662" r:id="rId6"/>
    <p:sldMasterId id="2147483679" r:id="rId7"/>
  </p:sldMasterIdLst>
  <p:notesMasterIdLst>
    <p:notesMasterId r:id="rId25"/>
  </p:notesMasterIdLst>
  <p:sldIdLst>
    <p:sldId id="263" r:id="rId8"/>
    <p:sldId id="284" r:id="rId9"/>
    <p:sldId id="279" r:id="rId10"/>
    <p:sldId id="277" r:id="rId11"/>
    <p:sldId id="353" r:id="rId12"/>
    <p:sldId id="354" r:id="rId13"/>
    <p:sldId id="355" r:id="rId14"/>
    <p:sldId id="320" r:id="rId15"/>
    <p:sldId id="321" r:id="rId16"/>
    <p:sldId id="347" r:id="rId17"/>
    <p:sldId id="349" r:id="rId18"/>
    <p:sldId id="350" r:id="rId19"/>
    <p:sldId id="351" r:id="rId20"/>
    <p:sldId id="269" r:id="rId21"/>
    <p:sldId id="291" r:id="rId22"/>
    <p:sldId id="289" r:id="rId23"/>
    <p:sldId id="270" r:id="rId24"/>
  </p:sldIdLst>
  <p:sldSz cx="9144000" cy="6858000" type="screen4x3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E9F6E1-0CCD-A329-5A98-6923FCA298F6}" name="Josef Gajda" initials="JG" userId="S::gajj02@vse.cz::62354765-72cf-499b-b531-3c23b95cf57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881"/>
    <a:srgbClr val="B5EAE0"/>
    <a:srgbClr val="89F7E2"/>
    <a:srgbClr val="9AE8F4"/>
    <a:srgbClr val="00659B"/>
    <a:srgbClr val="BDE7FF"/>
    <a:srgbClr val="EB6608"/>
    <a:srgbClr val="FDE2CF"/>
    <a:srgbClr val="D6C2D6"/>
    <a:srgbClr val="F0C2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338BA5-25AC-E1C4-6904-1BB904D460FA}" v="5" dt="2026-01-29T12:14:11.323"/>
    <p1510:client id="{6BE29EE4-5BE5-7234-FEE2-20FCDDD880B6}" v="414" dt="2026-01-28T22:59:20.2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–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Světlý styl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03447BB-5D67-496B-8E87-E561075AD55C}" styleName="Tmavý styl 1 – zvýraznění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Střední styl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Tmavý styl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E9639D4-E3E2-4D34-9284-5A2195B3D0D7}" styleName="Světlý styl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Střední styl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Střední styl 3 – zvýraznění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větlý styl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58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13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List_Microsoft_Excelu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cs-CZ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>
        <c:manualLayout>
          <c:xMode val="edge"/>
          <c:yMode val="edge"/>
          <c:x val="6.7578487579540367E-2"/>
          <c:y val="3.065718843246516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List1!$B$1</c:f>
              <c:strCache>
                <c:ptCount val="1"/>
                <c:pt idx="0">
                  <c:v>Řada 1</c:v>
                </c:pt>
              </c:strCache>
            </c:strRef>
          </c:tx>
          <c:spPr>
            <a:solidFill>
              <a:srgbClr val="009EE2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38-46D1-B2F1-B76DBFE9E6A2}"/>
            </c:ext>
          </c:extLst>
        </c:ser>
        <c:ser>
          <c:idx val="1"/>
          <c:order val="1"/>
          <c:tx>
            <c:strRef>
              <c:f>List1!$C$1</c:f>
              <c:strCache>
                <c:ptCount val="1"/>
                <c:pt idx="0">
                  <c:v>Řada 2</c:v>
                </c:pt>
              </c:strCache>
            </c:strRef>
          </c:tx>
          <c:spPr>
            <a:solidFill>
              <a:srgbClr val="B10062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38-46D1-B2F1-B76DBFE9E6A2}"/>
            </c:ext>
          </c:extLst>
        </c:ser>
        <c:ser>
          <c:idx val="2"/>
          <c:order val="2"/>
          <c:tx>
            <c:strRef>
              <c:f>List1!$D$1</c:f>
              <c:strCache>
                <c:ptCount val="1"/>
                <c:pt idx="0">
                  <c:v>Řada 3</c:v>
                </c:pt>
              </c:strCache>
            </c:strRef>
          </c:tx>
          <c:spPr>
            <a:solidFill>
              <a:srgbClr val="EB660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38-46D1-B2F1-B76DBFE9E6A2}"/>
            </c:ext>
          </c:extLst>
        </c:ser>
        <c:ser>
          <c:idx val="3"/>
          <c:order val="3"/>
          <c:tx>
            <c:strRef>
              <c:f>List1!$E$1</c:f>
              <c:strCache>
                <c:ptCount val="1"/>
                <c:pt idx="0">
                  <c:v>Řada 4</c:v>
                </c:pt>
              </c:strCache>
            </c:strRef>
          </c:tx>
          <c:spPr>
            <a:solidFill>
              <a:srgbClr val="00659B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List1!$E$2:$E$5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A67-4343-BFC8-39C31FD3D7F6}"/>
            </c:ext>
          </c:extLst>
        </c:ser>
        <c:ser>
          <c:idx val="4"/>
          <c:order val="4"/>
          <c:tx>
            <c:strRef>
              <c:f>List1!$F$1</c:f>
              <c:strCache>
                <c:ptCount val="1"/>
                <c:pt idx="0">
                  <c:v>Řada 5</c:v>
                </c:pt>
              </c:strCache>
            </c:strRef>
          </c:tx>
          <c:spPr>
            <a:solidFill>
              <a:srgbClr val="00988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List1!$F$2:$F$5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A67-4343-BFC8-39C31FD3D7F6}"/>
            </c:ext>
          </c:extLst>
        </c:ser>
        <c:ser>
          <c:idx val="5"/>
          <c:order val="5"/>
          <c:tx>
            <c:strRef>
              <c:f>List1!$G$1</c:f>
              <c:strCache>
                <c:ptCount val="1"/>
                <c:pt idx="0">
                  <c:v>Řada 6</c:v>
                </c:pt>
              </c:strCache>
            </c:strRef>
          </c:tx>
          <c:spPr>
            <a:solidFill>
              <a:srgbClr val="5BC4F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List1!$G$2:$G$5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A67-4343-BFC8-39C31FD3D7F6}"/>
            </c:ext>
          </c:extLst>
        </c:ser>
        <c:ser>
          <c:idx val="6"/>
          <c:order val="6"/>
          <c:tx>
            <c:strRef>
              <c:f>List1!$H$1</c:f>
              <c:strCache>
                <c:ptCount val="1"/>
                <c:pt idx="0">
                  <c:v>Řada 13</c:v>
                </c:pt>
              </c:strCache>
            </c:strRef>
          </c:tx>
          <c:spPr>
            <a:solidFill>
              <a:srgbClr val="E7308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List1!$H$2:$H$5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A67-4343-BFC8-39C31FD3D7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36283247"/>
        <c:axId val="336943279"/>
      </c:barChart>
      <c:catAx>
        <c:axId val="3362832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943279"/>
        <c:crosses val="autoZero"/>
        <c:auto val="1"/>
        <c:lblAlgn val="ctr"/>
        <c:lblOffset val="100"/>
        <c:noMultiLvlLbl val="0"/>
      </c:catAx>
      <c:valAx>
        <c:axId val="3369432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2832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cs-CZ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CF4301-3CC6-4983-B462-8AF48983D35B}" type="datetimeFigureOut">
              <a:t>29.01.2026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D7887F-6850-4035-AC54-18CAEC2670FC}" type="slidenum"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32471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Cílem</a:t>
            </a:r>
            <a:r>
              <a:rPr lang="en-US" dirty="0"/>
              <a:t> </a:t>
            </a:r>
            <a:r>
              <a:rPr lang="en-US" dirty="0" err="1"/>
              <a:t>projektu</a:t>
            </a:r>
            <a:r>
              <a:rPr lang="en-US" dirty="0"/>
              <a:t> </a:t>
            </a:r>
            <a:r>
              <a:rPr lang="en-US" dirty="0" err="1"/>
              <a:t>bylo</a:t>
            </a:r>
            <a:r>
              <a:rPr lang="en-US" dirty="0"/>
              <a:t> </a:t>
            </a:r>
            <a:r>
              <a:rPr lang="en-US" dirty="0" err="1"/>
              <a:t>analyzovat</a:t>
            </a:r>
            <a:r>
              <a:rPr lang="en-US" dirty="0"/>
              <a:t> </a:t>
            </a:r>
            <a:r>
              <a:rPr lang="en-US" dirty="0" err="1"/>
              <a:t>faktory</a:t>
            </a:r>
            <a:r>
              <a:rPr lang="en-US" dirty="0"/>
              <a:t> </a:t>
            </a:r>
            <a:r>
              <a:rPr lang="en-US" dirty="0" err="1"/>
              <a:t>ovlivňující</a:t>
            </a:r>
            <a:r>
              <a:rPr lang="en-US" dirty="0"/>
              <a:t> </a:t>
            </a:r>
            <a:r>
              <a:rPr lang="en-US" dirty="0" err="1"/>
              <a:t>četnost</a:t>
            </a:r>
            <a:r>
              <a:rPr lang="en-US" dirty="0"/>
              <a:t> a </a:t>
            </a:r>
            <a:r>
              <a:rPr lang="en-US" dirty="0" err="1"/>
              <a:t>geografické</a:t>
            </a:r>
            <a:r>
              <a:rPr lang="en-US" dirty="0"/>
              <a:t> </a:t>
            </a:r>
            <a:r>
              <a:rPr lang="en-US" dirty="0" err="1"/>
              <a:t>rozložení</a:t>
            </a:r>
            <a:r>
              <a:rPr lang="en-US" dirty="0"/>
              <a:t> </a:t>
            </a:r>
            <a:r>
              <a:rPr lang="en-US" dirty="0" err="1"/>
              <a:t>policejních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v USA. </a:t>
            </a:r>
            <a:r>
              <a:rPr lang="en-US" dirty="0" err="1"/>
              <a:t>Klíčovou</a:t>
            </a:r>
            <a:r>
              <a:rPr lang="en-US" dirty="0"/>
              <a:t> </a:t>
            </a:r>
            <a:r>
              <a:rPr lang="en-US" dirty="0" err="1"/>
              <a:t>otázkou</a:t>
            </a:r>
            <a:r>
              <a:rPr lang="en-US" dirty="0"/>
              <a:t> </a:t>
            </a:r>
            <a:r>
              <a:rPr lang="en-US" dirty="0" err="1"/>
              <a:t>bylo</a:t>
            </a:r>
            <a:r>
              <a:rPr lang="en-US" dirty="0"/>
              <a:t>, </a:t>
            </a:r>
            <a:r>
              <a:rPr lang="en-US" dirty="0" err="1"/>
              <a:t>zda</a:t>
            </a:r>
            <a:r>
              <a:rPr lang="en-US" dirty="0"/>
              <a:t> </a:t>
            </a:r>
            <a:r>
              <a:rPr lang="en-US" dirty="0" err="1"/>
              <a:t>existuje</a:t>
            </a:r>
            <a:r>
              <a:rPr lang="en-US" dirty="0"/>
              <a:t> </a:t>
            </a:r>
            <a:r>
              <a:rPr lang="en-US" dirty="0" err="1"/>
              <a:t>souvislost</a:t>
            </a:r>
            <a:r>
              <a:rPr lang="en-US" dirty="0"/>
              <a:t>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výší</a:t>
            </a:r>
            <a:r>
              <a:rPr lang="en-US" dirty="0"/>
              <a:t> </a:t>
            </a:r>
            <a:r>
              <a:rPr lang="en-US" dirty="0" err="1"/>
              <a:t>rozpočtů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policii</a:t>
            </a:r>
            <a:r>
              <a:rPr lang="en-US" dirty="0"/>
              <a:t> a </a:t>
            </a:r>
            <a:r>
              <a:rPr lang="en-US" dirty="0" err="1"/>
              <a:t>počtem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- </a:t>
            </a:r>
            <a:r>
              <a:rPr lang="en-US" dirty="0" err="1"/>
              <a:t>intuitivně</a:t>
            </a:r>
            <a:r>
              <a:rPr lang="en-US" dirty="0"/>
              <a:t> </a:t>
            </a:r>
            <a:r>
              <a:rPr lang="en-US" dirty="0" err="1"/>
              <a:t>bychom</a:t>
            </a:r>
            <a:r>
              <a:rPr lang="en-US" dirty="0"/>
              <a:t> </a:t>
            </a:r>
            <a:r>
              <a:rPr lang="en-US" dirty="0" err="1"/>
              <a:t>očekávali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vyšší</a:t>
            </a:r>
            <a:r>
              <a:rPr lang="en-US" dirty="0"/>
              <a:t> </a:t>
            </a:r>
            <a:r>
              <a:rPr lang="en-US" dirty="0" err="1"/>
              <a:t>rozpočet</a:t>
            </a:r>
            <a:r>
              <a:rPr lang="en-US" dirty="0"/>
              <a:t> </a:t>
            </a:r>
            <a:r>
              <a:rPr lang="en-US" dirty="0" err="1"/>
              <a:t>znamená</a:t>
            </a:r>
            <a:r>
              <a:rPr lang="en-US" dirty="0"/>
              <a:t> </a:t>
            </a:r>
            <a:r>
              <a:rPr lang="en-US" dirty="0" err="1"/>
              <a:t>lepší</a:t>
            </a:r>
            <a:r>
              <a:rPr lang="en-US" dirty="0"/>
              <a:t> </a:t>
            </a:r>
            <a:r>
              <a:rPr lang="en-US" dirty="0" err="1"/>
              <a:t>vybavení</a:t>
            </a:r>
            <a:r>
              <a:rPr lang="en-US" dirty="0"/>
              <a:t>, </a:t>
            </a:r>
            <a:r>
              <a:rPr lang="en-US" dirty="0" err="1"/>
              <a:t>školení</a:t>
            </a:r>
            <a:r>
              <a:rPr lang="en-US" dirty="0"/>
              <a:t> a </a:t>
            </a:r>
            <a:r>
              <a:rPr lang="en-US" dirty="0" err="1"/>
              <a:t>tedy</a:t>
            </a:r>
            <a:r>
              <a:rPr lang="en-US" dirty="0"/>
              <a:t> </a:t>
            </a:r>
            <a:r>
              <a:rPr lang="en-US" dirty="0" err="1"/>
              <a:t>méně</a:t>
            </a:r>
            <a:r>
              <a:rPr lang="en-US" dirty="0"/>
              <a:t> </a:t>
            </a:r>
            <a:r>
              <a:rPr lang="en-US" dirty="0" err="1"/>
              <a:t>incidentů</a:t>
            </a:r>
            <a:r>
              <a:rPr lang="en-US" dirty="0"/>
              <a:t>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939557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Stanovil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tři</a:t>
            </a:r>
            <a:r>
              <a:rPr lang="en-US" dirty="0"/>
              <a:t> </a:t>
            </a:r>
            <a:r>
              <a:rPr lang="en-US" dirty="0" err="1"/>
              <a:t>hlavní</a:t>
            </a:r>
            <a:r>
              <a:rPr lang="en-US" dirty="0"/>
              <a:t> </a:t>
            </a:r>
            <a:r>
              <a:rPr lang="en-US" dirty="0" err="1"/>
              <a:t>cíle</a:t>
            </a:r>
            <a:r>
              <a:rPr lang="en-US" dirty="0"/>
              <a:t>: Za </a:t>
            </a:r>
            <a:r>
              <a:rPr lang="en-US" dirty="0" err="1"/>
              <a:t>prvé</a:t>
            </a:r>
            <a:r>
              <a:rPr lang="en-US" dirty="0"/>
              <a:t> - </a:t>
            </a:r>
            <a:r>
              <a:rPr lang="en-US" dirty="0" err="1"/>
              <a:t>identifikovat</a:t>
            </a:r>
            <a:r>
              <a:rPr lang="en-US" dirty="0"/>
              <a:t> </a:t>
            </a:r>
            <a:r>
              <a:rPr lang="en-US" dirty="0" err="1"/>
              <a:t>vztah</a:t>
            </a:r>
            <a:r>
              <a:rPr lang="en-US" dirty="0"/>
              <a:t>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policejními</a:t>
            </a:r>
            <a:r>
              <a:rPr lang="en-US" dirty="0"/>
              <a:t> </a:t>
            </a:r>
            <a:r>
              <a:rPr lang="en-US" dirty="0" err="1"/>
              <a:t>rozpočty</a:t>
            </a:r>
            <a:r>
              <a:rPr lang="en-US" dirty="0"/>
              <a:t> a </a:t>
            </a:r>
            <a:r>
              <a:rPr lang="en-US" dirty="0" err="1"/>
              <a:t>četností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. Za </a:t>
            </a:r>
            <a:r>
              <a:rPr lang="en-US" dirty="0" err="1"/>
              <a:t>druhé</a:t>
            </a:r>
            <a:r>
              <a:rPr lang="en-US" dirty="0"/>
              <a:t> - </a:t>
            </a:r>
            <a:r>
              <a:rPr lang="en-US" dirty="0" err="1"/>
              <a:t>analyzovat</a:t>
            </a:r>
            <a:r>
              <a:rPr lang="en-US" dirty="0"/>
              <a:t> </a:t>
            </a:r>
            <a:r>
              <a:rPr lang="en-US" dirty="0" err="1"/>
              <a:t>geografické</a:t>
            </a:r>
            <a:r>
              <a:rPr lang="en-US" dirty="0"/>
              <a:t> a </a:t>
            </a:r>
            <a:r>
              <a:rPr lang="en-US" dirty="0" err="1"/>
              <a:t>demografické</a:t>
            </a:r>
            <a:r>
              <a:rPr lang="en-US" dirty="0"/>
              <a:t> </a:t>
            </a:r>
            <a:r>
              <a:rPr lang="en-US" dirty="0" err="1"/>
              <a:t>vzorce</a:t>
            </a:r>
            <a:r>
              <a:rPr lang="en-US" dirty="0"/>
              <a:t> </a:t>
            </a:r>
            <a:r>
              <a:rPr lang="en-US" dirty="0" err="1"/>
              <a:t>včetně</a:t>
            </a:r>
            <a:r>
              <a:rPr lang="en-US" dirty="0"/>
              <a:t> </a:t>
            </a:r>
            <a:r>
              <a:rPr lang="en-US" dirty="0" err="1"/>
              <a:t>rasového</a:t>
            </a:r>
            <a:r>
              <a:rPr lang="en-US" dirty="0"/>
              <a:t> </a:t>
            </a:r>
            <a:r>
              <a:rPr lang="en-US" dirty="0" err="1"/>
              <a:t>složení</a:t>
            </a:r>
            <a:r>
              <a:rPr lang="en-US" dirty="0"/>
              <a:t> </a:t>
            </a:r>
            <a:r>
              <a:rPr lang="en-US" dirty="0" err="1"/>
              <a:t>obětí</a:t>
            </a:r>
            <a:r>
              <a:rPr lang="en-US" dirty="0"/>
              <a:t>. A za </a:t>
            </a:r>
            <a:r>
              <a:rPr lang="en-US" dirty="0" err="1"/>
              <a:t>třetí</a:t>
            </a:r>
            <a:r>
              <a:rPr lang="en-US" dirty="0"/>
              <a:t> - </a:t>
            </a:r>
            <a:r>
              <a:rPr lang="en-US" dirty="0" err="1"/>
              <a:t>analyzovat</a:t>
            </a:r>
            <a:r>
              <a:rPr lang="en-US" dirty="0"/>
              <a:t> </a:t>
            </a:r>
            <a:r>
              <a:rPr lang="en-US" dirty="0" err="1"/>
              <a:t>situační</a:t>
            </a:r>
            <a:r>
              <a:rPr lang="en-US" dirty="0"/>
              <a:t> </a:t>
            </a:r>
            <a:r>
              <a:rPr lang="en-US" dirty="0" err="1"/>
              <a:t>faktory</a:t>
            </a:r>
            <a:r>
              <a:rPr lang="en-US" dirty="0"/>
              <a:t> </a:t>
            </a:r>
            <a:r>
              <a:rPr lang="en-US" dirty="0" err="1"/>
              <a:t>jako</a:t>
            </a:r>
            <a:r>
              <a:rPr lang="en-US" dirty="0"/>
              <a:t> </a:t>
            </a:r>
            <a:r>
              <a:rPr lang="en-US" dirty="0" err="1"/>
              <a:t>typ</a:t>
            </a:r>
            <a:r>
              <a:rPr lang="en-US" dirty="0"/>
              <a:t> </a:t>
            </a:r>
            <a:r>
              <a:rPr lang="en-US" dirty="0" err="1"/>
              <a:t>ozbrojení</a:t>
            </a:r>
            <a:r>
              <a:rPr lang="en-US" dirty="0"/>
              <a:t>, </a:t>
            </a:r>
            <a:r>
              <a:rPr lang="en-US" dirty="0" err="1"/>
              <a:t>duševní</a:t>
            </a:r>
            <a:r>
              <a:rPr lang="en-US" dirty="0"/>
              <a:t> </a:t>
            </a:r>
            <a:r>
              <a:rPr lang="en-US" dirty="0" err="1"/>
              <a:t>onemocnění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použití</a:t>
            </a:r>
            <a:r>
              <a:rPr lang="en-US" dirty="0"/>
              <a:t> body </a:t>
            </a:r>
            <a:r>
              <a:rPr lang="en-US" dirty="0" err="1"/>
              <a:t>kamer</a:t>
            </a:r>
            <a:r>
              <a:rPr lang="en-US" dirty="0"/>
              <a:t>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8114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 </a:t>
            </a:r>
            <a:r>
              <a:rPr lang="en-US" dirty="0" err="1"/>
              <a:t>přípravu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použil</a:t>
            </a:r>
            <a:r>
              <a:rPr lang="en-US" dirty="0"/>
              <a:t> ETL pipeline v </a:t>
            </a:r>
            <a:r>
              <a:rPr lang="en-US" dirty="0" err="1"/>
              <a:t>nástroji</a:t>
            </a:r>
            <a:r>
              <a:rPr lang="en-US" dirty="0"/>
              <a:t> </a:t>
            </a:r>
            <a:r>
              <a:rPr lang="en-US" dirty="0" err="1"/>
              <a:t>BigQuery</a:t>
            </a:r>
            <a:r>
              <a:rPr lang="en-US" dirty="0"/>
              <a:t>, </a:t>
            </a:r>
            <a:r>
              <a:rPr lang="en-US" dirty="0" err="1"/>
              <a:t>kde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pomocí</a:t>
            </a:r>
            <a:r>
              <a:rPr lang="en-US" dirty="0"/>
              <a:t> SQL </a:t>
            </a:r>
            <a:r>
              <a:rPr lang="en-US" dirty="0" err="1"/>
              <a:t>dotazů</a:t>
            </a:r>
            <a:r>
              <a:rPr lang="en-US" dirty="0"/>
              <a:t> </a:t>
            </a:r>
            <a:r>
              <a:rPr lang="en-US" dirty="0" err="1"/>
              <a:t>transformoval</a:t>
            </a:r>
            <a:r>
              <a:rPr lang="en-US" dirty="0"/>
              <a:t> a </a:t>
            </a:r>
            <a:r>
              <a:rPr lang="en-US" dirty="0" err="1"/>
              <a:t>propojil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hlavní</a:t>
            </a:r>
            <a:r>
              <a:rPr lang="en-US" dirty="0"/>
              <a:t> </a:t>
            </a:r>
            <a:r>
              <a:rPr lang="en-US" dirty="0" err="1"/>
              <a:t>datasety</a:t>
            </a:r>
            <a:r>
              <a:rPr lang="en-US" dirty="0"/>
              <a:t> - </a:t>
            </a:r>
            <a:r>
              <a:rPr lang="en-US" dirty="0" err="1"/>
              <a:t>rozpočty</a:t>
            </a:r>
            <a:r>
              <a:rPr lang="en-US" dirty="0"/>
              <a:t> </a:t>
            </a:r>
            <a:r>
              <a:rPr lang="en-US" dirty="0" err="1"/>
              <a:t>měst</a:t>
            </a:r>
            <a:r>
              <a:rPr lang="en-US" dirty="0"/>
              <a:t> a </a:t>
            </a:r>
            <a:r>
              <a:rPr lang="en-US" dirty="0" err="1"/>
              <a:t>databázi</a:t>
            </a:r>
            <a:r>
              <a:rPr lang="en-US" dirty="0"/>
              <a:t> </a:t>
            </a:r>
            <a:r>
              <a:rPr lang="en-US" dirty="0" err="1"/>
              <a:t>policejních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Washington Post. BI </a:t>
            </a:r>
            <a:r>
              <a:rPr lang="en-US" dirty="0" err="1"/>
              <a:t>část</a:t>
            </a:r>
            <a:r>
              <a:rPr lang="en-US" dirty="0"/>
              <a:t> </a:t>
            </a:r>
            <a:r>
              <a:rPr lang="en-US" dirty="0" err="1"/>
              <a:t>analýzy</a:t>
            </a:r>
            <a:r>
              <a:rPr lang="en-US" dirty="0"/>
              <a:t> </a:t>
            </a:r>
            <a:r>
              <a:rPr lang="en-US" dirty="0" err="1"/>
              <a:t>probíhala</a:t>
            </a:r>
            <a:r>
              <a:rPr lang="en-US" dirty="0"/>
              <a:t> v </a:t>
            </a:r>
            <a:r>
              <a:rPr lang="en-US" dirty="0" err="1"/>
              <a:t>nástroji</a:t>
            </a:r>
            <a:r>
              <a:rPr lang="en-US" dirty="0"/>
              <a:t> Power BI.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2682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science </a:t>
            </a:r>
            <a:r>
              <a:rPr lang="en-US" dirty="0" err="1"/>
              <a:t>část</a:t>
            </a:r>
            <a:r>
              <a:rPr lang="en-US" dirty="0"/>
              <a:t> </a:t>
            </a:r>
            <a:r>
              <a:rPr lang="en-US" dirty="0" err="1"/>
              <a:t>byla</a:t>
            </a:r>
            <a:r>
              <a:rPr lang="en-US" dirty="0"/>
              <a:t> </a:t>
            </a:r>
            <a:r>
              <a:rPr lang="en-US" dirty="0" err="1"/>
              <a:t>realizována</a:t>
            </a:r>
            <a:r>
              <a:rPr lang="en-US" dirty="0"/>
              <a:t> v </a:t>
            </a:r>
            <a:r>
              <a:rPr lang="en-US" dirty="0" err="1"/>
              <a:t>Pythonu</a:t>
            </a:r>
            <a:r>
              <a:rPr lang="en-US" dirty="0"/>
              <a:t>. </a:t>
            </a:r>
            <a:r>
              <a:rPr lang="en-US" dirty="0" err="1"/>
              <a:t>Použil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statistickou</a:t>
            </a:r>
            <a:r>
              <a:rPr lang="en-US" dirty="0"/>
              <a:t> </a:t>
            </a:r>
            <a:r>
              <a:rPr lang="en-US" dirty="0" err="1"/>
              <a:t>analýzu</a:t>
            </a:r>
            <a:r>
              <a:rPr lang="en-US" dirty="0"/>
              <a:t> </a:t>
            </a:r>
            <a:r>
              <a:rPr lang="en-US" dirty="0" err="1"/>
              <a:t>pomocí</a:t>
            </a:r>
            <a:r>
              <a:rPr lang="en-US" dirty="0"/>
              <a:t> chi-square </a:t>
            </a:r>
            <a:r>
              <a:rPr lang="en-US" dirty="0" err="1"/>
              <a:t>testů</a:t>
            </a:r>
            <a:r>
              <a:rPr lang="en-US" dirty="0"/>
              <a:t> a </a:t>
            </a:r>
            <a:r>
              <a:rPr lang="en-US" dirty="0" err="1"/>
              <a:t>Cramerova</a:t>
            </a:r>
            <a:r>
              <a:rPr lang="en-US" dirty="0"/>
              <a:t> V pro </a:t>
            </a:r>
            <a:r>
              <a:rPr lang="en-US" dirty="0" err="1"/>
              <a:t>měření</a:t>
            </a:r>
            <a:r>
              <a:rPr lang="en-US" dirty="0"/>
              <a:t> </a:t>
            </a:r>
            <a:r>
              <a:rPr lang="en-US" dirty="0" err="1"/>
              <a:t>síly</a:t>
            </a:r>
            <a:r>
              <a:rPr lang="en-US" dirty="0"/>
              <a:t> </a:t>
            </a:r>
            <a:r>
              <a:rPr lang="en-US" dirty="0" err="1"/>
              <a:t>vztahů</a:t>
            </a:r>
            <a:r>
              <a:rPr lang="en-US" dirty="0"/>
              <a:t>. </a:t>
            </a:r>
            <a:r>
              <a:rPr lang="en-US" dirty="0" err="1"/>
              <a:t>Dále</a:t>
            </a:r>
            <a:r>
              <a:rPr lang="en-US" dirty="0"/>
              <a:t> </a:t>
            </a:r>
            <a:r>
              <a:rPr lang="en-US" dirty="0" err="1"/>
              <a:t>procedury</a:t>
            </a:r>
            <a:r>
              <a:rPr lang="en-US" dirty="0"/>
              <a:t> CleverMiner - 4ft-Miner pro </a:t>
            </a:r>
            <a:r>
              <a:rPr lang="en-US" dirty="0" err="1"/>
              <a:t>asociační</a:t>
            </a:r>
            <a:r>
              <a:rPr lang="en-US" dirty="0"/>
              <a:t> </a:t>
            </a:r>
            <a:r>
              <a:rPr lang="en-US" dirty="0" err="1"/>
              <a:t>pravidla</a:t>
            </a:r>
            <a:r>
              <a:rPr lang="en-US" dirty="0"/>
              <a:t>, CF-Miner pro </a:t>
            </a:r>
            <a:r>
              <a:rPr lang="en-US" dirty="0" err="1"/>
              <a:t>analýzu</a:t>
            </a:r>
            <a:r>
              <a:rPr lang="en-US" dirty="0"/>
              <a:t> </a:t>
            </a:r>
            <a:r>
              <a:rPr lang="en-US" dirty="0" err="1"/>
              <a:t>distribucí</a:t>
            </a:r>
            <a:r>
              <a:rPr lang="en-US" dirty="0"/>
              <a:t> a SD4ft-Miner pro subgroup discovery. </a:t>
            </a:r>
            <a:r>
              <a:rPr lang="en-US" dirty="0" err="1"/>
              <a:t>Nakonec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použil</a:t>
            </a:r>
            <a:r>
              <a:rPr lang="en-US" dirty="0"/>
              <a:t> </a:t>
            </a:r>
            <a:r>
              <a:rPr lang="en-US" dirty="0" err="1"/>
              <a:t>prediktivní</a:t>
            </a:r>
            <a:r>
              <a:rPr lang="en-US" dirty="0"/>
              <a:t> </a:t>
            </a:r>
            <a:r>
              <a:rPr lang="en-US" dirty="0" err="1"/>
              <a:t>modely</a:t>
            </a:r>
            <a:r>
              <a:rPr lang="en-US" dirty="0"/>
              <a:t> Decision Tree a Random Forest pro </a:t>
            </a:r>
            <a:r>
              <a:rPr lang="en-US" dirty="0" err="1"/>
              <a:t>identifikaci</a:t>
            </a:r>
            <a:r>
              <a:rPr lang="en-US" dirty="0"/>
              <a:t> </a:t>
            </a:r>
            <a:r>
              <a:rPr lang="en-US" dirty="0" err="1"/>
              <a:t>nejdůležitějších</a:t>
            </a:r>
            <a:r>
              <a:rPr lang="en-US" dirty="0"/>
              <a:t> </a:t>
            </a:r>
            <a:r>
              <a:rPr lang="en-US" dirty="0" err="1"/>
              <a:t>prediktorů</a:t>
            </a:r>
            <a:r>
              <a:rPr lang="en-US" dirty="0"/>
              <a:t>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09676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Toto je </a:t>
            </a:r>
            <a:r>
              <a:rPr lang="en-US" dirty="0" err="1"/>
              <a:t>ukázka</a:t>
            </a:r>
            <a:r>
              <a:rPr lang="en-US" dirty="0"/>
              <a:t> BI </a:t>
            </a:r>
            <a:r>
              <a:rPr lang="en-US" dirty="0" err="1"/>
              <a:t>dashboardu</a:t>
            </a:r>
            <a:r>
              <a:rPr lang="en-US" dirty="0"/>
              <a:t>. V </a:t>
            </a:r>
            <a:r>
              <a:rPr lang="en-US" dirty="0" err="1"/>
              <a:t>levé</a:t>
            </a:r>
            <a:r>
              <a:rPr lang="en-US" dirty="0"/>
              <a:t> </a:t>
            </a:r>
            <a:r>
              <a:rPr lang="en-US" dirty="0" err="1"/>
              <a:t>horní</a:t>
            </a:r>
            <a:r>
              <a:rPr lang="en-US" dirty="0"/>
              <a:t> </a:t>
            </a:r>
            <a:r>
              <a:rPr lang="en-US" dirty="0" err="1"/>
              <a:t>části</a:t>
            </a:r>
            <a:r>
              <a:rPr lang="en-US" dirty="0"/>
              <a:t> </a:t>
            </a:r>
            <a:r>
              <a:rPr lang="en-US" dirty="0" err="1"/>
              <a:t>vidíte</a:t>
            </a:r>
            <a:r>
              <a:rPr lang="en-US" dirty="0"/>
              <a:t> </a:t>
            </a:r>
            <a:r>
              <a:rPr lang="en-US" dirty="0" err="1"/>
              <a:t>klíčové</a:t>
            </a:r>
            <a:r>
              <a:rPr lang="en-US" dirty="0"/>
              <a:t> </a:t>
            </a:r>
            <a:r>
              <a:rPr lang="en-US" dirty="0" err="1"/>
              <a:t>metriky</a:t>
            </a:r>
            <a:r>
              <a:rPr lang="en-US" dirty="0"/>
              <a:t> - </a:t>
            </a:r>
            <a:r>
              <a:rPr lang="en-US" dirty="0" err="1"/>
              <a:t>průměrný</a:t>
            </a:r>
            <a:r>
              <a:rPr lang="en-US" dirty="0"/>
              <a:t> </a:t>
            </a:r>
            <a:r>
              <a:rPr lang="en-US" dirty="0" err="1"/>
              <a:t>rozpočet</a:t>
            </a:r>
            <a:r>
              <a:rPr lang="en-US" dirty="0"/>
              <a:t> 2,18 </a:t>
            </a:r>
            <a:r>
              <a:rPr lang="en-US" dirty="0" err="1"/>
              <a:t>tisíc</a:t>
            </a:r>
            <a:r>
              <a:rPr lang="en-US" dirty="0"/>
              <a:t> </a:t>
            </a:r>
            <a:r>
              <a:rPr lang="en-US" dirty="0" err="1"/>
              <a:t>dolarů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obyvatele</a:t>
            </a:r>
            <a:r>
              <a:rPr lang="en-US" dirty="0"/>
              <a:t>, a </a:t>
            </a:r>
            <a:r>
              <a:rPr lang="en-US" dirty="0" err="1"/>
              <a:t>hlavně</a:t>
            </a:r>
            <a:r>
              <a:rPr lang="en-US" dirty="0"/>
              <a:t> </a:t>
            </a:r>
            <a:r>
              <a:rPr lang="en-US" b="1" dirty="0" err="1"/>
              <a:t>korelační</a:t>
            </a:r>
            <a:r>
              <a:rPr lang="en-US" b="1" dirty="0"/>
              <a:t> </a:t>
            </a:r>
            <a:r>
              <a:rPr lang="en-US" b="1" dirty="0" err="1"/>
              <a:t>koeficient</a:t>
            </a:r>
            <a:r>
              <a:rPr lang="en-US" b="1" dirty="0"/>
              <a:t> </a:t>
            </a:r>
            <a:r>
              <a:rPr lang="en-US" b="1" dirty="0" err="1"/>
              <a:t>pouze</a:t>
            </a:r>
            <a:r>
              <a:rPr lang="en-US" b="1" dirty="0"/>
              <a:t> 0,09</a:t>
            </a:r>
            <a:r>
              <a:rPr lang="en-US" dirty="0"/>
              <a:t> - </a:t>
            </a:r>
            <a:r>
              <a:rPr lang="en-US" dirty="0" err="1"/>
              <a:t>tedy</a:t>
            </a:r>
            <a:r>
              <a:rPr lang="en-US" dirty="0"/>
              <a:t> </a:t>
            </a:r>
            <a:r>
              <a:rPr lang="en-US" dirty="0" err="1"/>
              <a:t>téměř</a:t>
            </a:r>
            <a:r>
              <a:rPr lang="en-US" dirty="0"/>
              <a:t> </a:t>
            </a:r>
            <a:r>
              <a:rPr lang="en-US" dirty="0" err="1"/>
              <a:t>žádná</a:t>
            </a:r>
            <a:r>
              <a:rPr lang="en-US" dirty="0"/>
              <a:t> </a:t>
            </a:r>
            <a:r>
              <a:rPr lang="en-US" dirty="0" err="1"/>
              <a:t>korelace</a:t>
            </a:r>
            <a:r>
              <a:rPr lang="en-US" dirty="0"/>
              <a:t>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a </a:t>
            </a:r>
            <a:r>
              <a:rPr lang="en-US" dirty="0" err="1"/>
              <a:t>mírou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.</a:t>
            </a:r>
            <a:endParaRPr lang="cs-CZ" dirty="0"/>
          </a:p>
          <a:p>
            <a:r>
              <a:rPr lang="en-US" dirty="0" err="1"/>
              <a:t>Vpravo</a:t>
            </a:r>
            <a:r>
              <a:rPr lang="en-US" dirty="0"/>
              <a:t> </a:t>
            </a:r>
            <a:r>
              <a:rPr lang="en-US" dirty="0" err="1"/>
              <a:t>nahoře</a:t>
            </a:r>
            <a:r>
              <a:rPr lang="en-US" dirty="0"/>
              <a:t> je bar chart </a:t>
            </a:r>
            <a:r>
              <a:rPr lang="en-US" dirty="0" err="1"/>
              <a:t>ukazující</a:t>
            </a:r>
            <a:r>
              <a:rPr lang="en-US" dirty="0"/>
              <a:t> </a:t>
            </a:r>
            <a:r>
              <a:rPr lang="en-US" dirty="0" err="1"/>
              <a:t>průměrnou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podle</a:t>
            </a:r>
            <a:r>
              <a:rPr lang="en-US" dirty="0"/>
              <a:t> </a:t>
            </a:r>
            <a:r>
              <a:rPr lang="en-US" dirty="0" err="1"/>
              <a:t>rozpočtové</a:t>
            </a:r>
            <a:r>
              <a:rPr lang="en-US" dirty="0"/>
              <a:t> </a:t>
            </a:r>
            <a:r>
              <a:rPr lang="en-US" dirty="0" err="1"/>
              <a:t>kategorie</a:t>
            </a:r>
            <a:r>
              <a:rPr lang="en-US" dirty="0"/>
              <a:t> - </a:t>
            </a:r>
            <a:r>
              <a:rPr lang="en-US" dirty="0" err="1"/>
              <a:t>všimněte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High_Budget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dokonce</a:t>
            </a:r>
            <a:r>
              <a:rPr lang="en-US" dirty="0"/>
              <a:t> </a:t>
            </a:r>
            <a:r>
              <a:rPr lang="en-US" b="1" dirty="0" err="1"/>
              <a:t>vyšší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než</a:t>
            </a:r>
            <a:r>
              <a:rPr lang="en-US" dirty="0"/>
              <a:t> </a:t>
            </a:r>
            <a:r>
              <a:rPr lang="en-US" dirty="0" err="1"/>
              <a:t>Low_Budget</a:t>
            </a:r>
            <a:r>
              <a:rPr lang="en-US" dirty="0"/>
              <a:t>.</a:t>
            </a:r>
            <a:endParaRPr lang="cs-CZ" dirty="0"/>
          </a:p>
          <a:p>
            <a:r>
              <a:rPr lang="en-US" dirty="0" err="1"/>
              <a:t>Dva</a:t>
            </a:r>
            <a:r>
              <a:rPr lang="en-US" dirty="0"/>
              <a:t> scatter </a:t>
            </a:r>
            <a:r>
              <a:rPr lang="en-US" dirty="0" err="1"/>
              <a:t>ploty</a:t>
            </a:r>
            <a:r>
              <a:rPr lang="en-US" dirty="0"/>
              <a:t> dole </a:t>
            </a:r>
            <a:r>
              <a:rPr lang="en-US" dirty="0" err="1"/>
              <a:t>ukazují</a:t>
            </a:r>
            <a:r>
              <a:rPr lang="en-US" dirty="0"/>
              <a:t> </a:t>
            </a:r>
            <a:r>
              <a:rPr lang="en-US" dirty="0" err="1"/>
              <a:t>vztah</a:t>
            </a:r>
            <a:r>
              <a:rPr lang="en-US" dirty="0"/>
              <a:t> </a:t>
            </a:r>
            <a:r>
              <a:rPr lang="en-US" dirty="0" err="1"/>
              <a:t>rozpočtu</a:t>
            </a:r>
            <a:r>
              <a:rPr lang="en-US" dirty="0"/>
              <a:t> a </a:t>
            </a:r>
            <a:r>
              <a:rPr lang="en-US" dirty="0" err="1"/>
              <a:t>střeleb</a:t>
            </a:r>
            <a:r>
              <a:rPr lang="en-US" dirty="0"/>
              <a:t> - </a:t>
            </a:r>
            <a:r>
              <a:rPr lang="en-US" dirty="0" err="1"/>
              <a:t>vlevo</a:t>
            </a:r>
            <a:r>
              <a:rPr lang="en-US" dirty="0"/>
              <a:t> </a:t>
            </a:r>
            <a:r>
              <a:rPr lang="en-US" dirty="0" err="1"/>
              <a:t>normalizovaný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100k </a:t>
            </a:r>
            <a:r>
              <a:rPr lang="en-US" dirty="0" err="1"/>
              <a:t>obyvatel</a:t>
            </a:r>
            <a:r>
              <a:rPr lang="en-US" dirty="0"/>
              <a:t>, </a:t>
            </a:r>
            <a:r>
              <a:rPr lang="en-US" dirty="0" err="1"/>
              <a:t>vpravo</a:t>
            </a:r>
            <a:r>
              <a:rPr lang="en-US" dirty="0"/>
              <a:t> </a:t>
            </a:r>
            <a:r>
              <a:rPr lang="en-US" dirty="0" err="1"/>
              <a:t>absolutní</a:t>
            </a:r>
            <a:r>
              <a:rPr lang="en-US" dirty="0"/>
              <a:t> </a:t>
            </a:r>
            <a:r>
              <a:rPr lang="en-US" dirty="0" err="1"/>
              <a:t>počty</a:t>
            </a:r>
            <a:r>
              <a:rPr lang="en-US" dirty="0"/>
              <a:t>. Je </a:t>
            </a:r>
            <a:r>
              <a:rPr lang="en-US" dirty="0" err="1"/>
              <a:t>vidět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body </a:t>
            </a:r>
            <a:r>
              <a:rPr lang="en-US" dirty="0" err="1"/>
              <a:t>jsou</a:t>
            </a:r>
            <a:r>
              <a:rPr lang="en-US" dirty="0"/>
              <a:t> </a:t>
            </a:r>
            <a:r>
              <a:rPr lang="en-US" dirty="0" err="1"/>
              <a:t>rozptýlené</a:t>
            </a:r>
            <a:r>
              <a:rPr lang="en-US" dirty="0"/>
              <a:t> bez </a:t>
            </a:r>
            <a:r>
              <a:rPr lang="en-US" dirty="0" err="1"/>
              <a:t>jasného</a:t>
            </a:r>
            <a:r>
              <a:rPr lang="en-US" dirty="0"/>
              <a:t> </a:t>
            </a:r>
            <a:r>
              <a:rPr lang="en-US" dirty="0" err="1"/>
              <a:t>trendu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89021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Zde </a:t>
            </a:r>
            <a:r>
              <a:rPr lang="en-US" dirty="0" err="1"/>
              <a:t>vidíte</a:t>
            </a:r>
            <a:r>
              <a:rPr lang="en-US" dirty="0"/>
              <a:t> </a:t>
            </a:r>
            <a:r>
              <a:rPr lang="en-US" dirty="0" err="1"/>
              <a:t>výstup</a:t>
            </a:r>
            <a:r>
              <a:rPr lang="en-US" dirty="0"/>
              <a:t> z 4ft-Miner </a:t>
            </a:r>
            <a:r>
              <a:rPr lang="en-US" dirty="0" err="1"/>
              <a:t>procedury</a:t>
            </a:r>
            <a:r>
              <a:rPr lang="en-US" dirty="0"/>
              <a:t>. </a:t>
            </a:r>
            <a:r>
              <a:rPr lang="en-US" dirty="0" err="1"/>
              <a:t>Algoritmus</a:t>
            </a:r>
            <a:r>
              <a:rPr lang="en-US" dirty="0"/>
              <a:t> </a:t>
            </a:r>
            <a:r>
              <a:rPr lang="en-US" dirty="0" err="1"/>
              <a:t>nalezl</a:t>
            </a:r>
            <a:r>
              <a:rPr lang="en-US" dirty="0"/>
              <a:t> 13 </a:t>
            </a:r>
            <a:r>
              <a:rPr lang="en-US" dirty="0" err="1"/>
              <a:t>asociačních</a:t>
            </a:r>
            <a:r>
              <a:rPr lang="en-US" dirty="0"/>
              <a:t> </a:t>
            </a:r>
            <a:r>
              <a:rPr lang="en-US" dirty="0" err="1"/>
              <a:t>pravidel</a:t>
            </a:r>
            <a:r>
              <a:rPr lang="en-US" dirty="0"/>
              <a:t>. </a:t>
            </a:r>
            <a:r>
              <a:rPr lang="en-US" dirty="0" err="1"/>
              <a:t>Klíčové</a:t>
            </a:r>
            <a:r>
              <a:rPr lang="en-US" dirty="0"/>
              <a:t> je </a:t>
            </a:r>
            <a:r>
              <a:rPr lang="en-US" dirty="0" err="1"/>
              <a:t>pravidlo</a:t>
            </a:r>
            <a:r>
              <a:rPr lang="en-US" dirty="0"/>
              <a:t> </a:t>
            </a:r>
            <a:r>
              <a:rPr lang="en-US" dirty="0" err="1"/>
              <a:t>číslo</a:t>
            </a:r>
            <a:r>
              <a:rPr lang="en-US" dirty="0"/>
              <a:t> 9: </a:t>
            </a:r>
            <a:r>
              <a:rPr lang="en-US" dirty="0" err="1"/>
              <a:t>budget_category</a:t>
            </a:r>
            <a:r>
              <a:rPr lang="en-US" dirty="0"/>
              <a:t> </a:t>
            </a:r>
            <a:r>
              <a:rPr lang="en-US" dirty="0" err="1"/>
              <a:t>High_Budget</a:t>
            </a:r>
            <a:r>
              <a:rPr lang="en-US" dirty="0"/>
              <a:t> </a:t>
            </a:r>
            <a:r>
              <a:rPr lang="en-US" dirty="0" err="1"/>
              <a:t>implikuje</a:t>
            </a:r>
            <a:r>
              <a:rPr lang="en-US" dirty="0"/>
              <a:t> </a:t>
            </a:r>
            <a:r>
              <a:rPr lang="en-US" dirty="0" err="1"/>
              <a:t>shooting_rate_category</a:t>
            </a:r>
            <a:r>
              <a:rPr lang="en-US" dirty="0"/>
              <a:t> </a:t>
            </a:r>
            <a:r>
              <a:rPr lang="en-US" dirty="0" err="1"/>
              <a:t>High_Rate</a:t>
            </a:r>
            <a:r>
              <a:rPr lang="en-US" dirty="0"/>
              <a:t> s confidence 69,4% a AAD plus 41,2%.</a:t>
            </a:r>
            <a:endParaRPr lang="cs-CZ" dirty="0"/>
          </a:p>
          <a:p>
            <a:r>
              <a:rPr lang="en-US" dirty="0"/>
              <a:t>To </a:t>
            </a:r>
            <a:r>
              <a:rPr lang="en-US" dirty="0" err="1"/>
              <a:t>znamená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s </a:t>
            </a:r>
            <a:r>
              <a:rPr lang="en-US" dirty="0" err="1"/>
              <a:t>vysokým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o 41% </a:t>
            </a:r>
            <a:r>
              <a:rPr lang="en-US" dirty="0" err="1"/>
              <a:t>vyšší</a:t>
            </a:r>
            <a:r>
              <a:rPr lang="en-US" dirty="0"/>
              <a:t> </a:t>
            </a:r>
            <a:r>
              <a:rPr lang="en-US" dirty="0" err="1"/>
              <a:t>pravděpodobnost</a:t>
            </a:r>
            <a:r>
              <a:rPr lang="en-US" dirty="0"/>
              <a:t> </a:t>
            </a:r>
            <a:r>
              <a:rPr lang="en-US" dirty="0" err="1"/>
              <a:t>vysoké</a:t>
            </a:r>
            <a:r>
              <a:rPr lang="en-US" dirty="0"/>
              <a:t> </a:t>
            </a:r>
            <a:r>
              <a:rPr lang="en-US" dirty="0" err="1"/>
              <a:t>míry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než</a:t>
            </a:r>
            <a:r>
              <a:rPr lang="en-US" dirty="0"/>
              <a:t> je </a:t>
            </a:r>
            <a:r>
              <a:rPr lang="en-US" dirty="0" err="1"/>
              <a:t>průměr</a:t>
            </a:r>
            <a:r>
              <a:rPr lang="en-US" dirty="0"/>
              <a:t>. </a:t>
            </a:r>
            <a:r>
              <a:rPr lang="en-US" dirty="0" err="1"/>
              <a:t>Pravidla</a:t>
            </a:r>
            <a:r>
              <a:rPr lang="en-US" dirty="0"/>
              <a:t> 2 a 6 </a:t>
            </a:r>
            <a:r>
              <a:rPr lang="en-US" dirty="0" err="1"/>
              <a:t>ukazují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tento</a:t>
            </a:r>
            <a:r>
              <a:rPr lang="en-US" dirty="0"/>
              <a:t> </a:t>
            </a:r>
            <a:r>
              <a:rPr lang="en-US" dirty="0" err="1"/>
              <a:t>efekt</a:t>
            </a:r>
            <a:r>
              <a:rPr lang="en-US" dirty="0"/>
              <a:t> je </a:t>
            </a:r>
            <a:r>
              <a:rPr lang="en-US" dirty="0" err="1"/>
              <a:t>ještě</a:t>
            </a:r>
            <a:r>
              <a:rPr lang="en-US" dirty="0"/>
              <a:t> </a:t>
            </a:r>
            <a:r>
              <a:rPr lang="en-US" dirty="0" err="1"/>
              <a:t>silnější</a:t>
            </a:r>
            <a:r>
              <a:rPr lang="en-US" dirty="0"/>
              <a:t> pro </a:t>
            </a:r>
            <a:r>
              <a:rPr lang="en-US" dirty="0" err="1"/>
              <a:t>hispánské</a:t>
            </a:r>
            <a:r>
              <a:rPr lang="en-US" dirty="0"/>
              <a:t> a </a:t>
            </a:r>
            <a:r>
              <a:rPr lang="en-US" dirty="0" err="1"/>
              <a:t>bílé</a:t>
            </a:r>
            <a:r>
              <a:rPr lang="en-US" dirty="0"/>
              <a:t> </a:t>
            </a:r>
            <a:r>
              <a:rPr lang="en-US" dirty="0" err="1"/>
              <a:t>oběti</a:t>
            </a:r>
            <a:r>
              <a:rPr lang="en-US" dirty="0"/>
              <a:t> v </a:t>
            </a:r>
            <a:r>
              <a:rPr lang="en-US" dirty="0" err="1"/>
              <a:t>kombinaci</a:t>
            </a:r>
            <a:r>
              <a:rPr lang="en-US" dirty="0"/>
              <a:t> s </a:t>
            </a:r>
            <a:r>
              <a:rPr lang="en-US" dirty="0" err="1"/>
              <a:t>vysokým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- confidence </a:t>
            </a:r>
            <a:r>
              <a:rPr lang="en-US" dirty="0" err="1"/>
              <a:t>až</a:t>
            </a:r>
            <a:r>
              <a:rPr lang="en-US" dirty="0"/>
              <a:t> 77,8%.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78136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První</a:t>
            </a:r>
            <a:r>
              <a:rPr lang="en-US" dirty="0"/>
              <a:t> </a:t>
            </a:r>
            <a:r>
              <a:rPr lang="en-US" dirty="0" err="1"/>
              <a:t>klíčové</a:t>
            </a:r>
            <a:r>
              <a:rPr lang="en-US" dirty="0"/>
              <a:t> </a:t>
            </a:r>
            <a:r>
              <a:rPr lang="en-US" dirty="0" err="1"/>
              <a:t>zjištění</a:t>
            </a:r>
            <a:r>
              <a:rPr lang="en-US" dirty="0"/>
              <a:t>: </a:t>
            </a:r>
            <a:r>
              <a:rPr lang="en-US" dirty="0" err="1"/>
              <a:t>Korelace</a:t>
            </a:r>
            <a:r>
              <a:rPr lang="en-US" dirty="0"/>
              <a:t>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a </a:t>
            </a:r>
            <a:r>
              <a:rPr lang="en-US" dirty="0" err="1"/>
              <a:t>mírou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je </a:t>
            </a:r>
            <a:r>
              <a:rPr lang="en-US" dirty="0" err="1"/>
              <a:t>extrémně</a:t>
            </a:r>
            <a:r>
              <a:rPr lang="en-US" dirty="0"/>
              <a:t> </a:t>
            </a:r>
            <a:r>
              <a:rPr lang="en-US" dirty="0" err="1"/>
              <a:t>slabá</a:t>
            </a:r>
            <a:r>
              <a:rPr lang="en-US" dirty="0"/>
              <a:t> - r </a:t>
            </a:r>
            <a:r>
              <a:rPr lang="en-US" dirty="0" err="1"/>
              <a:t>rovná</a:t>
            </a:r>
            <a:r>
              <a:rPr lang="en-US" dirty="0"/>
              <a:t> se 0,09. </a:t>
            </a:r>
            <a:r>
              <a:rPr lang="en-US" dirty="0" err="1"/>
              <a:t>Města</a:t>
            </a:r>
            <a:r>
              <a:rPr lang="en-US" dirty="0"/>
              <a:t> s </a:t>
            </a:r>
            <a:r>
              <a:rPr lang="en-US" dirty="0" err="1"/>
              <a:t>vysokým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</a:t>
            </a:r>
            <a:r>
              <a:rPr lang="en-US" dirty="0" err="1"/>
              <a:t>nemají</a:t>
            </a:r>
            <a:r>
              <a:rPr lang="en-US" dirty="0"/>
              <a:t> </a:t>
            </a:r>
            <a:r>
              <a:rPr lang="en-US" dirty="0" err="1"/>
              <a:t>statisticky</a:t>
            </a:r>
            <a:r>
              <a:rPr lang="en-US" dirty="0"/>
              <a:t> </a:t>
            </a:r>
            <a:r>
              <a:rPr lang="en-US" dirty="0" err="1"/>
              <a:t>významně</a:t>
            </a:r>
            <a:r>
              <a:rPr lang="en-US" dirty="0"/>
              <a:t> </a:t>
            </a:r>
            <a:r>
              <a:rPr lang="en-US" dirty="0" err="1"/>
              <a:t>nižší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. </a:t>
            </a:r>
            <a:r>
              <a:rPr lang="en-US" dirty="0" err="1"/>
              <a:t>Průměrná</a:t>
            </a:r>
            <a:r>
              <a:rPr lang="en-US" dirty="0"/>
              <a:t> </a:t>
            </a:r>
            <a:r>
              <a:rPr lang="en-US" dirty="0" err="1"/>
              <a:t>míra</a:t>
            </a:r>
            <a:r>
              <a:rPr lang="en-US" dirty="0"/>
              <a:t> je </a:t>
            </a:r>
            <a:r>
              <a:rPr lang="en-US" dirty="0" err="1"/>
              <a:t>podobná</a:t>
            </a:r>
            <a:r>
              <a:rPr lang="en-US" dirty="0"/>
              <a:t> </a:t>
            </a:r>
            <a:r>
              <a:rPr lang="en-US" dirty="0" err="1"/>
              <a:t>napříč</a:t>
            </a:r>
            <a:r>
              <a:rPr lang="en-US" dirty="0"/>
              <a:t> </a:t>
            </a:r>
            <a:r>
              <a:rPr lang="en-US" dirty="0" err="1"/>
              <a:t>všemi</a:t>
            </a:r>
            <a:r>
              <a:rPr lang="en-US" dirty="0"/>
              <a:t> </a:t>
            </a:r>
            <a:r>
              <a:rPr lang="en-US" dirty="0" err="1"/>
              <a:t>kategoriemi</a:t>
            </a:r>
            <a:r>
              <a:rPr lang="en-US" dirty="0"/>
              <a:t> - </a:t>
            </a:r>
            <a:r>
              <a:rPr lang="en-US" dirty="0" err="1"/>
              <a:t>kolem</a:t>
            </a:r>
            <a:r>
              <a:rPr lang="en-US" dirty="0"/>
              <a:t> 3 </a:t>
            </a:r>
            <a:r>
              <a:rPr lang="en-US" dirty="0" err="1"/>
              <a:t>až</a:t>
            </a:r>
            <a:r>
              <a:rPr lang="en-US" dirty="0"/>
              <a:t> 4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100 </a:t>
            </a:r>
            <a:r>
              <a:rPr lang="en-US" dirty="0" err="1"/>
              <a:t>tisíc</a:t>
            </a:r>
            <a:r>
              <a:rPr lang="en-US" dirty="0"/>
              <a:t> </a:t>
            </a:r>
            <a:r>
              <a:rPr lang="en-US" dirty="0" err="1"/>
              <a:t>obyvatel</a:t>
            </a:r>
            <a:r>
              <a:rPr lang="en-US" dirty="0"/>
              <a:t>.</a:t>
            </a:r>
            <a:endParaRPr lang="cs-CZ" dirty="0"/>
          </a:p>
          <a:p>
            <a:endParaRPr lang="en-US" dirty="0"/>
          </a:p>
          <a:p>
            <a:r>
              <a:rPr lang="en-US" dirty="0"/>
              <a:t>Z </a:t>
            </a:r>
            <a:r>
              <a:rPr lang="en-US" dirty="0" err="1"/>
              <a:t>geografických</a:t>
            </a:r>
            <a:r>
              <a:rPr lang="en-US" dirty="0"/>
              <a:t> </a:t>
            </a:r>
            <a:r>
              <a:rPr lang="en-US" dirty="0" err="1"/>
              <a:t>vzorců</a:t>
            </a:r>
            <a:r>
              <a:rPr lang="en-US" dirty="0"/>
              <a:t> - </a:t>
            </a:r>
            <a:r>
              <a:rPr lang="en-US" dirty="0" err="1"/>
              <a:t>Kalifornie</a:t>
            </a:r>
            <a:r>
              <a:rPr lang="en-US" dirty="0"/>
              <a:t> a Texas </a:t>
            </a:r>
            <a:r>
              <a:rPr lang="en-US" dirty="0" err="1"/>
              <a:t>dominují</a:t>
            </a:r>
            <a:r>
              <a:rPr lang="en-US" dirty="0"/>
              <a:t> v </a:t>
            </a:r>
            <a:r>
              <a:rPr lang="en-US" dirty="0" err="1"/>
              <a:t>absolutních</a:t>
            </a:r>
            <a:r>
              <a:rPr lang="en-US" dirty="0"/>
              <a:t> </a:t>
            </a:r>
            <a:r>
              <a:rPr lang="en-US" dirty="0" err="1"/>
              <a:t>číslech</a:t>
            </a:r>
            <a:r>
              <a:rPr lang="en-US" dirty="0"/>
              <a:t>, ale po </a:t>
            </a:r>
            <a:r>
              <a:rPr lang="en-US" dirty="0" err="1"/>
              <a:t>normalizaci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populaci</a:t>
            </a:r>
            <a:r>
              <a:rPr lang="en-US" dirty="0"/>
              <a:t> se </a:t>
            </a:r>
            <a:r>
              <a:rPr lang="en-US" dirty="0" err="1"/>
              <a:t>rozdíly</a:t>
            </a:r>
            <a:r>
              <a:rPr lang="en-US" dirty="0"/>
              <a:t> </a:t>
            </a:r>
            <a:r>
              <a:rPr lang="en-US" dirty="0" err="1"/>
              <a:t>zmenšují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08186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 </a:t>
            </a:r>
            <a:r>
              <a:rPr lang="en-US" dirty="0" err="1"/>
              <a:t>demografických</a:t>
            </a:r>
            <a:r>
              <a:rPr lang="en-US" dirty="0"/>
              <a:t> </a:t>
            </a:r>
            <a:r>
              <a:rPr lang="en-US" dirty="0" err="1"/>
              <a:t>charakteristik</a:t>
            </a:r>
            <a:r>
              <a:rPr lang="en-US" dirty="0"/>
              <a:t> - </a:t>
            </a:r>
            <a:r>
              <a:rPr lang="en-US" dirty="0" err="1"/>
              <a:t>černošské</a:t>
            </a:r>
            <a:r>
              <a:rPr lang="en-US" dirty="0"/>
              <a:t> </a:t>
            </a:r>
            <a:r>
              <a:rPr lang="en-US" dirty="0" err="1"/>
              <a:t>oběti</a:t>
            </a:r>
            <a:r>
              <a:rPr lang="en-US" dirty="0"/>
              <a:t> </a:t>
            </a:r>
            <a:r>
              <a:rPr lang="en-US" dirty="0" err="1"/>
              <a:t>tvoří</a:t>
            </a:r>
            <a:r>
              <a:rPr lang="en-US" dirty="0"/>
              <a:t> 36% </a:t>
            </a:r>
            <a:r>
              <a:rPr lang="en-US" dirty="0" err="1"/>
              <a:t>případů</a:t>
            </a:r>
            <a:r>
              <a:rPr lang="en-US" dirty="0"/>
              <a:t>, </a:t>
            </a:r>
            <a:r>
              <a:rPr lang="en-US" dirty="0" err="1"/>
              <a:t>což</a:t>
            </a:r>
            <a:r>
              <a:rPr lang="en-US" dirty="0"/>
              <a:t> je </a:t>
            </a:r>
            <a:r>
              <a:rPr lang="en-US" dirty="0" err="1"/>
              <a:t>výrazná</a:t>
            </a:r>
            <a:r>
              <a:rPr lang="en-US" dirty="0"/>
              <a:t> </a:t>
            </a:r>
            <a:r>
              <a:rPr lang="en-US" dirty="0" err="1"/>
              <a:t>nadreprezentace</a:t>
            </a:r>
            <a:r>
              <a:rPr lang="en-US" dirty="0"/>
              <a:t> </a:t>
            </a:r>
            <a:r>
              <a:rPr lang="en-US" dirty="0" err="1"/>
              <a:t>vzhledem</a:t>
            </a:r>
            <a:r>
              <a:rPr lang="en-US" dirty="0"/>
              <a:t> k </a:t>
            </a:r>
            <a:r>
              <a:rPr lang="en-US" dirty="0" err="1"/>
              <a:t>jejich</a:t>
            </a:r>
            <a:r>
              <a:rPr lang="en-US" dirty="0"/>
              <a:t> 13% </a:t>
            </a:r>
            <a:r>
              <a:rPr lang="en-US" dirty="0" err="1"/>
              <a:t>podílu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populaci</a:t>
            </a:r>
            <a:r>
              <a:rPr lang="en-US" dirty="0"/>
              <a:t> USA. 96% </a:t>
            </a:r>
            <a:r>
              <a:rPr lang="en-US" dirty="0" err="1"/>
              <a:t>obětí</a:t>
            </a:r>
            <a:r>
              <a:rPr lang="en-US" dirty="0"/>
              <a:t> </a:t>
            </a:r>
            <a:r>
              <a:rPr lang="en-US" dirty="0" err="1"/>
              <a:t>jsou</a:t>
            </a:r>
            <a:r>
              <a:rPr lang="en-US" dirty="0"/>
              <a:t> </a:t>
            </a:r>
            <a:r>
              <a:rPr lang="en-US" dirty="0" err="1"/>
              <a:t>muži</a:t>
            </a:r>
            <a:r>
              <a:rPr lang="en-US" dirty="0"/>
              <a:t>.</a:t>
            </a:r>
            <a:endParaRPr lang="cs-CZ" dirty="0"/>
          </a:p>
          <a:p>
            <a:endParaRPr lang="en-US" dirty="0"/>
          </a:p>
          <a:p>
            <a:r>
              <a:rPr lang="en-US" dirty="0"/>
              <a:t>Z </a:t>
            </a:r>
            <a:r>
              <a:rPr lang="en-US" dirty="0" err="1"/>
              <a:t>okolností</a:t>
            </a:r>
            <a:r>
              <a:rPr lang="en-US" dirty="0"/>
              <a:t> </a:t>
            </a:r>
            <a:r>
              <a:rPr lang="en-US" dirty="0" err="1"/>
              <a:t>incidentů</a:t>
            </a:r>
            <a:r>
              <a:rPr lang="en-US" dirty="0"/>
              <a:t> - </a:t>
            </a:r>
            <a:r>
              <a:rPr lang="en-US" dirty="0" err="1"/>
              <a:t>většina</a:t>
            </a:r>
            <a:r>
              <a:rPr lang="en-US" dirty="0"/>
              <a:t> </a:t>
            </a:r>
            <a:r>
              <a:rPr lang="en-US" dirty="0" err="1"/>
              <a:t>obětí</a:t>
            </a:r>
            <a:r>
              <a:rPr lang="en-US" dirty="0"/>
              <a:t> </a:t>
            </a:r>
            <a:r>
              <a:rPr lang="en-US" dirty="0" err="1"/>
              <a:t>byla</a:t>
            </a:r>
            <a:r>
              <a:rPr lang="en-US" dirty="0"/>
              <a:t> </a:t>
            </a:r>
            <a:r>
              <a:rPr lang="en-US" dirty="0" err="1"/>
              <a:t>ozbrojená</a:t>
            </a:r>
            <a:r>
              <a:rPr lang="en-US" dirty="0"/>
              <a:t>, </a:t>
            </a:r>
            <a:r>
              <a:rPr lang="en-US" dirty="0" err="1"/>
              <a:t>nejčastěji</a:t>
            </a:r>
            <a:r>
              <a:rPr lang="en-US" dirty="0"/>
              <a:t> </a:t>
            </a:r>
            <a:r>
              <a:rPr lang="en-US" dirty="0" err="1"/>
              <a:t>střelnou</a:t>
            </a:r>
            <a:r>
              <a:rPr lang="en-US" dirty="0"/>
              <a:t> </a:t>
            </a:r>
            <a:r>
              <a:rPr lang="en-US" dirty="0" err="1"/>
              <a:t>zbraní</a:t>
            </a:r>
            <a:r>
              <a:rPr lang="en-US" dirty="0"/>
              <a:t>. 65% </a:t>
            </a:r>
            <a:r>
              <a:rPr lang="en-US" dirty="0" err="1"/>
              <a:t>incidentů</a:t>
            </a:r>
            <a:r>
              <a:rPr lang="en-US" dirty="0"/>
              <a:t> </a:t>
            </a:r>
            <a:r>
              <a:rPr lang="en-US" dirty="0" err="1"/>
              <a:t>bylo</a:t>
            </a:r>
            <a:r>
              <a:rPr lang="en-US" dirty="0"/>
              <a:t> </a:t>
            </a:r>
            <a:r>
              <a:rPr lang="en-US" dirty="0" err="1"/>
              <a:t>klasifikováno</a:t>
            </a:r>
            <a:r>
              <a:rPr lang="en-US" dirty="0"/>
              <a:t> </a:t>
            </a:r>
            <a:r>
              <a:rPr lang="en-US" dirty="0" err="1"/>
              <a:t>jako</a:t>
            </a:r>
            <a:r>
              <a:rPr lang="en-US" dirty="0"/>
              <a:t> </a:t>
            </a:r>
            <a:r>
              <a:rPr lang="en-US" dirty="0" err="1"/>
              <a:t>útok</a:t>
            </a:r>
            <a:r>
              <a:rPr lang="en-US" dirty="0"/>
              <a:t>. </a:t>
            </a:r>
            <a:r>
              <a:rPr lang="en-US" dirty="0" err="1"/>
              <a:t>Větší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používají</a:t>
            </a:r>
            <a:r>
              <a:rPr lang="en-US" dirty="0"/>
              <a:t> body </a:t>
            </a:r>
            <a:r>
              <a:rPr lang="en-US" dirty="0" err="1"/>
              <a:t>kamery</a:t>
            </a:r>
            <a:r>
              <a:rPr lang="en-US" dirty="0"/>
              <a:t> </a:t>
            </a:r>
            <a:r>
              <a:rPr lang="en-US" dirty="0" err="1"/>
              <a:t>častěji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571570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Hlavní</a:t>
            </a:r>
            <a:r>
              <a:rPr lang="en-US" dirty="0"/>
              <a:t> </a:t>
            </a:r>
            <a:r>
              <a:rPr lang="en-US" dirty="0" err="1"/>
              <a:t>zjištění</a:t>
            </a:r>
            <a:r>
              <a:rPr lang="en-US" dirty="0"/>
              <a:t> </a:t>
            </a:r>
            <a:r>
              <a:rPr lang="en-US" dirty="0" err="1"/>
              <a:t>práce</a:t>
            </a:r>
            <a:r>
              <a:rPr lang="en-US" dirty="0"/>
              <a:t> </a:t>
            </a:r>
            <a:r>
              <a:rPr lang="en-US" dirty="0" err="1"/>
              <a:t>nazývám</a:t>
            </a:r>
            <a:r>
              <a:rPr lang="en-US" dirty="0"/>
              <a:t> Paradox </a:t>
            </a:r>
            <a:r>
              <a:rPr lang="en-US" dirty="0" err="1"/>
              <a:t>policejního</a:t>
            </a:r>
            <a:r>
              <a:rPr lang="en-US" dirty="0"/>
              <a:t> </a:t>
            </a:r>
            <a:r>
              <a:rPr lang="en-US" dirty="0" err="1"/>
              <a:t>rozpočtu</a:t>
            </a:r>
            <a:r>
              <a:rPr lang="en-US" dirty="0"/>
              <a:t>. </a:t>
            </a:r>
            <a:r>
              <a:rPr lang="en-US" dirty="0" err="1"/>
              <a:t>Korelace</a:t>
            </a:r>
            <a:r>
              <a:rPr lang="en-US" dirty="0"/>
              <a:t> je </a:t>
            </a:r>
            <a:r>
              <a:rPr lang="en-US" dirty="0" err="1"/>
              <a:t>téměř</a:t>
            </a:r>
            <a:r>
              <a:rPr lang="en-US" dirty="0"/>
              <a:t> </a:t>
            </a:r>
            <a:r>
              <a:rPr lang="en-US" dirty="0" err="1"/>
              <a:t>nulová</a:t>
            </a:r>
            <a:r>
              <a:rPr lang="en-US" dirty="0"/>
              <a:t> - r </a:t>
            </a:r>
            <a:r>
              <a:rPr lang="en-US" dirty="0" err="1"/>
              <a:t>rovná</a:t>
            </a:r>
            <a:r>
              <a:rPr lang="en-US" dirty="0"/>
              <a:t> se 0,09. </a:t>
            </a:r>
            <a:r>
              <a:rPr lang="en-US" dirty="0" err="1"/>
              <a:t>Města</a:t>
            </a:r>
            <a:r>
              <a:rPr lang="en-US" dirty="0"/>
              <a:t> s </a:t>
            </a:r>
            <a:r>
              <a:rPr lang="en-US" dirty="0" err="1"/>
              <a:t>vysokým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dokonce</a:t>
            </a:r>
            <a:r>
              <a:rPr lang="en-US" dirty="0"/>
              <a:t> </a:t>
            </a:r>
            <a:r>
              <a:rPr lang="en-US" dirty="0" err="1"/>
              <a:t>vyšší</a:t>
            </a:r>
            <a:r>
              <a:rPr lang="en-US" dirty="0"/>
              <a:t> </a:t>
            </a:r>
            <a:r>
              <a:rPr lang="en-US" dirty="0" err="1"/>
              <a:t>pravděpodobnost</a:t>
            </a:r>
            <a:r>
              <a:rPr lang="en-US" dirty="0"/>
              <a:t> </a:t>
            </a:r>
            <a:r>
              <a:rPr lang="en-US" dirty="0" err="1"/>
              <a:t>vysoké</a:t>
            </a:r>
            <a:r>
              <a:rPr lang="en-US" dirty="0"/>
              <a:t> </a:t>
            </a:r>
            <a:r>
              <a:rPr lang="en-US" dirty="0" err="1"/>
              <a:t>míry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- 69,4% </a:t>
            </a:r>
            <a:r>
              <a:rPr lang="en-US" dirty="0" err="1"/>
              <a:t>podle</a:t>
            </a:r>
            <a:r>
              <a:rPr lang="en-US" dirty="0"/>
              <a:t> 4ft-Miner </a:t>
            </a:r>
            <a:r>
              <a:rPr lang="en-US" dirty="0" err="1"/>
              <a:t>pravidla</a:t>
            </a:r>
            <a:r>
              <a:rPr lang="en-US" dirty="0"/>
              <a:t>.</a:t>
            </a:r>
            <a:endParaRPr lang="cs-CZ" dirty="0"/>
          </a:p>
          <a:p>
            <a:r>
              <a:rPr lang="en-US" dirty="0" err="1"/>
              <a:t>Interpretace</a:t>
            </a:r>
            <a:r>
              <a:rPr lang="en-US" dirty="0"/>
              <a:t>: Vyšší </a:t>
            </a:r>
            <a:r>
              <a:rPr lang="en-US" dirty="0" err="1"/>
              <a:t>rozpočet</a:t>
            </a:r>
            <a:r>
              <a:rPr lang="en-US" dirty="0"/>
              <a:t> </a:t>
            </a:r>
            <a:r>
              <a:rPr lang="en-US" dirty="0" err="1"/>
              <a:t>automaticky</a:t>
            </a:r>
            <a:r>
              <a:rPr lang="en-US" dirty="0"/>
              <a:t> </a:t>
            </a:r>
            <a:r>
              <a:rPr lang="en-US" dirty="0" err="1"/>
              <a:t>neznamená</a:t>
            </a:r>
            <a:r>
              <a:rPr lang="en-US" dirty="0"/>
              <a:t> </a:t>
            </a:r>
            <a:r>
              <a:rPr lang="en-US" dirty="0" err="1"/>
              <a:t>méně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. </a:t>
            </a:r>
            <a:r>
              <a:rPr lang="en-US" dirty="0" err="1"/>
              <a:t>Zajímavé</a:t>
            </a:r>
            <a:r>
              <a:rPr lang="en-US" dirty="0"/>
              <a:t> je,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velká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paradoxně</a:t>
            </a:r>
            <a:r>
              <a:rPr lang="en-US" dirty="0"/>
              <a:t> </a:t>
            </a:r>
            <a:r>
              <a:rPr lang="en-US" dirty="0" err="1"/>
              <a:t>nejnižší</a:t>
            </a:r>
            <a:r>
              <a:rPr lang="en-US" dirty="0"/>
              <a:t> </a:t>
            </a:r>
            <a:r>
              <a:rPr lang="en-US" dirty="0" err="1"/>
              <a:t>relativní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- </a:t>
            </a:r>
            <a:r>
              <a:rPr lang="en-US" dirty="0" err="1"/>
              <a:t>pouze</a:t>
            </a:r>
            <a:r>
              <a:rPr lang="en-US" dirty="0"/>
              <a:t> 28,9% v </a:t>
            </a:r>
            <a:r>
              <a:rPr lang="en-US" dirty="0" err="1"/>
              <a:t>kategorii</a:t>
            </a:r>
            <a:r>
              <a:rPr lang="en-US" dirty="0"/>
              <a:t> High Rate, </a:t>
            </a:r>
            <a:r>
              <a:rPr lang="en-US" dirty="0" err="1"/>
              <a:t>zatímco</a:t>
            </a:r>
            <a:r>
              <a:rPr lang="en-US" dirty="0"/>
              <a:t> </a:t>
            </a:r>
            <a:r>
              <a:rPr lang="en-US" dirty="0" err="1"/>
              <a:t>střední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63,5%.</a:t>
            </a:r>
            <a:endParaRPr lang="cs-CZ" dirty="0"/>
          </a:p>
          <a:p>
            <a:endParaRPr lang="en-US" dirty="0"/>
          </a:p>
          <a:p>
            <a:r>
              <a:rPr lang="en-US" dirty="0" err="1"/>
              <a:t>Praktická</a:t>
            </a:r>
            <a:r>
              <a:rPr lang="en-US" dirty="0"/>
              <a:t> </a:t>
            </a:r>
            <a:r>
              <a:rPr lang="en-US" dirty="0" err="1"/>
              <a:t>aplikace</a:t>
            </a:r>
            <a:r>
              <a:rPr lang="en-US" dirty="0"/>
              <a:t>: Je </a:t>
            </a:r>
            <a:r>
              <a:rPr lang="en-US" dirty="0" err="1"/>
              <a:t>potřeba</a:t>
            </a:r>
            <a:r>
              <a:rPr lang="en-US" dirty="0"/>
              <a:t> </a:t>
            </a:r>
            <a:r>
              <a:rPr lang="en-US" dirty="0" err="1"/>
              <a:t>přesměrovat</a:t>
            </a:r>
            <a:r>
              <a:rPr lang="en-US" dirty="0"/>
              <a:t> </a:t>
            </a:r>
            <a:r>
              <a:rPr lang="en-US" dirty="0" err="1"/>
              <a:t>debatu</a:t>
            </a:r>
            <a:r>
              <a:rPr lang="en-US" dirty="0"/>
              <a:t> z </a:t>
            </a:r>
            <a:r>
              <a:rPr lang="en-US" dirty="0" err="1"/>
              <a:t>otázky</a:t>
            </a:r>
            <a:r>
              <a:rPr lang="en-US" dirty="0"/>
              <a:t> '</a:t>
            </a:r>
            <a:r>
              <a:rPr lang="en-US" dirty="0" err="1"/>
              <a:t>kolik</a:t>
            </a:r>
            <a:r>
              <a:rPr lang="en-US" dirty="0"/>
              <a:t> </a:t>
            </a:r>
            <a:r>
              <a:rPr lang="en-US" dirty="0" err="1"/>
              <a:t>peněz</a:t>
            </a:r>
            <a:r>
              <a:rPr lang="en-US" dirty="0"/>
              <a:t>' </a:t>
            </a:r>
            <a:r>
              <a:rPr lang="en-US" dirty="0" err="1"/>
              <a:t>na</a:t>
            </a:r>
            <a:r>
              <a:rPr lang="en-US" dirty="0"/>
              <a:t> 'jak </a:t>
            </a:r>
            <a:r>
              <a:rPr lang="en-US" dirty="0" err="1"/>
              <a:t>efektivně</a:t>
            </a:r>
            <a:r>
              <a:rPr lang="en-US" dirty="0"/>
              <a:t> </a:t>
            </a:r>
            <a:r>
              <a:rPr lang="en-US" dirty="0" err="1"/>
              <a:t>peníze</a:t>
            </a:r>
            <a:r>
              <a:rPr lang="en-US" dirty="0"/>
              <a:t> </a:t>
            </a:r>
            <a:r>
              <a:rPr lang="en-US" dirty="0" err="1"/>
              <a:t>využít</a:t>
            </a:r>
            <a:r>
              <a:rPr lang="en-US" dirty="0"/>
              <a:t>'.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24084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SD4ft-Miner </a:t>
            </a:r>
            <a:r>
              <a:rPr lang="en-US" dirty="0" err="1"/>
              <a:t>odhalil</a:t>
            </a:r>
            <a:r>
              <a:rPr lang="en-US" dirty="0"/>
              <a:t> </a:t>
            </a:r>
            <a:r>
              <a:rPr lang="en-US" dirty="0" err="1"/>
              <a:t>rasové</a:t>
            </a:r>
            <a:r>
              <a:rPr lang="en-US" dirty="0"/>
              <a:t> disparity u neozbrojených obětí. Černošské oběti mají o 31% vyšší pravděpodobnost být neozbrojené než bílé oběti. Hispánské oběti dokonce o 42% vyšší. Chi-square test potvrzuje statistickou významnost s p-value pod 0,01.</a:t>
            </a:r>
            <a:endParaRPr lang="cs-CZ"/>
          </a:p>
          <a:p>
            <a:r>
              <a:rPr lang="en-US" dirty="0" err="1"/>
              <a:t>Konkrétně</a:t>
            </a:r>
            <a:r>
              <a:rPr lang="en-US" dirty="0"/>
              <a:t>: 12,4% </a:t>
            </a:r>
            <a:r>
              <a:rPr lang="en-US" dirty="0" err="1"/>
              <a:t>černošských</a:t>
            </a:r>
            <a:r>
              <a:rPr lang="en-US" dirty="0"/>
              <a:t> obětí bylo neozbrojených, 13,5% hispánských, ale pouze 9,5% bílých. To naznačuje potřebu přezkoumat policejní procedury pro hodnocení hrozby.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639253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4ft-Miner </a:t>
            </a:r>
            <a:r>
              <a:rPr lang="en-US" dirty="0" err="1"/>
              <a:t>identifikoval</a:t>
            </a:r>
            <a:r>
              <a:rPr lang="en-US" dirty="0"/>
              <a:t> </a:t>
            </a:r>
            <a:r>
              <a:rPr lang="en-US" dirty="0" err="1"/>
              <a:t>specifickou</a:t>
            </a:r>
            <a:r>
              <a:rPr lang="en-US" dirty="0"/>
              <a:t> </a:t>
            </a:r>
            <a:r>
              <a:rPr lang="en-US" dirty="0" err="1"/>
              <a:t>rizikovou</a:t>
            </a:r>
            <a:r>
              <a:rPr lang="en-US" dirty="0"/>
              <a:t> </a:t>
            </a:r>
            <a:r>
              <a:rPr lang="en-US" dirty="0" err="1"/>
              <a:t>skupinu</a:t>
            </a:r>
            <a:r>
              <a:rPr lang="en-US" dirty="0"/>
              <a:t>: </a:t>
            </a:r>
            <a:r>
              <a:rPr lang="en-US" dirty="0" err="1"/>
              <a:t>starší</a:t>
            </a:r>
            <a:r>
              <a:rPr lang="en-US" dirty="0"/>
              <a:t> </a:t>
            </a:r>
            <a:r>
              <a:rPr lang="en-US" dirty="0" err="1"/>
              <a:t>bílé</a:t>
            </a:r>
            <a:r>
              <a:rPr lang="en-US" dirty="0"/>
              <a:t> </a:t>
            </a:r>
            <a:r>
              <a:rPr lang="en-US" dirty="0" err="1"/>
              <a:t>oběti</a:t>
            </a:r>
            <a:r>
              <a:rPr lang="en-US" dirty="0"/>
              <a:t> s </a:t>
            </a:r>
            <a:r>
              <a:rPr lang="en-US" dirty="0" err="1"/>
              <a:t>duševním</a:t>
            </a:r>
            <a:r>
              <a:rPr lang="en-US" dirty="0"/>
              <a:t> </a:t>
            </a:r>
            <a:r>
              <a:rPr lang="en-US" dirty="0" err="1"/>
              <a:t>onemocněním</a:t>
            </a:r>
            <a:r>
              <a:rPr lang="en-US" dirty="0"/>
              <a:t>. Tato </a:t>
            </a:r>
            <a:r>
              <a:rPr lang="en-US" dirty="0" err="1"/>
              <a:t>kombinace</a:t>
            </a:r>
            <a:r>
              <a:rPr lang="en-US" dirty="0"/>
              <a:t> </a:t>
            </a:r>
            <a:r>
              <a:rPr lang="en-US" dirty="0" err="1"/>
              <a:t>má</a:t>
            </a:r>
            <a:r>
              <a:rPr lang="en-US" dirty="0"/>
              <a:t> confidence 38,3% s AAD plus 102%, </a:t>
            </a:r>
            <a:r>
              <a:rPr lang="en-US" dirty="0" err="1"/>
              <a:t>tedy</a:t>
            </a:r>
            <a:r>
              <a:rPr lang="en-US" dirty="0"/>
              <a:t> </a:t>
            </a:r>
            <a:r>
              <a:rPr lang="en-US" dirty="0" err="1"/>
              <a:t>více</a:t>
            </a:r>
            <a:r>
              <a:rPr lang="en-US" dirty="0"/>
              <a:t> </a:t>
            </a:r>
            <a:r>
              <a:rPr lang="en-US" dirty="0" err="1"/>
              <a:t>než</a:t>
            </a:r>
            <a:r>
              <a:rPr lang="en-US" dirty="0"/>
              <a:t> </a:t>
            </a:r>
            <a:r>
              <a:rPr lang="en-US" dirty="0" err="1"/>
              <a:t>dvojnásobek</a:t>
            </a:r>
            <a:r>
              <a:rPr lang="en-US" dirty="0"/>
              <a:t> </a:t>
            </a:r>
            <a:r>
              <a:rPr lang="en-US" dirty="0" err="1"/>
              <a:t>průměru</a:t>
            </a:r>
            <a:r>
              <a:rPr lang="en-US" dirty="0"/>
              <a:t>. Chi-square test pro </a:t>
            </a:r>
            <a:r>
              <a:rPr lang="en-US" dirty="0" err="1"/>
              <a:t>věk</a:t>
            </a:r>
            <a:r>
              <a:rPr lang="en-US" dirty="0"/>
              <a:t> versus </a:t>
            </a:r>
            <a:r>
              <a:rPr lang="en-US" dirty="0" err="1"/>
              <a:t>duševní</a:t>
            </a:r>
            <a:r>
              <a:rPr lang="en-US" dirty="0"/>
              <a:t> </a:t>
            </a:r>
            <a:r>
              <a:rPr lang="en-US" dirty="0" err="1"/>
              <a:t>onemocnění</a:t>
            </a:r>
            <a:r>
              <a:rPr lang="en-US" dirty="0"/>
              <a:t> je </a:t>
            </a:r>
            <a:r>
              <a:rPr lang="en-US" dirty="0" err="1"/>
              <a:t>vysoce</a:t>
            </a:r>
            <a:r>
              <a:rPr lang="en-US" dirty="0"/>
              <a:t> </a:t>
            </a:r>
            <a:r>
              <a:rPr lang="en-US" dirty="0" err="1"/>
              <a:t>signifikantní</a:t>
            </a:r>
            <a:r>
              <a:rPr lang="en-US" dirty="0"/>
              <a:t> s p-value 0,0008.</a:t>
            </a:r>
            <a:endParaRPr lang="cs-CZ" dirty="0"/>
          </a:p>
          <a:p>
            <a:endParaRPr lang="en-US" dirty="0"/>
          </a:p>
          <a:p>
            <a:r>
              <a:rPr lang="en-US" dirty="0" err="1"/>
              <a:t>Praktická</a:t>
            </a:r>
            <a:r>
              <a:rPr lang="en-US" dirty="0"/>
              <a:t> </a:t>
            </a:r>
            <a:r>
              <a:rPr lang="en-US" dirty="0" err="1"/>
              <a:t>aplikace</a:t>
            </a:r>
            <a:r>
              <a:rPr lang="en-US" dirty="0"/>
              <a:t>: </a:t>
            </a:r>
            <a:r>
              <a:rPr lang="en-US" dirty="0" err="1"/>
              <a:t>Vytvoření</a:t>
            </a:r>
            <a:r>
              <a:rPr lang="en-US" dirty="0"/>
              <a:t> </a:t>
            </a:r>
            <a:r>
              <a:rPr lang="en-US" dirty="0" err="1"/>
              <a:t>specializovaných</a:t>
            </a:r>
            <a:r>
              <a:rPr lang="en-US" dirty="0"/>
              <a:t> </a:t>
            </a:r>
            <a:r>
              <a:rPr lang="en-US" dirty="0" err="1"/>
              <a:t>jednotek</a:t>
            </a:r>
            <a:r>
              <a:rPr lang="en-US" dirty="0"/>
              <a:t> pro mental health crisis, </a:t>
            </a:r>
            <a:r>
              <a:rPr lang="en-US" dirty="0" err="1"/>
              <a:t>takzvané</a:t>
            </a:r>
            <a:r>
              <a:rPr lang="en-US" dirty="0"/>
              <a:t> CIT teams, s </a:t>
            </a:r>
            <a:r>
              <a:rPr lang="en-US" dirty="0" err="1"/>
              <a:t>prioritou</a:t>
            </a:r>
            <a:r>
              <a:rPr lang="en-US" dirty="0"/>
              <a:t> v </a:t>
            </a:r>
            <a:r>
              <a:rPr lang="en-US" dirty="0" err="1"/>
              <a:t>oblastech</a:t>
            </a:r>
            <a:r>
              <a:rPr lang="en-US" dirty="0"/>
              <a:t> s </a:t>
            </a:r>
            <a:r>
              <a:rPr lang="en-US" dirty="0" err="1"/>
              <a:t>vyšším</a:t>
            </a:r>
            <a:r>
              <a:rPr lang="en-US" dirty="0"/>
              <a:t> </a:t>
            </a:r>
            <a:r>
              <a:rPr lang="en-US" dirty="0" err="1"/>
              <a:t>podílem</a:t>
            </a:r>
            <a:r>
              <a:rPr lang="en-US" dirty="0"/>
              <a:t> </a:t>
            </a:r>
            <a:r>
              <a:rPr lang="en-US" dirty="0" err="1"/>
              <a:t>seniorů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37730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Nejsilnější</a:t>
            </a:r>
            <a:r>
              <a:rPr lang="en-US" dirty="0"/>
              <a:t> </a:t>
            </a:r>
            <a:r>
              <a:rPr lang="en-US" dirty="0" err="1"/>
              <a:t>nalezený</a:t>
            </a:r>
            <a:r>
              <a:rPr lang="en-US" dirty="0"/>
              <a:t> </a:t>
            </a:r>
            <a:r>
              <a:rPr lang="en-US" dirty="0" err="1"/>
              <a:t>vztah</a:t>
            </a:r>
            <a:r>
              <a:rPr lang="en-US" dirty="0"/>
              <a:t> je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velikostí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a </a:t>
            </a:r>
            <a:r>
              <a:rPr lang="en-US" dirty="0" err="1"/>
              <a:t>relativní</a:t>
            </a:r>
            <a:r>
              <a:rPr lang="en-US" dirty="0"/>
              <a:t> </a:t>
            </a:r>
            <a:r>
              <a:rPr lang="en-US" dirty="0" err="1"/>
              <a:t>mírou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- Cramer's V 0,2357, p-value </a:t>
            </a:r>
            <a:r>
              <a:rPr lang="en-US" dirty="0" err="1"/>
              <a:t>prakticky</a:t>
            </a:r>
            <a:r>
              <a:rPr lang="en-US" dirty="0"/>
              <a:t> </a:t>
            </a:r>
            <a:r>
              <a:rPr lang="en-US" dirty="0" err="1"/>
              <a:t>nulová</a:t>
            </a:r>
            <a:r>
              <a:rPr lang="en-US" dirty="0"/>
              <a:t>. Malá a </a:t>
            </a:r>
            <a:r>
              <a:rPr lang="en-US" dirty="0" err="1"/>
              <a:t>střední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kolem</a:t>
            </a:r>
            <a:r>
              <a:rPr lang="en-US" dirty="0"/>
              <a:t> 62% </a:t>
            </a:r>
            <a:r>
              <a:rPr lang="en-US" dirty="0" err="1"/>
              <a:t>případů</a:t>
            </a:r>
            <a:r>
              <a:rPr lang="en-US" dirty="0"/>
              <a:t> v </a:t>
            </a:r>
            <a:r>
              <a:rPr lang="en-US" dirty="0" err="1"/>
              <a:t>kategorii</a:t>
            </a:r>
            <a:r>
              <a:rPr lang="en-US" dirty="0"/>
              <a:t> High Rate, </a:t>
            </a:r>
            <a:r>
              <a:rPr lang="en-US" dirty="0" err="1"/>
              <a:t>zatímco</a:t>
            </a:r>
            <a:r>
              <a:rPr lang="en-US" dirty="0"/>
              <a:t> </a:t>
            </a:r>
            <a:r>
              <a:rPr lang="en-US" dirty="0" err="1"/>
              <a:t>velká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pouze</a:t>
            </a:r>
            <a:r>
              <a:rPr lang="en-US" dirty="0"/>
              <a:t> 29%.</a:t>
            </a:r>
            <a:endParaRPr lang="cs-CZ" dirty="0"/>
          </a:p>
          <a:p>
            <a:r>
              <a:rPr lang="en-US" dirty="0" err="1"/>
              <a:t>Interpretace</a:t>
            </a:r>
            <a:r>
              <a:rPr lang="en-US" dirty="0"/>
              <a:t>: </a:t>
            </a:r>
            <a:r>
              <a:rPr lang="en-US" dirty="0" err="1"/>
              <a:t>Menší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výrazně</a:t>
            </a:r>
            <a:r>
              <a:rPr lang="en-US" dirty="0"/>
              <a:t> </a:t>
            </a:r>
            <a:r>
              <a:rPr lang="en-US" dirty="0" err="1"/>
              <a:t>vyšší</a:t>
            </a:r>
            <a:r>
              <a:rPr lang="en-US" dirty="0"/>
              <a:t> </a:t>
            </a:r>
            <a:r>
              <a:rPr lang="en-US" dirty="0" err="1"/>
              <a:t>relativní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100 </a:t>
            </a:r>
            <a:r>
              <a:rPr lang="en-US" dirty="0" err="1"/>
              <a:t>tisíc</a:t>
            </a:r>
            <a:r>
              <a:rPr lang="en-US" dirty="0"/>
              <a:t> </a:t>
            </a:r>
            <a:r>
              <a:rPr lang="en-US" dirty="0" err="1"/>
              <a:t>obyvatel</a:t>
            </a:r>
            <a:r>
              <a:rPr lang="en-US" dirty="0"/>
              <a:t>. </a:t>
            </a:r>
            <a:r>
              <a:rPr lang="en-US" dirty="0" err="1"/>
              <a:t>Praktická</a:t>
            </a:r>
            <a:r>
              <a:rPr lang="en-US" dirty="0"/>
              <a:t> </a:t>
            </a:r>
            <a:r>
              <a:rPr lang="en-US" dirty="0" err="1"/>
              <a:t>aplikace</a:t>
            </a:r>
            <a:r>
              <a:rPr lang="en-US" dirty="0"/>
              <a:t>: </a:t>
            </a:r>
            <a:r>
              <a:rPr lang="en-US" dirty="0" err="1"/>
              <a:t>Cílit</a:t>
            </a:r>
            <a:r>
              <a:rPr lang="en-US" dirty="0"/>
              <a:t> </a:t>
            </a:r>
            <a:r>
              <a:rPr lang="en-US" dirty="0" err="1"/>
              <a:t>preventivní</a:t>
            </a:r>
            <a:r>
              <a:rPr lang="en-US" dirty="0"/>
              <a:t> </a:t>
            </a:r>
            <a:r>
              <a:rPr lang="en-US" dirty="0" err="1"/>
              <a:t>programy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malá</a:t>
            </a:r>
            <a:r>
              <a:rPr lang="en-US" dirty="0"/>
              <a:t> a </a:t>
            </a:r>
            <a:r>
              <a:rPr lang="en-US" dirty="0" err="1"/>
              <a:t>střední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a </a:t>
            </a:r>
            <a:r>
              <a:rPr lang="en-US" dirty="0" err="1"/>
              <a:t>sdílet</a:t>
            </a:r>
            <a:r>
              <a:rPr lang="en-US" dirty="0"/>
              <a:t> best practices z </a:t>
            </a:r>
            <a:r>
              <a:rPr lang="en-US" dirty="0" err="1"/>
              <a:t>velkých</a:t>
            </a:r>
            <a:r>
              <a:rPr lang="en-US" dirty="0"/>
              <a:t> </a:t>
            </a:r>
            <a:r>
              <a:rPr lang="en-US" dirty="0" err="1"/>
              <a:t>měst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13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07048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601C6-9A0C-4A2F-9361-88D10206EF23}" type="slidenum">
              <a:rPr lang="cs-CZ" smtClean="0"/>
              <a:t>14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441740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cs-CZ" dirty="0">
              <a:solidFill>
                <a:srgbClr val="FF0000"/>
              </a:solidFill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601C6-9A0C-4A2F-9361-88D10206EF23}" type="slidenum">
              <a:rPr lang="cs-CZ" smtClean="0"/>
              <a:t>15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260484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601C6-9A0C-4A2F-9361-88D10206EF23}" type="slidenum">
              <a:rPr lang="cs-CZ" smtClean="0"/>
              <a:t>16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99625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0815" indent="-170815"/>
            <a:endParaRPr lang="cs-CZ" sz="240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601C6-9A0C-4A2F-9361-88D10206EF23}" type="slidenum">
              <a:rPr lang="cs-CZ" smtClean="0"/>
              <a:t>17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5993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2389DD16-FB00-4D9A-B48C-50050FDDC1F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838009" y="933549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00988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6BBD7AF0-0104-49C6-B49F-55B685879E0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38009" y="1245177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rgbClr val="4A4A49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Název katedry / oddělení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6609EC98-6EA4-4C3E-A04D-5D810F2A42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8DECF7AF-89F1-4012-9B20-327F67C10B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054176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9235DDD2-26F3-4A0D-93F4-FB32B5B241D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838009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89F7E2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D7300AA5-064D-49EA-BBBE-873363EE3286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38009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Jmeno.prijmeni@vse.cz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2206462F-D376-411D-9D76-52EE5EED75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A3092441-B532-4881-997F-6A08EF51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 dirty="0"/>
              <a:t>Kliknutím můžete upravit styl předlohy.</a:t>
            </a:r>
          </a:p>
        </p:txBody>
      </p:sp>
    </p:spTree>
    <p:extLst>
      <p:ext uri="{BB962C8B-B14F-4D97-AF65-F5344CB8AC3E}">
        <p14:creationId xmlns:p14="http://schemas.microsoft.com/office/powerpoint/2010/main" val="3727089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1FEBE9D-4844-416F-A47B-E71F5CB39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D6471AA-641D-48E4-895F-2C70DDA4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24055"/>
            <a:ext cx="7779544" cy="449337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D51239B-9FE1-4DB1-BD79-B7D38D332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E3E641A-DC32-4DD9-8307-46D9DFF5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92F49C3-090D-4190-9CE2-36066030C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37968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AB441-3D76-4218-81BE-D7E4F3F92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A84F63F-E322-46AC-A5C6-E1540E1BD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939DC5B-E1B0-4FCB-9D9A-C6471A28B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A462326-6725-45D6-8FAC-124BEDCD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B92F161-156E-4802-8F1B-078DF89F7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54167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FA8AAD-C4A1-48ED-8D79-3AB4069FE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3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9D2D865-A902-4D7C-A0B5-B2C4BB1953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8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CC5CC91-7444-4FBB-B6F3-3E6FBD5B3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C05772A-E403-4DD1-B232-954A3547E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1A89E5D0-757E-45AA-8FEA-238040FBC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76233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8401FF8-98E7-49CB-8B33-E139EF39E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F8276E-A998-4BB7-B53A-49EC37A410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53073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55672645-DFF8-41C8-8BAC-5F24D188F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4"/>
            <a:ext cx="3886200" cy="4530729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23C31C8-960E-4A18-BC09-35D75D589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BE33D9D5-2EC6-4E2A-AA85-6FCF97D65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F1E174-D347-4AB1-95DE-ECA0F485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11119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E112A9-1FE6-4496-81B4-0842D25D8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1012830"/>
            <a:ext cx="7886700" cy="1325563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F9BFB9E-5D3E-46B3-ABDB-B7E57DAC61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6502C15-7789-4EE7-A643-5A633ABA3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85128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C6F85072-0475-4304-BE03-A72EA7AC39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2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2F1610A2-3C29-4B70-AF60-C2A3EBCE3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2" y="2505074"/>
            <a:ext cx="3887391" cy="3851279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72C164E5-0EFB-46F1-BB95-CBBAC80C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54FD1153-99E6-4ECA-BF33-0E377D334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56282298-48D6-4F29-8798-A54B0577B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20216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G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843D58-00E6-4F74-B46F-884BB073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D11A4E0E-761B-449A-9AA3-FAB726390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ED2199A-57B9-4C7C-A04D-6C8B8FF2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5D08B6B-5218-473D-BD06-9695102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39516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Graf vz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843D58-00E6-4F74-B46F-884BB073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D11A4E0E-761B-449A-9AA3-FAB726390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ED2199A-57B9-4C7C-A04D-6C8B8FF2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5D08B6B-5218-473D-BD06-9695102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8" name="Graf 7">
            <a:extLst>
              <a:ext uri="{FF2B5EF4-FFF2-40B4-BE49-F238E27FC236}">
                <a16:creationId xmlns:a16="http://schemas.microsoft.com/office/drawing/2014/main" id="{A2CFF3E3-BFCF-4550-86A1-C1FA2629A69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058343424"/>
              </p:ext>
            </p:extLst>
          </p:nvPr>
        </p:nvGraphicFramePr>
        <p:xfrm>
          <a:off x="628652" y="1990725"/>
          <a:ext cx="7779543" cy="4147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46088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u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4B6AD0B-CD39-418F-BD86-753F9D93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AF3563E2-1FFA-41D6-A180-AB12573EE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07A9ED8-2B82-40D5-A9B1-F2B165B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sp>
        <p:nvSpPr>
          <p:cNvPr id="14" name="Nadpis 1">
            <a:extLst>
              <a:ext uri="{FF2B5EF4-FFF2-40B4-BE49-F238E27FC236}">
                <a16:creationId xmlns:a16="http://schemas.microsoft.com/office/drawing/2014/main" id="{3595AC0D-E641-4E07-B2CB-74274830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224159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ulka vz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4B6AD0B-CD39-418F-BD86-753F9D93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AF3563E2-1FFA-41D6-A180-AB12573EE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07A9ED8-2B82-40D5-A9B1-F2B165B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5" name="Tabulka 5">
            <a:extLst>
              <a:ext uri="{FF2B5EF4-FFF2-40B4-BE49-F238E27FC236}">
                <a16:creationId xmlns:a16="http://schemas.microsoft.com/office/drawing/2014/main" id="{9841DB2C-4E87-4F77-9936-DB53842AFF3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49251074"/>
              </p:ext>
            </p:extLst>
          </p:nvPr>
        </p:nvGraphicFramePr>
        <p:xfrm>
          <a:off x="731521" y="2152650"/>
          <a:ext cx="7581899" cy="3605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525">
                  <a:extLst>
                    <a:ext uri="{9D8B030D-6E8A-4147-A177-3AD203B41FA5}">
                      <a16:colId xmlns:a16="http://schemas.microsoft.com/office/drawing/2014/main" val="1219353005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04635521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1360489622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242154581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4556206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004064892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1769508777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3799914238"/>
                    </a:ext>
                  </a:extLst>
                </a:gridCol>
                <a:gridCol w="857699">
                  <a:extLst>
                    <a:ext uri="{9D8B030D-6E8A-4147-A177-3AD203B41FA5}">
                      <a16:colId xmlns:a16="http://schemas.microsoft.com/office/drawing/2014/main" val="1835371581"/>
                    </a:ext>
                  </a:extLst>
                </a:gridCol>
              </a:tblGrid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50454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12970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03975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737182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019941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095225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294286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252544"/>
                  </a:ext>
                </a:extLst>
              </a:tr>
            </a:tbl>
          </a:graphicData>
        </a:graphic>
      </p:graphicFrame>
      <p:sp>
        <p:nvSpPr>
          <p:cNvPr id="14" name="Nadpis 1">
            <a:extLst>
              <a:ext uri="{FF2B5EF4-FFF2-40B4-BE49-F238E27FC236}">
                <a16:creationId xmlns:a16="http://schemas.microsoft.com/office/drawing/2014/main" id="{3595AC0D-E641-4E07-B2CB-74274830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926611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B75CB4D-7416-4123-83CE-C769D1CEF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987429"/>
            <a:ext cx="2949178" cy="106997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D0998F7-E90D-471F-891C-0FD12349B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30"/>
            <a:ext cx="4629150" cy="536892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0F5FE98-251D-4D3C-B8B7-DADD6DEB8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399"/>
            <a:ext cx="2949178" cy="4298955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390EA42-058E-4D22-B615-D930D64C6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E78A484A-2BA3-41B7-86CF-5D3F9304C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C01B4CD1-4B53-455D-AE40-D95A24E4F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0010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697884-28AE-4700-9C13-68750D37E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987429"/>
            <a:ext cx="2949178" cy="106997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7173077C-429C-4C0E-8F05-9FFAC62D14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30"/>
            <a:ext cx="4629150" cy="5368924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7844AFA-992F-4BE4-ABDB-10F592A44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399"/>
            <a:ext cx="2949178" cy="4298955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0442129-45B5-4C81-B28A-AA85D4F4D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46712F59-4F02-4916-92FC-440DB3FE4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A893627A-E54A-4DF9-9A32-88F06F6E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60211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9235DDD2-26F3-4A0D-93F4-FB32B5B241D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838009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89F7E2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D7300AA5-064D-49EA-BBBE-873363EE3286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38009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Jmeno.prijmeni@vse.cz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2206462F-D376-411D-9D76-52EE5EED75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A3092441-B532-4881-997F-6A08EF51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</a:p>
        </p:txBody>
      </p:sp>
    </p:spTree>
    <p:extLst>
      <p:ext uri="{BB962C8B-B14F-4D97-AF65-F5344CB8AC3E}">
        <p14:creationId xmlns:p14="http://schemas.microsoft.com/office/powerpoint/2010/main" val="3858123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9235DDD2-26F3-4A0D-93F4-FB32B5B241D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838009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89F7E2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D7300AA5-064D-49EA-BBBE-873363EE3286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38009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Jmeno.prijmeni@vse.cz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2206462F-D376-411D-9D76-52EE5EED75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A3092441-B532-4881-997F-6A08EF51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</a:p>
        </p:txBody>
      </p:sp>
    </p:spTree>
    <p:extLst>
      <p:ext uri="{BB962C8B-B14F-4D97-AF65-F5344CB8AC3E}">
        <p14:creationId xmlns:p14="http://schemas.microsoft.com/office/powerpoint/2010/main" val="3727089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3.xml"/><Relationship Id="rId18" Type="http://schemas.openxmlformats.org/officeDocument/2006/relationships/image" Target="../media/image9.png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17" Type="http://schemas.openxmlformats.org/officeDocument/2006/relationships/image" Target="../media/image8.sv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6.svg"/><Relationship Id="rId10" Type="http://schemas.openxmlformats.org/officeDocument/2006/relationships/slideLayout" Target="../slideLayouts/slideLayout12.xml"/><Relationship Id="rId19" Type="http://schemas.openxmlformats.org/officeDocument/2006/relationships/image" Target="../media/image10.svg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719039ED-503B-4BFC-8729-F0E04FD0713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04509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rgbClr val="4A4A49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009881"/>
        </a:buClr>
        <a:buFont typeface="Arial" panose="020B0604020202020204" pitchFamily="34" charset="0"/>
        <a:buChar char="•"/>
        <a:defRPr sz="21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5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cký objekt 6">
            <a:extLst>
              <a:ext uri="{FF2B5EF4-FFF2-40B4-BE49-F238E27FC236}">
                <a16:creationId xmlns:a16="http://schemas.microsoft.com/office/drawing/2014/main" id="{D3D61E27-7486-4CBD-80A0-7CDBAF7D7A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597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89F7E2"/>
        </a:buClr>
        <a:buFont typeface="Arial" panose="020B0604020202020204" pitchFamily="34" charset="0"/>
        <a:buChar char="•"/>
        <a:defRPr sz="21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5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cký objekt 13">
            <a:extLst>
              <a:ext uri="{FF2B5EF4-FFF2-40B4-BE49-F238E27FC236}">
                <a16:creationId xmlns:a16="http://schemas.microsoft.com/office/drawing/2014/main" id="{1664D167-1933-44B8-9DE6-BCF4B4ADB8DE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-4125" y="8313"/>
            <a:ext cx="9148126" cy="6858000"/>
          </a:xfrm>
          <a:prstGeom prst="rect">
            <a:avLst/>
          </a:prstGeom>
        </p:spPr>
      </p:pic>
      <p:pic>
        <p:nvPicPr>
          <p:cNvPr id="9" name="Grafický objekt 8">
            <a:extLst>
              <a:ext uri="{FF2B5EF4-FFF2-40B4-BE49-F238E27FC236}">
                <a16:creationId xmlns:a16="http://schemas.microsoft.com/office/drawing/2014/main" id="{D89BE277-1B57-4A04-A616-0D6719FD6A1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46539" y="360307"/>
            <a:ext cx="179594" cy="179594"/>
          </a:xfrm>
          <a:prstGeom prst="rect">
            <a:avLst/>
          </a:prstGeom>
        </p:spPr>
      </p:pic>
      <p:pic>
        <p:nvPicPr>
          <p:cNvPr id="13" name="Grafický objekt 12">
            <a:extLst>
              <a:ext uri="{FF2B5EF4-FFF2-40B4-BE49-F238E27FC236}">
                <a16:creationId xmlns:a16="http://schemas.microsoft.com/office/drawing/2014/main" id="{3CE1673A-F13A-49C1-A0F3-7628437F7F90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684010" y="360307"/>
            <a:ext cx="179594" cy="179594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07A972C7-80EA-4001-A2C8-48457C784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04A64F96-20EB-4338-812A-2CF45FA87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924055"/>
            <a:ext cx="7779544" cy="41914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849455D-C2AF-42AF-A377-1FD9570338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B329ADC-2255-4EF3-B5C0-B90829E78CD9}" type="datetimeFigureOut">
              <a:rPr lang="cs-CZ" smtClean="0"/>
              <a:pPr/>
              <a:t>29.01.2026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E38892D-BE40-4B7B-98A7-1B108AC51A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1406528-E83B-4FF2-81FD-6E1ED0DE8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25530" y="6356355"/>
            <a:ext cx="1982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5CA258-668E-4A85-A197-2757C3BEE154}" type="slidenum">
              <a:rPr lang="cs-CZ" smtClean="0"/>
              <a:pPr/>
              <a:t>‹#›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Zástupný nadpis 1">
            <a:extLst>
              <a:ext uri="{FF2B5EF4-FFF2-40B4-BE49-F238E27FC236}">
                <a16:creationId xmlns:a16="http://schemas.microsoft.com/office/drawing/2014/main" id="{6CADA8D1-4B1D-49C0-B645-EB5D43487BC1}"/>
              </a:ext>
            </a:extLst>
          </p:cNvPr>
          <p:cNvSpPr txBox="1">
            <a:spLocks/>
          </p:cNvSpPr>
          <p:nvPr userDrawn="1"/>
        </p:nvSpPr>
        <p:spPr>
          <a:xfrm>
            <a:off x="8815389" y="6436824"/>
            <a:ext cx="416717" cy="452926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5BC4F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fld id="{166024C8-F27F-4469-B950-3CAEC9128C7E}" type="slidenum">
              <a:rPr lang="cs-CZ" sz="1100" smtClean="0">
                <a:solidFill>
                  <a:schemeClr val="bg1"/>
                </a:solidFill>
              </a:rPr>
              <a:pPr algn="ctr"/>
              <a:t>‹#›</a:t>
            </a:fld>
            <a:endParaRPr lang="cs-CZ" sz="3200" dirty="0">
              <a:solidFill>
                <a:schemeClr val="bg1"/>
              </a:solidFill>
            </a:endParaRP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FCDCD643-C700-45E8-8816-DD3D4AEF500E}"/>
              </a:ext>
            </a:extLst>
          </p:cNvPr>
          <p:cNvSpPr txBox="1"/>
          <p:nvPr userDrawn="1"/>
        </p:nvSpPr>
        <p:spPr>
          <a:xfrm>
            <a:off x="6722748" y="299366"/>
            <a:ext cx="963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cs-CZ" sz="1200" dirty="0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fis.vse.cz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68403B65-A3E4-4EA5-A348-D73A327280A2}"/>
              </a:ext>
            </a:extLst>
          </p:cNvPr>
          <p:cNvSpPr txBox="1"/>
          <p:nvPr userDrawn="1"/>
        </p:nvSpPr>
        <p:spPr>
          <a:xfrm>
            <a:off x="7851988" y="299366"/>
            <a:ext cx="1195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cs-CZ" sz="1200" dirty="0" err="1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fisvse</a:t>
            </a:r>
            <a:endParaRPr lang="cs-CZ" sz="1600" dirty="0">
              <a:solidFill>
                <a:srgbClr val="00988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9205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3" r:id="rId2"/>
    <p:sldLayoutId id="2147483665" r:id="rId3"/>
    <p:sldLayoutId id="2147483666" r:id="rId4"/>
    <p:sldLayoutId id="2147483667" r:id="rId5"/>
    <p:sldLayoutId id="2147483668" r:id="rId6"/>
    <p:sldLayoutId id="2147483672" r:id="rId7"/>
    <p:sldLayoutId id="2147483669" r:id="rId8"/>
    <p:sldLayoutId id="2147483673" r:id="rId9"/>
    <p:sldLayoutId id="2147483670" r:id="rId10"/>
    <p:sldLayoutId id="2147483671" r:id="rId11"/>
    <p:sldLayoutId id="2147483678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rgbClr val="00988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100000"/>
        </a:lnSpc>
        <a:spcBef>
          <a:spcPts val="750"/>
        </a:spcBef>
        <a:buClr>
          <a:srgbClr val="009881"/>
        </a:buClr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cký objekt 6">
            <a:extLst>
              <a:ext uri="{FF2B5EF4-FFF2-40B4-BE49-F238E27FC236}">
                <a16:creationId xmlns:a16="http://schemas.microsoft.com/office/drawing/2014/main" id="{D3D61E27-7486-4CBD-80A0-7CDBAF7D7A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29.01.2026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597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89F7E2"/>
        </a:buClr>
        <a:buFont typeface="Arial" panose="020B0604020202020204" pitchFamily="34" charset="0"/>
        <a:buChar char="•"/>
        <a:defRPr sz="21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5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1">
            <a:extLst>
              <a:ext uri="{FF2B5EF4-FFF2-40B4-BE49-F238E27FC236}">
                <a16:creationId xmlns:a16="http://schemas.microsoft.com/office/drawing/2014/main" id="{FDA0EE84-57A3-437C-B722-52ACFBB5ED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591" y="2428716"/>
            <a:ext cx="7908788" cy="3250932"/>
          </a:xfrm>
        </p:spPr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Analýza vztahu mezi policejními rozpočty a mírou policejních střeleb v USA</a:t>
            </a:r>
            <a:endParaRPr lang="cs-CZ" dirty="0"/>
          </a:p>
        </p:txBody>
      </p:sp>
      <p:sp>
        <p:nvSpPr>
          <p:cNvPr id="8" name="Zástupný text 3">
            <a:extLst>
              <a:ext uri="{FF2B5EF4-FFF2-40B4-BE49-F238E27FC236}">
                <a16:creationId xmlns:a16="http://schemas.microsoft.com/office/drawing/2014/main" id="{E29E5E70-22CD-4E96-8CAB-90368F65564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0" y="662940"/>
            <a:ext cx="3984915" cy="5191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1400" dirty="0">
                <a:latin typeface="Arial"/>
                <a:cs typeface="Arial"/>
              </a:rPr>
              <a:t>Bc. Josef Gajda </a:t>
            </a:r>
            <a:endParaRPr lang="cs-CZ" sz="1400"/>
          </a:p>
        </p:txBody>
      </p:sp>
      <p:sp>
        <p:nvSpPr>
          <p:cNvPr id="9" name="Zástupný text 4">
            <a:extLst>
              <a:ext uri="{FF2B5EF4-FFF2-40B4-BE49-F238E27FC236}">
                <a16:creationId xmlns:a16="http://schemas.microsoft.com/office/drawing/2014/main" id="{C9002A16-94F7-4B76-9824-2D769080A31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4838009" y="1030911"/>
            <a:ext cx="3718906" cy="31162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Studijní program: Informační management</a:t>
            </a:r>
            <a:endParaRPr lang="cs-CZ" dirty="0"/>
          </a:p>
        </p:txBody>
      </p:sp>
      <p:sp>
        <p:nvSpPr>
          <p:cNvPr id="2" name="Zástupný text 4">
            <a:extLst>
              <a:ext uri="{FF2B5EF4-FFF2-40B4-BE49-F238E27FC236}">
                <a16:creationId xmlns:a16="http://schemas.microsoft.com/office/drawing/2014/main" id="{6DC8903B-1E09-1F86-58A9-F8FAB7A289F8}"/>
              </a:ext>
            </a:extLst>
          </p:cNvPr>
          <p:cNvSpPr txBox="1">
            <a:spLocks/>
          </p:cNvSpPr>
          <p:nvPr/>
        </p:nvSpPr>
        <p:spPr>
          <a:xfrm>
            <a:off x="4838009" y="1402766"/>
            <a:ext cx="3718906" cy="3116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r" defTabSz="685783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881"/>
              </a:buClr>
              <a:buFont typeface="Arial" panose="020B0604020202020204" pitchFamily="34" charset="0"/>
              <a:buNone/>
              <a:defRPr sz="1400" kern="1200">
                <a:solidFill>
                  <a:srgbClr val="4A4A49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892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5783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35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028675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371566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714457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348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240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132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latin typeface="Arial"/>
                <a:cs typeface="Arial"/>
              </a:rPr>
              <a:t>Datum: 30.01.2025</a:t>
            </a:r>
          </a:p>
        </p:txBody>
      </p:sp>
    </p:spTree>
    <p:extLst>
      <p:ext uri="{BB962C8B-B14F-4D97-AF65-F5344CB8AC3E}">
        <p14:creationId xmlns:p14="http://schemas.microsoft.com/office/powerpoint/2010/main" val="3786549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98B41-9007-2A18-1DCF-E4FDB13B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203128E-662C-3957-CB07-9F4A60E4C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Popis</a:t>
            </a:r>
            <a:r>
              <a:rPr lang="en-US" dirty="0"/>
              <a:t> </a:t>
            </a:r>
            <a:r>
              <a:rPr lang="cs-CZ" dirty="0"/>
              <a:t>řešené oblasti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FB03FD0-6621-58F3-A6B7-A35FC5792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solidFill>
                  <a:srgbClr val="000000"/>
                </a:solidFill>
                <a:latin typeface="Arial"/>
                <a:ea typeface="Calibri"/>
                <a:cs typeface="Arial"/>
              </a:rPr>
              <a:t>Cílem projektu je analyzovat faktory ovlivňující četnost a geografické rozložení policejních střeleb v USA.</a:t>
            </a:r>
          </a:p>
          <a:p>
            <a:pPr marL="0" indent="0">
              <a:buNone/>
            </a:pPr>
            <a:endParaRPr lang="cs-CZ" sz="2400" dirty="0">
              <a:ea typeface="Calibri"/>
            </a:endParaRPr>
          </a:p>
          <a:p>
            <a:pPr marL="170815" indent="-170815"/>
            <a:r>
              <a:rPr lang="cs-CZ" sz="2400" dirty="0">
                <a:solidFill>
                  <a:srgbClr val="000000"/>
                </a:solidFill>
                <a:latin typeface="Arial"/>
                <a:ea typeface="Calibri"/>
                <a:cs typeface="Arial"/>
              </a:rPr>
              <a:t>Analýza zkoumá možné souvislosti mezi výší rozpočtů na policii a počtem zaznamenaných střeleb.</a:t>
            </a:r>
          </a:p>
        </p:txBody>
      </p:sp>
    </p:spTree>
    <p:extLst>
      <p:ext uri="{BB962C8B-B14F-4D97-AF65-F5344CB8AC3E}">
        <p14:creationId xmlns:p14="http://schemas.microsoft.com/office/powerpoint/2010/main" val="4196028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BF2E-2AB9-A8FB-03C5-8728F9015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B742DEB-8846-2D0E-09BA-ABCD9C5FB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Cíle analýzy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D0D4454-B025-E60E-9BD8-C5222B905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Identifikovat vztah mezi výší policejních rozpočtů měst a četností policejních střeleb v USA</a:t>
            </a: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Analyzovat geografické </a:t>
            </a:r>
            <a:r>
              <a:rPr lang="cs-CZ" sz="24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a </a:t>
            </a: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demografické vzorce policejních střeleb včetně rasového složení obětí</a:t>
            </a:r>
            <a:r>
              <a:rPr lang="cs-CZ" sz="24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.</a:t>
            </a:r>
            <a:endParaRPr lang="cs-CZ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Analyzovat demografické a situační faktory spojené s policejními střelbami.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4139299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50660-EE0F-3255-6AF0-44290838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DDC37E9-85DD-2231-4FBA-B97601DCC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Způsob řešení otázek pro data science - 1/2</a:t>
            </a:r>
            <a:br>
              <a:rPr lang="cs-CZ" dirty="0">
                <a:latin typeface="Arial"/>
                <a:cs typeface="Arial"/>
              </a:rPr>
            </a:b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179EC6F-21E7-0F86-D493-56C9068D6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Příprava dat (ETL) v nástroji </a:t>
            </a:r>
            <a:r>
              <a:rPr lang="cs-CZ" sz="2400" b="1" dirty="0" err="1">
                <a:latin typeface="Arial"/>
                <a:cs typeface="Arial"/>
              </a:rPr>
              <a:t>BigQuery</a:t>
            </a:r>
            <a:r>
              <a:rPr lang="cs-CZ" sz="2400" b="1" dirty="0">
                <a:latin typeface="Arial"/>
                <a:cs typeface="Arial"/>
              </a:rPr>
              <a:t>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dirty="0">
                <a:latin typeface="Arial"/>
                <a:cs typeface="Arial"/>
              </a:rPr>
              <a:t>SQL dotazy pro transformaci tabulek,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dirty="0">
                <a:latin typeface="Arial"/>
                <a:cs typeface="Arial"/>
              </a:rPr>
              <a:t>příprava dat pro BI část a Data Science část.</a:t>
            </a:r>
          </a:p>
          <a:p>
            <a:pPr marL="170815" indent="-170815"/>
            <a:endParaRPr lang="cs-CZ" sz="2400" b="1" dirty="0">
              <a:latin typeface="Arial"/>
              <a:cs typeface="Arial"/>
            </a:endParaRPr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BI část provedena v nástroji </a:t>
            </a:r>
            <a:r>
              <a:rPr lang="cs-CZ" sz="2400" b="1" dirty="0" err="1">
                <a:latin typeface="Arial"/>
                <a:cs typeface="Arial"/>
              </a:rPr>
              <a:t>PowerBI</a:t>
            </a:r>
            <a:r>
              <a:rPr lang="cs-CZ" sz="2400" b="1" dirty="0">
                <a:latin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2054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7365D-F509-5246-0DC5-141029BD7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8642C89-C92D-A0EB-B91B-292F691E9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Způsob řešení otázek pro data science - 2/2</a:t>
            </a:r>
            <a:br>
              <a:rPr lang="cs-CZ" dirty="0">
                <a:latin typeface="Arial"/>
                <a:cs typeface="Arial"/>
              </a:rPr>
            </a:b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FB6CE4D-4C9C-F6CA-5335-6665E4192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Analýza dat bude prováděna v nástroji </a:t>
            </a:r>
            <a:r>
              <a:rPr lang="cs-CZ" sz="2400" b="1" dirty="0">
                <a:latin typeface="Arial"/>
                <a:cs typeface="Arial"/>
              </a:rPr>
              <a:t>Python,</a:t>
            </a:r>
            <a:endParaRPr lang="cs-CZ" sz="2400" b="1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statistická analýza: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dirty="0" err="1">
                <a:latin typeface="Arial"/>
                <a:cs typeface="Arial"/>
              </a:rPr>
              <a:t>Chi</a:t>
            </a:r>
            <a:r>
              <a:rPr lang="cs-CZ" sz="2100" dirty="0">
                <a:latin typeface="Arial"/>
                <a:cs typeface="Arial"/>
              </a:rPr>
              <a:t>-square testy, </a:t>
            </a:r>
            <a:r>
              <a:rPr lang="cs-CZ" sz="2100" dirty="0" err="1">
                <a:latin typeface="Arial"/>
                <a:cs typeface="Arial"/>
              </a:rPr>
              <a:t>Cramerovo</a:t>
            </a:r>
            <a:r>
              <a:rPr lang="cs-CZ" sz="2100" dirty="0">
                <a:latin typeface="Arial"/>
                <a:cs typeface="Arial"/>
              </a:rPr>
              <a:t> V, korelační analýza,</a:t>
            </a:r>
            <a:endParaRPr lang="cs-CZ" sz="2100" b="1" dirty="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4ft-Miner:</a:t>
            </a:r>
            <a:r>
              <a:rPr lang="cs-CZ" sz="2100" dirty="0">
                <a:latin typeface="Arial"/>
                <a:cs typeface="Arial"/>
              </a:rPr>
              <a:t> Asociační pravidla pro identifikaci vzorců,</a:t>
            </a: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CF-</a:t>
            </a:r>
            <a:r>
              <a:rPr lang="cs-CZ" sz="2100" b="1" dirty="0" err="1">
                <a:latin typeface="Arial"/>
                <a:cs typeface="Arial"/>
              </a:rPr>
              <a:t>Miner</a:t>
            </a:r>
            <a:r>
              <a:rPr lang="cs-CZ" sz="2100" b="1" dirty="0">
                <a:latin typeface="Arial"/>
                <a:cs typeface="Arial"/>
              </a:rPr>
              <a:t>:</a:t>
            </a:r>
            <a:r>
              <a:rPr lang="cs-CZ" sz="2100" dirty="0">
                <a:latin typeface="Arial"/>
                <a:cs typeface="Arial"/>
              </a:rPr>
              <a:t> Analýza distribuce histogramů mezi skupinami,</a:t>
            </a: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SD4ft-Miner: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dirty="0" err="1">
                <a:latin typeface="Arial"/>
                <a:cs typeface="Arial"/>
              </a:rPr>
              <a:t>Subgroup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dirty="0" err="1">
                <a:latin typeface="Arial"/>
                <a:cs typeface="Arial"/>
              </a:rPr>
              <a:t>discovery</a:t>
            </a:r>
            <a:r>
              <a:rPr lang="cs-CZ" sz="2100" dirty="0">
                <a:latin typeface="Arial"/>
                <a:cs typeface="Arial"/>
              </a:rPr>
              <a:t> pro rozdíly mezi podskupinami,</a:t>
            </a: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prediktivní modely</a:t>
            </a:r>
            <a:r>
              <a:rPr lang="cs-CZ" sz="2100" dirty="0">
                <a:latin typeface="Arial"/>
                <a:cs typeface="Arial"/>
              </a:rPr>
              <a:t>: </a:t>
            </a:r>
            <a:r>
              <a:rPr lang="cs-CZ" sz="2100" err="1">
                <a:latin typeface="Arial"/>
                <a:cs typeface="Arial"/>
              </a:rPr>
              <a:t>Random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err="1">
                <a:latin typeface="Arial"/>
                <a:cs typeface="Arial"/>
              </a:rPr>
              <a:t>Forest</a:t>
            </a:r>
            <a:r>
              <a:rPr lang="cs-CZ" sz="2100" dirty="0">
                <a:latin typeface="Arial"/>
                <a:cs typeface="Arial"/>
              </a:rPr>
              <a:t> (</a:t>
            </a:r>
            <a:r>
              <a:rPr lang="cs-CZ" sz="2100" err="1">
                <a:latin typeface="Arial"/>
                <a:cs typeface="Arial"/>
              </a:rPr>
              <a:t>feature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err="1">
                <a:latin typeface="Arial"/>
                <a:cs typeface="Arial"/>
              </a:rPr>
              <a:t>importance</a:t>
            </a:r>
            <a:r>
              <a:rPr lang="cs-CZ" sz="2100" dirty="0">
                <a:latin typeface="Arial"/>
                <a:cs typeface="Arial"/>
              </a:rPr>
              <a:t>).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b="1" dirty="0"/>
          </a:p>
        </p:txBody>
      </p:sp>
    </p:spTree>
    <p:extLst>
      <p:ext uri="{BB962C8B-B14F-4D97-AF65-F5344CB8AC3E}">
        <p14:creationId xmlns:p14="http://schemas.microsoft.com/office/powerpoint/2010/main" val="1019644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0B30A-842E-226B-17F7-D0DE4D49F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4004393-A3DB-39CE-E5B1-AD71958DE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cs-CZ" dirty="0"/>
          </a:p>
        </p:txBody>
      </p:sp>
      <p:pic>
        <p:nvPicPr>
          <p:cNvPr id="4" name="Zástupný obsah 3" descr="Obsah obrázku text, snímek obrazovky, software, číslo&#10;&#10;Obsah generovaný pomocí AI může být nesprávný.">
            <a:extLst>
              <a:ext uri="{FF2B5EF4-FFF2-40B4-BE49-F238E27FC236}">
                <a16:creationId xmlns:a16="http://schemas.microsoft.com/office/drawing/2014/main" id="{8D6BCB3B-B008-38C7-1244-1F0BA83DDF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79" y="1009547"/>
            <a:ext cx="9149353" cy="516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004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7FEAD-6F4F-BA98-D603-83E1DC40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obsah 4">
            <a:extLst>
              <a:ext uri="{FF2B5EF4-FFF2-40B4-BE49-F238E27FC236}">
                <a16:creationId xmlns:a16="http://schemas.microsoft.com/office/drawing/2014/main" id="{7A4D6CB9-409F-9FDE-D7E6-AB3236623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157" y="1712899"/>
            <a:ext cx="8743518" cy="491568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VÝSLEDKY ÚLOHY 2: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endParaRPr lang="cs-CZ" sz="1000" dirty="0">
              <a:latin typeface="Consolas"/>
              <a:cs typeface="Arial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 err="1">
                <a:latin typeface="Consolas"/>
                <a:cs typeface="Arial"/>
              </a:rPr>
              <a:t>CleverMiner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dirty="0" err="1">
                <a:latin typeface="Consolas"/>
                <a:cs typeface="Arial"/>
              </a:rPr>
              <a:t>task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dirty="0" err="1">
                <a:latin typeface="Consolas"/>
                <a:cs typeface="Arial"/>
              </a:rPr>
              <a:t>processing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dirty="0" err="1">
                <a:latin typeface="Consolas"/>
                <a:cs typeface="Arial"/>
              </a:rPr>
              <a:t>summary</a:t>
            </a:r>
            <a:r>
              <a:rPr lang="cs-CZ" sz="1000" dirty="0">
                <a:latin typeface="Consolas"/>
                <a:cs typeface="Arial"/>
              </a:rPr>
              <a:t>: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endParaRPr lang="cs-CZ" sz="1000" dirty="0">
              <a:latin typeface="Consolas"/>
              <a:cs typeface="Arial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 err="1">
                <a:latin typeface="Consolas"/>
                <a:cs typeface="Arial"/>
              </a:rPr>
              <a:t>Task</a:t>
            </a:r>
            <a:r>
              <a:rPr lang="cs-CZ" sz="1000" dirty="0">
                <a:latin typeface="Consolas"/>
                <a:cs typeface="Arial"/>
              </a:rPr>
              <a:t> type : 4ftMiner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err="1">
                <a:latin typeface="Consolas"/>
                <a:cs typeface="Arial"/>
              </a:rPr>
              <a:t>Number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verifications</a:t>
            </a:r>
            <a:r>
              <a:rPr lang="cs-CZ" sz="1000" dirty="0">
                <a:latin typeface="Consolas"/>
                <a:cs typeface="Arial"/>
              </a:rPr>
              <a:t> : 45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err="1">
                <a:latin typeface="Consolas"/>
                <a:cs typeface="Arial"/>
              </a:rPr>
              <a:t>Number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rules</a:t>
            </a:r>
            <a:r>
              <a:rPr lang="cs-CZ" sz="1000" dirty="0">
                <a:latin typeface="Consolas"/>
                <a:cs typeface="Arial"/>
              </a:rPr>
              <a:t> : 13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err="1">
                <a:latin typeface="Consolas"/>
                <a:cs typeface="Arial"/>
              </a:rPr>
              <a:t>Total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time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needed</a:t>
            </a:r>
            <a:r>
              <a:rPr lang="cs-CZ" sz="1000" dirty="0">
                <a:latin typeface="Consolas"/>
                <a:cs typeface="Arial"/>
              </a:rPr>
              <a:t> : 00h 00m 00s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Time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data </a:t>
            </a:r>
            <a:r>
              <a:rPr lang="cs-CZ" sz="1000" err="1">
                <a:latin typeface="Consolas"/>
                <a:cs typeface="Arial"/>
              </a:rPr>
              <a:t>preparation</a:t>
            </a:r>
            <a:r>
              <a:rPr lang="cs-CZ" sz="1000" dirty="0">
                <a:latin typeface="Consolas"/>
                <a:cs typeface="Arial"/>
              </a:rPr>
              <a:t> : 00h 00m 00s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Time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rule </a:t>
            </a:r>
            <a:r>
              <a:rPr lang="cs-CZ" sz="1000" err="1">
                <a:latin typeface="Consolas"/>
                <a:cs typeface="Arial"/>
              </a:rPr>
              <a:t>mining</a:t>
            </a:r>
            <a:r>
              <a:rPr lang="cs-CZ" sz="1000" dirty="0">
                <a:latin typeface="Consolas"/>
                <a:cs typeface="Arial"/>
              </a:rPr>
              <a:t> : 00h 00m 00s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endParaRPr lang="cs-CZ" sz="1000" dirty="0">
              <a:latin typeface="Consolas"/>
              <a:cs typeface="Arial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List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rules</a:t>
            </a:r>
            <a:r>
              <a:rPr lang="cs-CZ" sz="1000" dirty="0">
                <a:latin typeface="Consolas"/>
                <a:cs typeface="Arial"/>
              </a:rPr>
              <a:t>: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RULEID BASE  CONF  AAD    Rule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</a:t>
            </a:r>
            <a:r>
              <a:rPr lang="cs-CZ" sz="1000" b="1" dirty="0">
                <a:latin typeface="Consolas"/>
                <a:cs typeface="Arial"/>
              </a:rPr>
              <a:t>1    33 0.611 +0.243 </a:t>
            </a:r>
            <a:r>
              <a:rPr lang="cs-CZ" sz="1000" b="1" dirty="0" err="1">
                <a:latin typeface="Consolas"/>
                <a:cs typeface="Arial"/>
              </a:rPr>
              <a:t>race_category</a:t>
            </a:r>
            <a:r>
              <a:rPr lang="cs-CZ" sz="1000" b="1" dirty="0">
                <a:latin typeface="Consolas"/>
                <a:cs typeface="Arial"/>
              </a:rPr>
              <a:t>(Black) &amp; </a:t>
            </a:r>
            <a:r>
              <a:rPr lang="cs-CZ" sz="1000" b="1" dirty="0" err="1">
                <a:latin typeface="Consolas"/>
                <a:cs typeface="Arial"/>
              </a:rPr>
              <a:t>budget_category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High_Budget</a:t>
            </a:r>
            <a:r>
              <a:rPr lang="cs-CZ" sz="1000" b="1" dirty="0">
                <a:latin typeface="Consolas"/>
                <a:cs typeface="Arial"/>
              </a:rPr>
              <a:t>) =&gt; </a:t>
            </a:r>
            <a:r>
              <a:rPr lang="cs-CZ" sz="1000" b="1" dirty="0" err="1">
                <a:latin typeface="Consolas"/>
                <a:cs typeface="Arial"/>
              </a:rPr>
              <a:t>shooting_rate_category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High_Rate</a:t>
            </a:r>
            <a:r>
              <a:rPr lang="cs-CZ" sz="1000" b="1" dirty="0">
                <a:latin typeface="Consolas"/>
                <a:cs typeface="Arial"/>
              </a:rPr>
              <a:t>) | ---</a:t>
            </a:r>
            <a:endParaRPr lang="cs-CZ" sz="1000" b="1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</a:t>
            </a:r>
            <a:r>
              <a:rPr lang="cs-CZ" sz="1000" b="1" dirty="0">
                <a:latin typeface="Consolas"/>
                <a:cs typeface="Arial"/>
              </a:rPr>
              <a:t>2    21 0.778 +0.582 </a:t>
            </a:r>
            <a:r>
              <a:rPr lang="cs-CZ" sz="1000" b="1" err="1">
                <a:latin typeface="Consolas"/>
                <a:cs typeface="Arial"/>
              </a:rPr>
              <a:t>race_category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err="1">
                <a:latin typeface="Consolas"/>
                <a:cs typeface="Arial"/>
              </a:rPr>
              <a:t>Hispanic</a:t>
            </a:r>
            <a:r>
              <a:rPr lang="cs-CZ" sz="1000" b="1" dirty="0">
                <a:latin typeface="Consolas"/>
                <a:cs typeface="Arial"/>
              </a:rPr>
              <a:t>) &amp; </a:t>
            </a:r>
            <a:r>
              <a:rPr lang="cs-CZ" sz="1000" b="1" err="1">
                <a:latin typeface="Consolas"/>
                <a:cs typeface="Arial"/>
              </a:rPr>
              <a:t>budget_category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err="1">
                <a:latin typeface="Consolas"/>
                <a:cs typeface="Arial"/>
              </a:rPr>
              <a:t>High_Budget</a:t>
            </a:r>
            <a:r>
              <a:rPr lang="cs-CZ" sz="1000" b="1" dirty="0">
                <a:latin typeface="Consolas"/>
                <a:cs typeface="Arial"/>
              </a:rPr>
              <a:t>) =&gt; </a:t>
            </a:r>
            <a:r>
              <a:rPr lang="cs-CZ" sz="1000" b="1" err="1">
                <a:latin typeface="Consolas"/>
                <a:cs typeface="Arial"/>
              </a:rPr>
              <a:t>shooting_rate_category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err="1">
                <a:latin typeface="Consolas"/>
                <a:cs typeface="Arial"/>
              </a:rPr>
              <a:t>High_Rate</a:t>
            </a:r>
            <a:r>
              <a:rPr lang="cs-CZ" sz="1000" b="1" dirty="0">
                <a:latin typeface="Consolas"/>
                <a:cs typeface="Arial"/>
              </a:rPr>
              <a:t>) |</a:t>
            </a:r>
            <a:endParaRPr lang="cs-CZ" sz="1000" b="1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3    45 0.652 +0.327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Hispanic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4    29 0.592 +0.204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Hispanic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Unarmed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5   295 0.596 +0.213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White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</a:t>
            </a:r>
            <a:r>
              <a:rPr lang="cs-CZ" sz="1000" b="1" dirty="0">
                <a:latin typeface="Consolas"/>
                <a:cs typeface="Arial"/>
              </a:rPr>
              <a:t>6    51 0.729 +0.482 </a:t>
            </a:r>
            <a:r>
              <a:rPr lang="cs-CZ" sz="1000" b="1" dirty="0" err="1">
                <a:latin typeface="Consolas"/>
                <a:cs typeface="Arial"/>
              </a:rPr>
              <a:t>race_category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White</a:t>
            </a:r>
            <a:r>
              <a:rPr lang="cs-CZ" sz="1000" b="1" dirty="0">
                <a:latin typeface="Consolas"/>
                <a:cs typeface="Arial"/>
              </a:rPr>
              <a:t>) &amp; </a:t>
            </a:r>
            <a:r>
              <a:rPr lang="cs-CZ" sz="1000" b="1" dirty="0" err="1">
                <a:latin typeface="Consolas"/>
                <a:cs typeface="Arial"/>
              </a:rPr>
              <a:t>budget_category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High_Budget</a:t>
            </a:r>
            <a:r>
              <a:rPr lang="cs-CZ" sz="1000" b="1" dirty="0">
                <a:latin typeface="Consolas"/>
                <a:cs typeface="Arial"/>
              </a:rPr>
              <a:t>) =&gt; </a:t>
            </a:r>
            <a:r>
              <a:rPr lang="cs-CZ" sz="1000" b="1" dirty="0" err="1">
                <a:latin typeface="Consolas"/>
                <a:cs typeface="Arial"/>
              </a:rPr>
              <a:t>shooting_rate_category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High_Rate</a:t>
            </a:r>
            <a:r>
              <a:rPr lang="cs-CZ" sz="1000" b="1" dirty="0">
                <a:latin typeface="Consolas"/>
                <a:cs typeface="Arial"/>
              </a:rPr>
              <a:t>) | ---</a:t>
            </a:r>
            <a:endParaRPr lang="cs-CZ" sz="1000" b="1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7    83 0.648 +0.319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White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8   181 0.637 +0.297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White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Gun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</a:t>
            </a:r>
            <a:r>
              <a:rPr lang="cs-CZ" sz="1000" b="1" dirty="0">
                <a:latin typeface="Consolas"/>
                <a:cs typeface="Arial"/>
              </a:rPr>
              <a:t>9   118 0.694 +0.412 </a:t>
            </a:r>
            <a:r>
              <a:rPr lang="cs-CZ" sz="1000" b="1" dirty="0" err="1">
                <a:latin typeface="Consolas"/>
                <a:cs typeface="Arial"/>
              </a:rPr>
              <a:t>budget_category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High_Budget</a:t>
            </a:r>
            <a:r>
              <a:rPr lang="cs-CZ" sz="1000" b="1" dirty="0">
                <a:latin typeface="Consolas"/>
                <a:cs typeface="Arial"/>
              </a:rPr>
              <a:t>) =&gt; </a:t>
            </a:r>
            <a:r>
              <a:rPr lang="cs-CZ" sz="1000" b="1" dirty="0" err="1">
                <a:latin typeface="Consolas"/>
                <a:cs typeface="Arial"/>
              </a:rPr>
              <a:t>shooting_rate_category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High_Rate</a:t>
            </a:r>
            <a:r>
              <a:rPr lang="cs-CZ" sz="1000" b="1" dirty="0">
                <a:latin typeface="Consolas"/>
                <a:cs typeface="Arial"/>
              </a:rPr>
              <a:t>) | ---</a:t>
            </a:r>
            <a:endParaRPr lang="cs-CZ" sz="1000" b="1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 10    74 0.712 +0.448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High_Budget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Gun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 11   251 0.591 +0.202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 12    36 0.621 +0.263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Blade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</a:t>
            </a:r>
            <a:endParaRPr lang="cs-CZ" sz="1000" dirty="0">
              <a:latin typeface="Consolas"/>
            </a:endParaRPr>
          </a:p>
          <a:p>
            <a:pPr marL="0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   13   143 0.598 +0.217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Gun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</a:t>
            </a:r>
            <a:endParaRPr lang="cs-CZ" sz="1000" dirty="0">
              <a:latin typeface="Consolas"/>
            </a:endParaRPr>
          </a:p>
        </p:txBody>
      </p:sp>
      <p:sp>
        <p:nvSpPr>
          <p:cNvPr id="8" name="Nadpis 1">
            <a:extLst>
              <a:ext uri="{FF2B5EF4-FFF2-40B4-BE49-F238E27FC236}">
                <a16:creationId xmlns:a16="http://schemas.microsoft.com/office/drawing/2014/main" id="{9E462838-F223-47D9-D133-11FF306B4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734" y="1026570"/>
            <a:ext cx="7779544" cy="689952"/>
          </a:xfrm>
        </p:spPr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Ukázka výsledků z 4ftMiner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374656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9D125-41CC-447A-96FE-3B46FA69E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691CB99-1D30-7FA1-A082-E047D757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Závěry BI analýzy - 1/2 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0A0B09E-5BC4-D273-8EFD-DE2D95F06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457200" indent="-457200">
              <a:buAutoNum type="arabicPeriod"/>
            </a:pP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Vztah rozpočtu a četnosti střeleb</a:t>
            </a:r>
            <a:endParaRPr lang="cs-CZ" sz="1800" dirty="0">
              <a:solidFill>
                <a:srgbClr val="000000"/>
              </a:solidFill>
            </a:endParaRPr>
          </a:p>
          <a:p>
            <a:pPr marL="800100" lvl="1" indent="-457200">
              <a:buFont typeface="Courier New"/>
              <a:buChar char="o"/>
            </a:pP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Klíčové zjištění: Korelace mezi policejním rozpočtem per capita a mírou </a:t>
            </a:r>
            <a:r>
              <a:rPr lang="cs-CZ" sz="16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je slabá (r = 0,29),</a:t>
            </a:r>
          </a:p>
          <a:p>
            <a:pPr marL="1143000" lvl="2" indent="-457200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města s vysokým rozpočtem na policii NEMAJÍ statisticky významně nižší míru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než města s nízkým rozpočtem,</a:t>
            </a:r>
          </a:p>
          <a:p>
            <a:pPr marL="1143000" lvl="2" indent="-457200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průměrná míra střelby se liší minimálně (3,2-3,7 na 100k), ale města s vysokým rozpočtem jsou častěji v kategorii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,</a:t>
            </a:r>
          </a:p>
          <a:p>
            <a:pPr marL="1143000" lvl="2" indent="-457200">
              <a:buFont typeface="Wingdings"/>
              <a:buChar char="§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policy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implikace: Samotné navyšování policejních rozpočtů pravděpodobně není efektivní strategie pro snížení počtu policejních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.</a:t>
            </a:r>
          </a:p>
          <a:p>
            <a:pPr marL="1143000" lvl="2" indent="-457200">
              <a:buFont typeface="Wingdings"/>
              <a:buChar char="§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Geografické vzorce</a:t>
            </a:r>
            <a:r>
              <a:rPr lang="cs-CZ" sz="18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.</a:t>
            </a:r>
            <a:endParaRPr lang="cs-CZ" sz="1800" dirty="0">
              <a:solidFill>
                <a:srgbClr val="000000"/>
              </a:solidFill>
            </a:endParaRP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koncentrace incidentů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Kalifornie a Texas výrazně dominují v absolutním počtu policejních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,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velká města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Large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population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 vykazují vyšší absolutní počty, ale po normalizaci na populaci jsou rozdíly menší.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081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8C5C1-83A9-1940-F031-AC599176C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F55ED7-A23D-1EA2-49DB-E74DAEB2E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Závěry BI analýzy - 2/2 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2FC27E0-316B-4453-035E-FEA1D2D15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3.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 Demografické charakteristiky obětí</a:t>
            </a:r>
            <a:endParaRPr lang="cs-CZ" sz="1800" dirty="0">
              <a:solidFill>
                <a:srgbClr val="000000"/>
              </a:solidFill>
            </a:endParaRPr>
          </a:p>
          <a:p>
            <a:pPr marL="628650" lvl="1" indent="-285750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rasové složení obětí: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Black: 36,3% (výrazně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nadreprezentováno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vzhledem k ~13% podílu na populaci USA),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White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29,03%,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Hispanic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21,3%,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rasové disparity jsou patrné i po kontrole na populační velikost a rozpočet města.</a:t>
            </a:r>
          </a:p>
          <a:p>
            <a:pPr marL="628650" lvl="1" indent="-285750">
              <a:buFont typeface="Courier New,monospace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Další demografické faktory:</a:t>
            </a:r>
          </a:p>
          <a:p>
            <a:pPr marL="1143000" lvl="2" indent="-170815">
              <a:buFont typeface="Wingdings,Sans-Serif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naprostá většina obětí jsou muži (~96%).</a:t>
            </a:r>
          </a:p>
          <a:p>
            <a:pPr marL="1143000" lvl="2" indent="-457200">
              <a:buFont typeface="Wingdings"/>
              <a:buChar char="§"/>
            </a:pPr>
            <a:endParaRPr lang="cs-CZ" sz="1400" dirty="0"/>
          </a:p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4.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  Okolnosti incidentů</a:t>
            </a:r>
            <a:endParaRPr lang="cs-CZ" sz="1800" dirty="0">
              <a:solidFill>
                <a:srgbClr val="000000"/>
              </a:solidFill>
            </a:endParaRP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typ výzbroje: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majorita obětí byla ozbrojená (nejvíce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gun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, druhá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blade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),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kategorie "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" představuje významnou menšinu případů,</a:t>
            </a: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threat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assessment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většina incidentů klasifikována jako "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Attack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" (64,99%),</a:t>
            </a:r>
          </a:p>
          <a:p>
            <a:pPr marL="800100" lvl="1" indent="-457200">
              <a:buFont typeface="Courier New,monospace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body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cameras</a:t>
            </a:r>
            <a:endParaRPr lang="en-US" sz="1400" dirty="0" err="1">
              <a:solidFill>
                <a:srgbClr val="000000"/>
              </a:solidFill>
              <a:latin typeface="Arial"/>
              <a:cs typeface="Arial"/>
            </a:endParaRPr>
          </a:p>
          <a:p>
            <a:pPr marL="1143000" lvl="2" indent="-457200">
              <a:buFont typeface="Wingdings,Sans-Serif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větší města používají body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cameras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častěji než menší města.</a:t>
            </a:r>
            <a:endParaRPr lang="cs-CZ" dirty="0"/>
          </a:p>
          <a:p>
            <a:pPr marL="1143000" lvl="2" indent="-457200">
              <a:buFont typeface="Wingdings" panose="020B0604020202020204" pitchFamily="34" charset="0"/>
              <a:buChar char="§"/>
            </a:pPr>
            <a:endParaRPr lang="cs-CZ" sz="1400" dirty="0">
              <a:solidFill>
                <a:srgbClr val="000000"/>
              </a:solidFill>
            </a:endParaRPr>
          </a:p>
          <a:p>
            <a:pPr marL="800100" lvl="1" indent="-457200">
              <a:buFont typeface="Wingdings" panose="020B0604020202020204" pitchFamily="34" charset="0"/>
              <a:buChar char="§"/>
            </a:pPr>
            <a:endParaRPr lang="cs-CZ" sz="1700" dirty="0">
              <a:solidFill>
                <a:srgbClr val="000000"/>
              </a:solidFill>
            </a:endParaRPr>
          </a:p>
          <a:p>
            <a:pPr marL="457200" indent="-457200"/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</a:pPr>
            <a:endParaRPr lang="cs-CZ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842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CC097-7FBE-A19B-B4B5-D25E4BCFD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3AD812C-51DF-81D8-D856-84896643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1 - Paradox policejního rozpočtu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835102D-2973-54E9-C919-E82EEF307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000" dirty="0">
                <a:latin typeface="Arial"/>
                <a:ea typeface="+mj-ea"/>
                <a:cs typeface="Arial"/>
              </a:rPr>
              <a:t>Zjištění: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korelace mezi rozpočtem per capita a mírou střeleb: r = 0,09 (téměř žádná,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města s </a:t>
            </a:r>
            <a:r>
              <a:rPr lang="cs-CZ" sz="1600" err="1">
                <a:latin typeface="Arial"/>
                <a:cs typeface="Arial"/>
              </a:rPr>
              <a:t>High_Budget</a:t>
            </a:r>
            <a:r>
              <a:rPr lang="cs-CZ" sz="1600" dirty="0">
                <a:latin typeface="Arial"/>
                <a:cs typeface="Arial"/>
              </a:rPr>
              <a:t> mají dokonce vyšší pravděpodobnost vysoké míry střeleb (69,4%),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4ft-Miner pravidlo: </a:t>
            </a:r>
            <a:r>
              <a:rPr lang="cs-CZ" sz="1600" err="1">
                <a:latin typeface="Arial"/>
                <a:cs typeface="Arial"/>
              </a:rPr>
              <a:t>budget_category</a:t>
            </a:r>
            <a:r>
              <a:rPr lang="cs-CZ" sz="1600" dirty="0">
                <a:latin typeface="Arial"/>
                <a:cs typeface="Arial"/>
              </a:rPr>
              <a:t>(</a:t>
            </a:r>
            <a:r>
              <a:rPr lang="cs-CZ" sz="1600" err="1">
                <a:latin typeface="Arial"/>
                <a:cs typeface="Arial"/>
              </a:rPr>
              <a:t>High_Budget</a:t>
            </a:r>
            <a:r>
              <a:rPr lang="cs-CZ" sz="1600" dirty="0">
                <a:latin typeface="Arial"/>
                <a:cs typeface="Arial"/>
              </a:rPr>
              <a:t>) =&gt; </a:t>
            </a:r>
            <a:r>
              <a:rPr lang="cs-CZ" sz="1600" err="1">
                <a:latin typeface="Arial"/>
                <a:cs typeface="Arial"/>
              </a:rPr>
              <a:t>shooting_rate_category</a:t>
            </a:r>
            <a:r>
              <a:rPr lang="cs-CZ" sz="1600" dirty="0">
                <a:latin typeface="Arial"/>
                <a:cs typeface="Arial"/>
              </a:rPr>
              <a:t>(</a:t>
            </a:r>
            <a:r>
              <a:rPr lang="cs-CZ" sz="1600" err="1">
                <a:latin typeface="Arial"/>
                <a:cs typeface="Arial"/>
              </a:rPr>
              <a:t>High_Rate</a:t>
            </a:r>
            <a:r>
              <a:rPr lang="cs-CZ" sz="1600" dirty="0">
                <a:latin typeface="Arial"/>
                <a:cs typeface="Arial"/>
              </a:rPr>
              <a:t>) s </a:t>
            </a:r>
            <a:r>
              <a:rPr lang="cs-CZ" sz="1600" err="1">
                <a:latin typeface="Arial"/>
                <a:cs typeface="Arial"/>
              </a:rPr>
              <a:t>confidence</a:t>
            </a:r>
            <a:r>
              <a:rPr lang="cs-CZ" sz="1600" dirty="0">
                <a:latin typeface="Arial"/>
                <a:cs typeface="Arial"/>
              </a:rPr>
              <a:t> 0,694 a AAD +0,412.</a:t>
            </a:r>
          </a:p>
          <a:p>
            <a:pPr marL="170815" indent="-170815"/>
            <a:r>
              <a:rPr lang="cs-CZ" sz="2000" dirty="0">
                <a:latin typeface="Arial"/>
                <a:cs typeface="Arial"/>
              </a:rPr>
              <a:t>Interpretace</a:t>
            </a:r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vyšší rozpočet neznamená méně střeleb,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malá města: 61,2% v kategorii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střední města: 63,5% v kategorii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velká města: 28,9% v kategorii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.</a:t>
            </a:r>
          </a:p>
          <a:p>
            <a:pPr marL="170815" indent="-170815"/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20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přesměrovat debatu z "kolik peněz" na "jak efektivně peníze využít".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1814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0F44F-796E-9BAF-82F4-2ACEAE7A4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444950-3AE1-DC0F-75C3-F5992A2B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2 - Rasové disparity u neozbrojených obětí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81DE58-5824-3DE3-5F27-C757ECCF2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000" dirty="0">
                <a:latin typeface="Arial"/>
                <a:ea typeface="+mj-ea"/>
                <a:cs typeface="Arial"/>
              </a:rPr>
              <a:t>Zjištění (SD4ft-Miner):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Black vs </a:t>
            </a:r>
            <a:r>
              <a:rPr lang="cs-CZ" sz="1600" err="1">
                <a:latin typeface="Arial"/>
                <a:cs typeface="Arial"/>
              </a:rPr>
              <a:t>White</a:t>
            </a:r>
            <a:r>
              <a:rPr lang="cs-CZ" sz="1600" dirty="0">
                <a:latin typeface="Arial"/>
                <a:cs typeface="Arial"/>
              </a:rPr>
              <a:t>: </a:t>
            </a:r>
            <a:r>
              <a:rPr lang="cs-CZ" sz="1600" err="1">
                <a:latin typeface="Arial"/>
                <a:cs typeface="Arial"/>
              </a:rPr>
              <a:t>RatioConf</a:t>
            </a:r>
            <a:r>
              <a:rPr lang="cs-CZ" sz="1600" dirty="0">
                <a:latin typeface="Arial"/>
                <a:cs typeface="Arial"/>
              </a:rPr>
              <a:t> = 1,310 (o 31% vyšší pravděpodobnost být neozbrojený),</a:t>
            </a:r>
            <a:endParaRPr lang="cs-CZ" sz="160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Hispanic</a:t>
            </a:r>
            <a:r>
              <a:rPr lang="cs-CZ" sz="1600" dirty="0">
                <a:latin typeface="Arial"/>
                <a:cs typeface="Arial"/>
              </a:rPr>
              <a:t> vs </a:t>
            </a:r>
            <a:r>
              <a:rPr lang="cs-CZ" sz="1600" err="1">
                <a:latin typeface="Arial"/>
                <a:cs typeface="Arial"/>
              </a:rPr>
              <a:t>White</a:t>
            </a:r>
            <a:r>
              <a:rPr lang="cs-CZ" sz="1600" dirty="0">
                <a:latin typeface="Arial"/>
                <a:cs typeface="Arial"/>
              </a:rPr>
              <a:t>: </a:t>
            </a:r>
            <a:r>
              <a:rPr lang="cs-CZ" sz="1600" err="1">
                <a:latin typeface="Arial"/>
                <a:cs typeface="Arial"/>
              </a:rPr>
              <a:t>RatioConf</a:t>
            </a:r>
            <a:r>
              <a:rPr lang="cs-CZ" sz="1600" dirty="0">
                <a:latin typeface="Arial"/>
                <a:cs typeface="Arial"/>
              </a:rPr>
              <a:t> = 1,418 (o 42% vyšší pravděpodobnost být neozbrojený),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Chi</a:t>
            </a:r>
            <a:r>
              <a:rPr lang="cs-CZ" sz="1600" dirty="0">
                <a:latin typeface="Arial"/>
                <a:cs typeface="Arial"/>
              </a:rPr>
              <a:t>-square test potvrzuje statisticky významný vztah (p &lt; 0,01).</a:t>
            </a:r>
            <a:endParaRPr lang="cs-CZ" sz="1600"/>
          </a:p>
          <a:p>
            <a:pPr marL="170815" indent="-170815"/>
            <a:r>
              <a:rPr lang="cs-CZ" sz="2000" dirty="0">
                <a:latin typeface="Arial"/>
                <a:cs typeface="Arial"/>
              </a:rPr>
              <a:t>Interpretace</a:t>
            </a:r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černošské oběti: 12,4% neozbrojených,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hispánské oběti: 13,5% neozbrojených,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bílé oběti: 9,5% neozbrojených,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existují měřitelné rozdíly v tom, jak různé rasové skupiny končí jako oběti střeleb.</a:t>
            </a:r>
          </a:p>
          <a:p>
            <a:pPr marL="170815" indent="-170815"/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20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přezkoumat policejní procedury pro hodnocení hrozby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86521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31787-364E-DB35-1540-A5BDC4981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DB71D78-337F-A13C-1868-AD3B5CC54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3 - Věk, rasa a duševní onemocnění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0F58D0A-27FE-E413-1736-B5D934723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000" dirty="0">
                <a:latin typeface="Arial"/>
                <a:ea typeface="+mj-ea"/>
                <a:cs typeface="Arial"/>
              </a:rPr>
              <a:t>Zjištění (4ft-Miner):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race_category</a:t>
            </a:r>
            <a:r>
              <a:rPr lang="cs-CZ" sz="1600" dirty="0">
                <a:latin typeface="Arial"/>
                <a:cs typeface="Arial"/>
              </a:rPr>
              <a:t>(</a:t>
            </a:r>
            <a:r>
              <a:rPr lang="cs-CZ" sz="1600" err="1">
                <a:latin typeface="Arial"/>
                <a:cs typeface="Arial"/>
              </a:rPr>
              <a:t>White</a:t>
            </a:r>
            <a:r>
              <a:rPr lang="cs-CZ" sz="1600" dirty="0">
                <a:latin typeface="Arial"/>
                <a:cs typeface="Arial"/>
              </a:rPr>
              <a:t>) &amp; </a:t>
            </a:r>
            <a:r>
              <a:rPr lang="cs-CZ" sz="1600" err="1">
                <a:latin typeface="Arial"/>
                <a:cs typeface="Arial"/>
              </a:rPr>
              <a:t>age_group</a:t>
            </a:r>
            <a:r>
              <a:rPr lang="cs-CZ" sz="1600" dirty="0">
                <a:latin typeface="Arial"/>
                <a:cs typeface="Arial"/>
              </a:rPr>
              <a:t>(Senior) =&gt; </a:t>
            </a:r>
            <a:r>
              <a:rPr lang="cs-CZ" sz="1600" err="1">
                <a:latin typeface="Arial"/>
                <a:cs typeface="Arial"/>
              </a:rPr>
              <a:t>mental_illness_flag</a:t>
            </a:r>
            <a:r>
              <a:rPr lang="cs-CZ" sz="1600" dirty="0">
                <a:latin typeface="Arial"/>
                <a:cs typeface="Arial"/>
              </a:rPr>
              <a:t>(</a:t>
            </a:r>
            <a:r>
              <a:rPr lang="cs-CZ" sz="1600" err="1">
                <a:latin typeface="Arial"/>
                <a:cs typeface="Arial"/>
              </a:rPr>
              <a:t>Yes</a:t>
            </a:r>
            <a:r>
              <a:rPr lang="cs-CZ" sz="1600" dirty="0">
                <a:latin typeface="Arial"/>
                <a:cs typeface="Arial"/>
              </a:rPr>
              <a:t>)</a:t>
            </a:r>
            <a:endParaRPr lang="cs-CZ" sz="1600"/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sz="1100" err="1">
                <a:latin typeface="Arial"/>
                <a:cs typeface="Arial"/>
              </a:rPr>
              <a:t>confidence</a:t>
            </a:r>
            <a:r>
              <a:rPr lang="cs-CZ" sz="1100" dirty="0">
                <a:latin typeface="Arial"/>
                <a:cs typeface="Arial"/>
              </a:rPr>
              <a:t>: 38,3%, AAD: +102,2% (více než 2x průměr),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chi</a:t>
            </a:r>
            <a:r>
              <a:rPr lang="cs-CZ" sz="1600" dirty="0">
                <a:latin typeface="Arial"/>
                <a:cs typeface="Arial"/>
              </a:rPr>
              <a:t>-square: Věk vs duševní onemocnění p = 0,0008 (vysoce signifikantní),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senioři celkově: 27,6% s duševním onemocněním vs 18,9% průměr.</a:t>
            </a:r>
            <a:endParaRPr lang="cs-CZ" sz="1600"/>
          </a:p>
          <a:p>
            <a:pPr marL="170815" indent="-170815"/>
            <a:r>
              <a:rPr lang="cs-CZ" sz="2000" dirty="0">
                <a:latin typeface="Arial"/>
                <a:cs typeface="Arial"/>
              </a:rPr>
              <a:t>Interpretace</a:t>
            </a:r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starší běloši s duševním onemocněním představují specifickou rizikovou skupinu,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duševní onemocnění je častější u starších obětí napříč všemi rasami,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kombinace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White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+ Senior má nejvyšší pravděpodobnost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mental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illness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.</a:t>
            </a:r>
          </a:p>
          <a:p>
            <a:pPr marL="170815" indent="-170815"/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20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vytvořit specializované jednotky pro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mental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health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crisis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(CIT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teams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),</a:t>
            </a: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prioritní zavedení v oblastech s vyšším podílem seniorské populace.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459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FF981-ED7E-837C-6731-9545B21DC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329213-1EFF-E97F-C85B-D58DBDC87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4 - Velikost města a relativní míra střeleb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00194A5-E198-A8F7-0375-E4812A9F0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000" dirty="0">
                <a:latin typeface="Arial"/>
                <a:ea typeface="+mj-ea"/>
                <a:cs typeface="Arial"/>
              </a:rPr>
              <a:t>Zjištění:</a:t>
            </a:r>
            <a:endParaRPr lang="cs-CZ" sz="2000">
              <a:ea typeface="+mj-ea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chi</a:t>
            </a:r>
            <a:r>
              <a:rPr lang="cs-CZ" sz="1600" dirty="0">
                <a:latin typeface="Arial"/>
                <a:cs typeface="Arial"/>
              </a:rPr>
              <a:t>-square: p &lt; 0,000001, </a:t>
            </a:r>
            <a:r>
              <a:rPr lang="cs-CZ" sz="1600" err="1">
                <a:latin typeface="Arial"/>
                <a:cs typeface="Arial"/>
              </a:rPr>
              <a:t>Cramer's</a:t>
            </a:r>
            <a:r>
              <a:rPr lang="cs-CZ" sz="1600" dirty="0">
                <a:latin typeface="Arial"/>
                <a:cs typeface="Arial"/>
              </a:rPr>
              <a:t> V = 0,2357,</a:t>
            </a:r>
            <a:endParaRPr lang="cs-CZ" sz="160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malá města: 61,2% v kategorii </a:t>
            </a:r>
            <a:r>
              <a:rPr lang="cs-CZ" sz="1600" err="1">
                <a:latin typeface="Arial"/>
                <a:cs typeface="Arial"/>
              </a:rPr>
              <a:t>High_Rate</a:t>
            </a:r>
            <a:r>
              <a:rPr lang="cs-CZ" sz="1600" dirty="0">
                <a:latin typeface="Arial"/>
                <a:cs typeface="Arial"/>
              </a:rPr>
              <a:t>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střední města: 63,5% v kategorii </a:t>
            </a:r>
            <a:r>
              <a:rPr lang="cs-CZ" sz="1600" err="1">
                <a:latin typeface="Arial"/>
                <a:cs typeface="Arial"/>
              </a:rPr>
              <a:t>High_Rate</a:t>
            </a:r>
            <a:r>
              <a:rPr lang="cs-CZ" sz="1600" dirty="0">
                <a:latin typeface="Arial"/>
                <a:cs typeface="Arial"/>
              </a:rPr>
              <a:t>,</a:t>
            </a:r>
            <a:endParaRPr lang="cs-CZ" sz="160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velká města: 28,9% v kategorii </a:t>
            </a:r>
            <a:r>
              <a:rPr lang="cs-CZ" sz="1600" err="1">
                <a:latin typeface="Arial"/>
                <a:cs typeface="Arial"/>
              </a:rPr>
              <a:t>High_Rate</a:t>
            </a:r>
            <a:r>
              <a:rPr lang="cs-CZ" sz="1600" dirty="0">
                <a:latin typeface="Arial"/>
                <a:cs typeface="Arial"/>
              </a:rPr>
              <a:t>.</a:t>
            </a:r>
          </a:p>
          <a:p>
            <a:pPr marL="170815" indent="-170815"/>
            <a:r>
              <a:rPr lang="cs-CZ" sz="2000" dirty="0">
                <a:latin typeface="Arial"/>
                <a:cs typeface="Arial"/>
              </a:rPr>
              <a:t>Interpretace</a:t>
            </a:r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menší města mají výrazně vyšší relativní míru střeleb (per 100k obyvatel),</a:t>
            </a:r>
            <a:endParaRPr lang="cs-CZ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velká města mají více incidentů absolutně, ale lepší poměr k populaci.</a:t>
            </a:r>
            <a:endParaRPr lang="cs-CZ"/>
          </a:p>
          <a:p>
            <a:pPr marL="170815" indent="-170815"/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20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cílit preventivní programy na malá a střední města,</a:t>
            </a: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sdílení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best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practices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z velkých měst.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7795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FB7216AC-D64E-46AC-BDC6-EF293D05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/>
              <a:t>Závěr 1/3 – Shrnutí výsledků</a:t>
            </a:r>
          </a:p>
        </p:txBody>
      </p:sp>
      <p:sp>
        <p:nvSpPr>
          <p:cNvPr id="7" name="Zástupný obsah 6">
            <a:extLst>
              <a:ext uri="{FF2B5EF4-FFF2-40B4-BE49-F238E27FC236}">
                <a16:creationId xmlns:a16="http://schemas.microsoft.com/office/drawing/2014/main" id="{CA25D872-FF83-4EB5-88DF-5211304DB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Všechny klíčové požadavky implementovány.</a:t>
            </a:r>
            <a:endParaRPr lang="cs-CZ" dirty="0"/>
          </a:p>
          <a:p>
            <a:pPr marL="342900" lvl="1" indent="0">
              <a:lnSpc>
                <a:spcPct val="120000"/>
              </a:lnSpc>
              <a:buNone/>
            </a:pPr>
            <a:endParaRPr lang="cs-CZ" sz="2000" dirty="0">
              <a:latin typeface="Arial"/>
              <a:cs typeface="Arial"/>
            </a:endParaRPr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Cíl práce byl naplněn.</a:t>
            </a:r>
            <a:endParaRPr lang="en-US" sz="2400" dirty="0"/>
          </a:p>
          <a:p>
            <a:pPr marL="285750" indent="-285750">
              <a:lnSpc>
                <a:spcPct val="120000"/>
              </a:lnSpc>
              <a:buFont typeface="Courier New" panose="02070309020205020404" pitchFamily="49" charset="0"/>
              <a:buChar char="o"/>
            </a:pPr>
            <a:endParaRPr lang="cs-CZ" sz="2600" b="1"/>
          </a:p>
        </p:txBody>
      </p:sp>
    </p:spTree>
    <p:extLst>
      <p:ext uri="{BB962C8B-B14F-4D97-AF65-F5344CB8AC3E}">
        <p14:creationId xmlns:p14="http://schemas.microsoft.com/office/powerpoint/2010/main" val="1986417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FB7216AC-D64E-46AC-BDC6-EF293D05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Závěr 2/3 – Hodnocení dosažených výsledků a identifikace neúspěchů</a:t>
            </a:r>
            <a:endParaRPr lang="cs-CZ" dirty="0"/>
          </a:p>
        </p:txBody>
      </p:sp>
      <p:sp>
        <p:nvSpPr>
          <p:cNvPr id="7" name="Zástupný obsah 6">
            <a:extLst>
              <a:ext uri="{FF2B5EF4-FFF2-40B4-BE49-F238E27FC236}">
                <a16:creationId xmlns:a16="http://schemas.microsoft.com/office/drawing/2014/main" id="{CA25D872-FF83-4EB5-88DF-5211304DB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Funkční ETL </a:t>
            </a:r>
            <a:r>
              <a:rPr lang="cs-CZ" sz="2400" dirty="0" err="1">
                <a:latin typeface="Arial"/>
                <a:cs typeface="Arial"/>
              </a:rPr>
              <a:t>pipeline</a:t>
            </a:r>
            <a:r>
              <a:rPr lang="cs-CZ" sz="2400" dirty="0">
                <a:latin typeface="Arial"/>
                <a:cs typeface="Arial"/>
              </a:rPr>
              <a:t> v </a:t>
            </a:r>
            <a:r>
              <a:rPr lang="cs-CZ" sz="2400" dirty="0" err="1">
                <a:latin typeface="Arial"/>
                <a:cs typeface="Arial"/>
              </a:rPr>
              <a:t>BigQuery</a:t>
            </a:r>
            <a:r>
              <a:rPr lang="cs-CZ" sz="2400" dirty="0">
                <a:latin typeface="Arial"/>
                <a:cs typeface="Arial"/>
              </a:rPr>
              <a:t> (9 SQL transformací),</a:t>
            </a:r>
            <a:endParaRPr lang="cs-CZ" dirty="0"/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odhalení paradoxu policejního rozpočtu (r = 0,09),</a:t>
            </a:r>
            <a:endParaRPr lang="cs-CZ" sz="2400" dirty="0"/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identifikace rizikových skupin (senioři, rasové disparity).</a:t>
            </a:r>
            <a:endParaRPr lang="cs-CZ" dirty="0"/>
          </a:p>
          <a:p>
            <a:pPr marL="170815" indent="-170815"/>
            <a:endParaRPr lang="cs-CZ" sz="2400"/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Limity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dirty="0">
                <a:latin typeface="Arial"/>
                <a:cs typeface="Arial"/>
              </a:rPr>
              <a:t>propojeno pouze 174 ze 218 měst (79,8% </a:t>
            </a:r>
            <a:r>
              <a:rPr lang="cs-CZ" sz="2100" dirty="0" err="1">
                <a:latin typeface="Arial"/>
                <a:cs typeface="Arial"/>
              </a:rPr>
              <a:t>coverage</a:t>
            </a:r>
            <a:r>
              <a:rPr lang="cs-CZ" sz="2100" dirty="0">
                <a:latin typeface="Arial"/>
                <a:cs typeface="Arial"/>
              </a:rPr>
              <a:t>),</a:t>
            </a: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dirty="0">
                <a:latin typeface="Arial"/>
                <a:cs typeface="Arial"/>
              </a:rPr>
              <a:t>chybějící data o socioekonomických faktorech (chudoba, nezaměstnanost).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/>
          </a:p>
          <a:p>
            <a:pPr marL="170815" indent="-170815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026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FB7216AC-D64E-46AC-BDC6-EF293D05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/>
              <a:t>Závěr 3/3 - Návrhy pro pokračování výzkumu</a:t>
            </a:r>
          </a:p>
        </p:txBody>
      </p:sp>
      <p:sp>
        <p:nvSpPr>
          <p:cNvPr id="7" name="Zástupný obsah 6">
            <a:extLst>
              <a:ext uri="{FF2B5EF4-FFF2-40B4-BE49-F238E27FC236}">
                <a16:creationId xmlns:a16="http://schemas.microsoft.com/office/drawing/2014/main" id="{CA25D872-FF83-4EB5-88DF-5211304DB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126030"/>
            <a:ext cx="7779544" cy="4291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Integrace socioekonomických dat (příjem, nezaměstnanost, kriminalita),</a:t>
            </a:r>
            <a:endParaRPr lang="cs-CZ" sz="2100" dirty="0"/>
          </a:p>
          <a:p>
            <a:pPr marL="170815" indent="-170815"/>
            <a:endParaRPr lang="cs-CZ" sz="2400">
              <a:latin typeface="Arial"/>
              <a:cs typeface="Arial"/>
            </a:endParaRPr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trendy vývoje střeleb v čase (2015-2024).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232603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0189036C-68F1-2208-6922-3C37B8772AB4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>
                <a:latin typeface="Arial"/>
                <a:cs typeface="Arial"/>
              </a:rPr>
              <a:t>Bc. Josef Gajda</a:t>
            </a:r>
            <a:endParaRPr lang="cs-CZ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0AE53F0-E10B-2153-CF02-4D8F6223EB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Otázky oponentury</a:t>
            </a:r>
            <a:endParaRPr lang="cs-CZ" dirty="0"/>
          </a:p>
        </p:txBody>
      </p:sp>
      <p:sp>
        <p:nvSpPr>
          <p:cNvPr id="6" name="Zástupný text 5">
            <a:extLst>
              <a:ext uri="{FF2B5EF4-FFF2-40B4-BE49-F238E27FC236}">
                <a16:creationId xmlns:a16="http://schemas.microsoft.com/office/drawing/2014/main" id="{BB32C666-AF5C-6331-95FF-031498091A4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Program studia: Informační management</a:t>
            </a:r>
          </a:p>
        </p:txBody>
      </p:sp>
    </p:spTree>
    <p:extLst>
      <p:ext uri="{BB962C8B-B14F-4D97-AF65-F5344CB8AC3E}">
        <p14:creationId xmlns:p14="http://schemas.microsoft.com/office/powerpoint/2010/main" val="3939120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Úvodní sníme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EFCF83D5-7C28-494A-9D09-A3FDE4EA5435}"/>
    </a:ext>
  </a:extLst>
</a:theme>
</file>

<file path=ppt/theme/theme2.xml><?xml version="1.0" encoding="utf-8"?>
<a:theme xmlns:a="http://schemas.openxmlformats.org/drawingml/2006/main" name="Mezititulek / Závě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0719A898-E866-4DE1-A0C7-6673E2DE6ACC}"/>
    </a:ext>
  </a:extLst>
</a:theme>
</file>

<file path=ppt/theme/theme3.xml><?xml version="1.0" encoding="utf-8"?>
<a:theme xmlns:a="http://schemas.openxmlformats.org/drawingml/2006/main" name="Běžné stránky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5F4265E7-B574-4FDE-A297-F52502856981}"/>
    </a:ext>
  </a:extLst>
</a:theme>
</file>

<file path=ppt/theme/theme4.xml><?xml version="1.0" encoding="utf-8"?>
<a:theme xmlns:a="http://schemas.openxmlformats.org/drawingml/2006/main" name="Mezititulek / Závě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0719A898-E866-4DE1-A0C7-6673E2DE6ACC}"/>
    </a:ext>
  </a:extLst>
</a:theme>
</file>

<file path=ppt/theme/theme5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fe71cfb-81ed-4b9d-9a1f-cae1a72b62ba">
      <Terms xmlns="http://schemas.microsoft.com/office/infopath/2007/PartnerControls"/>
    </lcf76f155ced4ddcb4097134ff3c332f>
    <TaxCatchAll xmlns="184be059-f9c1-47a1-baeb-6b78fb5c2cd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5EAD61CDED85140BF5B934B48DD3484" ma:contentTypeVersion="15" ma:contentTypeDescription="Vytvoří nový dokument" ma:contentTypeScope="" ma:versionID="57c7acc678d4da0b8ba39acd8e916ed2">
  <xsd:schema xmlns:xsd="http://www.w3.org/2001/XMLSchema" xmlns:xs="http://www.w3.org/2001/XMLSchema" xmlns:p="http://schemas.microsoft.com/office/2006/metadata/properties" xmlns:ns2="7fe71cfb-81ed-4b9d-9a1f-cae1a72b62ba" xmlns:ns3="184be059-f9c1-47a1-baeb-6b78fb5c2cd7" targetNamespace="http://schemas.microsoft.com/office/2006/metadata/properties" ma:root="true" ma:fieldsID="00b82b4a7cf6d93894e416bb4502bf8f" ns2:_="" ns3:_="">
    <xsd:import namespace="7fe71cfb-81ed-4b9d-9a1f-cae1a72b62ba"/>
    <xsd:import namespace="184be059-f9c1-47a1-baeb-6b78fb5c2cd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e71cfb-81ed-4b9d-9a1f-cae1a72b62b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Značky obrázků" ma:readOnly="false" ma:fieldId="{5cf76f15-5ced-4ddc-b409-7134ff3c332f}" ma:taxonomyMulti="true" ma:sspId="babb5542-b20f-476f-b885-dfe2db7716b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4be059-f9c1-47a1-baeb-6b78fb5c2cd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5e9b24e3-0751-412a-b275-2d618e008197}" ma:internalName="TaxCatchAll" ma:showField="CatchAllData" ma:web="184be059-f9c1-47a1-baeb-6b78fb5c2cd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0DE5107-EA5C-49BC-849B-82F30D30C53B}">
  <ds:schemaRefs>
    <ds:schemaRef ds:uri="http://purl.org/dc/terms/"/>
    <ds:schemaRef ds:uri="184be059-f9c1-47a1-baeb-6b78fb5c2cd7"/>
    <ds:schemaRef ds:uri="http://schemas.microsoft.com/office/2006/documentManagement/types"/>
    <ds:schemaRef ds:uri="http://purl.org/dc/elements/1.1/"/>
    <ds:schemaRef ds:uri="7fe71cfb-81ed-4b9d-9a1f-cae1a72b62ba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dcmitype/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632259C9-B307-4FF4-B7D2-DAD5D3FFF00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8CD9D9D-7B9F-4443-A564-98662DD489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e71cfb-81ed-4b9d-9a1f-cae1a72b62ba"/>
    <ds:schemaRef ds:uri="184be059-f9c1-47a1-baeb-6b78fb5c2c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AI a IMES_obhajoba_new</Template>
  <TotalTime>799</TotalTime>
  <Words>984</Words>
  <Application>Microsoft Office PowerPoint</Application>
  <PresentationFormat>Předvádění na obrazovce (4:3)</PresentationFormat>
  <Paragraphs>130</Paragraphs>
  <Slides>17</Slides>
  <Notes>16</Notes>
  <HiddenSlides>0</HiddenSlides>
  <MMClips>0</MMClips>
  <ScaleCrop>false</ScaleCrop>
  <HeadingPairs>
    <vt:vector size="4" baseType="variant">
      <vt:variant>
        <vt:lpstr>Motiv</vt:lpstr>
      </vt:variant>
      <vt:variant>
        <vt:i4>4</vt:i4>
      </vt:variant>
      <vt:variant>
        <vt:lpstr>Nadpisy snímků</vt:lpstr>
      </vt:variant>
      <vt:variant>
        <vt:i4>17</vt:i4>
      </vt:variant>
    </vt:vector>
  </HeadingPairs>
  <TitlesOfParts>
    <vt:vector size="21" baseType="lpstr">
      <vt:lpstr>Úvodní snímek</vt:lpstr>
      <vt:lpstr>Mezititulek / Závěr</vt:lpstr>
      <vt:lpstr>Běžné stránky</vt:lpstr>
      <vt:lpstr>Mezititulek / Závěr</vt:lpstr>
      <vt:lpstr>Analýza vztahu mezi policejními rozpočty a mírou policejních střeleb v USA</vt:lpstr>
      <vt:lpstr>Popis řešené oblasti</vt:lpstr>
      <vt:lpstr>Cíle analýzy</vt:lpstr>
      <vt:lpstr>Způsob řešení otázek pro data science - 1/2 </vt:lpstr>
      <vt:lpstr>Způsob řešení otázek pro data science - 2/2 </vt:lpstr>
      <vt:lpstr>Prezentace aplikace PowerPoint</vt:lpstr>
      <vt:lpstr>Ukázka výsledků z 4ftMiner</vt:lpstr>
      <vt:lpstr>Závěry BI analýzy - 1/2 </vt:lpstr>
      <vt:lpstr>Závěry BI analýzy - 2/2 </vt:lpstr>
      <vt:lpstr>Klíčové nálezy 1 - Paradox policejního rozpočtu</vt:lpstr>
      <vt:lpstr>Klíčové nálezy 2 - Rasové disparity u neozbrojených obětí</vt:lpstr>
      <vt:lpstr>Klíčové nálezy 3 - Věk, rasa a duševní onemocnění</vt:lpstr>
      <vt:lpstr>Klíčové nálezy 4 - Velikost města a relativní míra střeleb</vt:lpstr>
      <vt:lpstr>Závěr 1/3 – Shrnutí výsledků</vt:lpstr>
      <vt:lpstr>Závěr 2/3 – Hodnocení dosažených výsledků a identifikace neúspěchů</vt:lpstr>
      <vt:lpstr>Závěr 3/3 - Návrhy pro pokračování výzkumu</vt:lpstr>
      <vt:lpstr>Otázky oponentury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Lorem ipsum dolor sit amet, consectetuer adipiscing elit. Etiam commodo dui eget wisi.</dc:title>
  <dc:creator>Martina Jandová</dc:creator>
  <cp:lastModifiedBy>Josef Gajda</cp:lastModifiedBy>
  <cp:revision>2215</cp:revision>
  <dcterms:created xsi:type="dcterms:W3CDTF">2021-03-30T17:50:31Z</dcterms:created>
  <dcterms:modified xsi:type="dcterms:W3CDTF">2026-01-29T12:15:20Z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0x010100A5EAD61CDED85140BF5B934B48DD3484</vt:lpwstr>
  </property>
</Properties>
</file>