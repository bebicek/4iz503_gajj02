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4"/>
    <p:sldMasterId id="2147483676" r:id="rId5"/>
    <p:sldMasterId id="2147483662" r:id="rId6"/>
    <p:sldMasterId id="2147483679" r:id="rId7"/>
  </p:sldMasterIdLst>
  <p:notesMasterIdLst>
    <p:notesMasterId r:id="rId22"/>
  </p:notesMasterIdLst>
  <p:sldIdLst>
    <p:sldId id="263" r:id="rId8"/>
    <p:sldId id="284" r:id="rId9"/>
    <p:sldId id="279" r:id="rId10"/>
    <p:sldId id="277" r:id="rId11"/>
    <p:sldId id="353" r:id="rId12"/>
    <p:sldId id="347" r:id="rId13"/>
    <p:sldId id="358" r:id="rId14"/>
    <p:sldId id="349" r:id="rId15"/>
    <p:sldId id="350" r:id="rId16"/>
    <p:sldId id="351" r:id="rId17"/>
    <p:sldId id="269" r:id="rId18"/>
    <p:sldId id="291" r:id="rId19"/>
    <p:sldId id="289" r:id="rId20"/>
    <p:sldId id="270" r:id="rId21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E9F6E1-0CCD-A329-5A98-6923FCA298F6}" name="Josef Gajda" initials="JG" userId="S::gajj02@vse.cz::62354765-72cf-499b-b531-3c23b95cf57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881"/>
    <a:srgbClr val="B5EAE0"/>
    <a:srgbClr val="89F7E2"/>
    <a:srgbClr val="9AE8F4"/>
    <a:srgbClr val="00659B"/>
    <a:srgbClr val="BDE7FF"/>
    <a:srgbClr val="EB6608"/>
    <a:srgbClr val="FDE2CF"/>
    <a:srgbClr val="D6C2D6"/>
    <a:srgbClr val="F0C2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338BA5-25AC-E1C4-6904-1BB904D460FA}" v="5" dt="2026-01-29T12:14:11.323"/>
    <p1510:client id="{96D763A9-554D-D40E-135A-45B7738B7EBC}" v="593" dt="2026-01-30T01:11:15.5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–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–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–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Světlý styl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03447BB-5D67-496B-8E87-E561075AD55C}" styleName="Tmavý styl 1 – zvýraznění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Střední sty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Tmavý styl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Světlý styl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Světlý styl 2 – zvýraznění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Střední styl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Střední styl 3 – zvýraznění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Světlý styl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58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3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List_Microsoft_Excelu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6.7578487579540367E-2"/>
          <c:y val="3.06571884324651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tx>
          <c:spPr>
            <a:solidFill>
              <a:srgbClr val="009EE2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38-46D1-B2F1-B76DBFE9E6A2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Řada 2</c:v>
                </c:pt>
              </c:strCache>
            </c:strRef>
          </c:tx>
          <c:spPr>
            <a:solidFill>
              <a:srgbClr val="B10062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38-46D1-B2F1-B76DBFE9E6A2}"/>
            </c:ext>
          </c:extLst>
        </c:ser>
        <c:ser>
          <c:idx val="2"/>
          <c:order val="2"/>
          <c:tx>
            <c:strRef>
              <c:f>List1!$D$1</c:f>
              <c:strCache>
                <c:ptCount val="1"/>
                <c:pt idx="0">
                  <c:v>Řada 3</c:v>
                </c:pt>
              </c:strCache>
            </c:strRef>
          </c:tx>
          <c:spPr>
            <a:solidFill>
              <a:srgbClr val="EB6608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F38-46D1-B2F1-B76DBFE9E6A2}"/>
            </c:ext>
          </c:extLst>
        </c:ser>
        <c:ser>
          <c:idx val="3"/>
          <c:order val="3"/>
          <c:tx>
            <c:strRef>
              <c:f>List1!$E$1</c:f>
              <c:strCache>
                <c:ptCount val="1"/>
                <c:pt idx="0">
                  <c:v>Řada 4</c:v>
                </c:pt>
              </c:strCache>
            </c:strRef>
          </c:tx>
          <c:spPr>
            <a:solidFill>
              <a:srgbClr val="00659B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List1!$E$2:$E$5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67-4343-BFC8-39C31FD3D7F6}"/>
            </c:ext>
          </c:extLst>
        </c:ser>
        <c:ser>
          <c:idx val="4"/>
          <c:order val="4"/>
          <c:tx>
            <c:strRef>
              <c:f>List1!$F$1</c:f>
              <c:strCache>
                <c:ptCount val="1"/>
                <c:pt idx="0">
                  <c:v>Řada 5</c:v>
                </c:pt>
              </c:strCache>
            </c:strRef>
          </c:tx>
          <c:spPr>
            <a:solidFill>
              <a:srgbClr val="009881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List1!$F$2:$F$5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A67-4343-BFC8-39C31FD3D7F6}"/>
            </c:ext>
          </c:extLst>
        </c:ser>
        <c:ser>
          <c:idx val="5"/>
          <c:order val="5"/>
          <c:tx>
            <c:strRef>
              <c:f>List1!$G$1</c:f>
              <c:strCache>
                <c:ptCount val="1"/>
                <c:pt idx="0">
                  <c:v>Řada 6</c:v>
                </c:pt>
              </c:strCache>
            </c:strRef>
          </c:tx>
          <c:spPr>
            <a:solidFill>
              <a:srgbClr val="5BC4F1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List1!$G$2:$G$5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A67-4343-BFC8-39C31FD3D7F6}"/>
            </c:ext>
          </c:extLst>
        </c:ser>
        <c:ser>
          <c:idx val="6"/>
          <c:order val="6"/>
          <c:tx>
            <c:strRef>
              <c:f>List1!$H$1</c:f>
              <c:strCache>
                <c:ptCount val="1"/>
                <c:pt idx="0">
                  <c:v>Řada 13</c:v>
                </c:pt>
              </c:strCache>
            </c:strRef>
          </c:tx>
          <c:spPr>
            <a:solidFill>
              <a:srgbClr val="E73088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List1!$H$2:$H$5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A67-4343-BFC8-39C31FD3D7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36283247"/>
        <c:axId val="336943279"/>
      </c:barChart>
      <c:catAx>
        <c:axId val="336283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336943279"/>
        <c:crosses val="autoZero"/>
        <c:auto val="1"/>
        <c:lblAlgn val="ctr"/>
        <c:lblOffset val="100"/>
        <c:noMultiLvlLbl val="0"/>
      </c:catAx>
      <c:valAx>
        <c:axId val="3369432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3362832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CF4301-3CC6-4983-B462-8AF48983D35B}" type="datetimeFigureOut">
              <a:t>29.01.2026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D7887F-6850-4035-AC54-18CAEC2670FC}" type="slidenum"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32471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Dobrý</a:t>
            </a:r>
            <a:r>
              <a:rPr lang="en-US" dirty="0"/>
              <a:t> den, </a:t>
            </a:r>
            <a:r>
              <a:rPr lang="en-US" dirty="0" err="1"/>
              <a:t>jmenuji</a:t>
            </a:r>
            <a:r>
              <a:rPr lang="en-US" dirty="0"/>
              <a:t> se Josef Gajda a </a:t>
            </a:r>
            <a:r>
              <a:rPr lang="en-US" dirty="0" err="1"/>
              <a:t>představím</a:t>
            </a:r>
            <a:r>
              <a:rPr lang="en-US" dirty="0"/>
              <a:t> </a:t>
            </a:r>
            <a:r>
              <a:rPr lang="en-US" dirty="0" err="1"/>
              <a:t>vám</a:t>
            </a:r>
            <a:r>
              <a:rPr lang="en-US" dirty="0"/>
              <a:t> </a:t>
            </a:r>
            <a:r>
              <a:rPr lang="en-US" dirty="0" err="1"/>
              <a:t>svůj</a:t>
            </a:r>
            <a:r>
              <a:rPr lang="en-US" dirty="0"/>
              <a:t> </a:t>
            </a:r>
            <a:r>
              <a:rPr lang="en-US" dirty="0" err="1"/>
              <a:t>projekt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téma</a:t>
            </a:r>
            <a:r>
              <a:rPr lang="en-US" dirty="0"/>
              <a:t> </a:t>
            </a:r>
            <a:r>
              <a:rPr lang="en-US" dirty="0" err="1"/>
              <a:t>Analýza</a:t>
            </a:r>
            <a:r>
              <a:rPr lang="en-US" dirty="0"/>
              <a:t> </a:t>
            </a:r>
            <a:r>
              <a:rPr lang="en-US" dirty="0" err="1"/>
              <a:t>vztahu</a:t>
            </a:r>
            <a:r>
              <a:rPr lang="en-US" dirty="0"/>
              <a:t> </a:t>
            </a:r>
            <a:r>
              <a:rPr lang="en-US" dirty="0" err="1"/>
              <a:t>mezi</a:t>
            </a:r>
            <a:r>
              <a:rPr lang="en-US" dirty="0"/>
              <a:t> </a:t>
            </a:r>
            <a:r>
              <a:rPr lang="en-US" dirty="0" err="1"/>
              <a:t>policejními</a:t>
            </a:r>
            <a:r>
              <a:rPr lang="en-US" dirty="0"/>
              <a:t> </a:t>
            </a:r>
            <a:r>
              <a:rPr lang="en-US" dirty="0" err="1"/>
              <a:t>rozpočty</a:t>
            </a:r>
            <a:r>
              <a:rPr lang="en-US" dirty="0"/>
              <a:t> a </a:t>
            </a:r>
            <a:r>
              <a:rPr lang="en-US" dirty="0" err="1"/>
              <a:t>mírou</a:t>
            </a:r>
            <a:r>
              <a:rPr lang="en-US" dirty="0"/>
              <a:t> </a:t>
            </a:r>
            <a:r>
              <a:rPr lang="en-US" dirty="0" err="1"/>
              <a:t>policejních</a:t>
            </a:r>
            <a:r>
              <a:rPr lang="en-US" dirty="0"/>
              <a:t> </a:t>
            </a:r>
            <a:r>
              <a:rPr lang="en-US" dirty="0" err="1"/>
              <a:t>střeleb</a:t>
            </a:r>
            <a:r>
              <a:rPr lang="en-US" dirty="0"/>
              <a:t> v USA.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7887F-6850-4035-AC54-18CAEC2670FC}" type="slidenum">
              <a:rPr lang="cs-CZ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5848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Cílem</a:t>
            </a:r>
            <a:r>
              <a:rPr lang="en-US" dirty="0"/>
              <a:t> </a:t>
            </a:r>
            <a:r>
              <a:rPr lang="en-US" dirty="0" err="1"/>
              <a:t>projektu</a:t>
            </a:r>
            <a:r>
              <a:rPr lang="en-US" dirty="0"/>
              <a:t> je </a:t>
            </a:r>
            <a:r>
              <a:rPr lang="en-US" dirty="0" err="1"/>
              <a:t>analyzovat</a:t>
            </a:r>
            <a:r>
              <a:rPr lang="en-US" dirty="0"/>
              <a:t> </a:t>
            </a:r>
            <a:r>
              <a:rPr lang="en-US" dirty="0" err="1"/>
              <a:t>faktory</a:t>
            </a:r>
            <a:r>
              <a:rPr lang="en-US" dirty="0"/>
              <a:t> </a:t>
            </a:r>
            <a:r>
              <a:rPr lang="en-US" dirty="0" err="1"/>
              <a:t>ovlivňující</a:t>
            </a:r>
            <a:r>
              <a:rPr lang="en-US" dirty="0"/>
              <a:t> </a:t>
            </a:r>
            <a:r>
              <a:rPr lang="en-US" dirty="0" err="1"/>
              <a:t>četnost</a:t>
            </a:r>
            <a:r>
              <a:rPr lang="en-US" dirty="0"/>
              <a:t> a </a:t>
            </a:r>
            <a:r>
              <a:rPr lang="en-US" dirty="0" err="1"/>
              <a:t>geografické</a:t>
            </a:r>
            <a:r>
              <a:rPr lang="en-US" dirty="0"/>
              <a:t> </a:t>
            </a:r>
            <a:r>
              <a:rPr lang="en-US" dirty="0" err="1"/>
              <a:t>rozložení</a:t>
            </a:r>
            <a:r>
              <a:rPr lang="en-US" dirty="0"/>
              <a:t> </a:t>
            </a:r>
            <a:r>
              <a:rPr lang="en-US" dirty="0" err="1"/>
              <a:t>policejních</a:t>
            </a:r>
            <a:r>
              <a:rPr lang="en-US" dirty="0"/>
              <a:t> </a:t>
            </a:r>
            <a:r>
              <a:rPr lang="en-US" dirty="0" err="1"/>
              <a:t>střeleb</a:t>
            </a:r>
            <a:r>
              <a:rPr lang="en-US" dirty="0"/>
              <a:t> v USA. </a:t>
            </a:r>
            <a:r>
              <a:rPr lang="en-US" dirty="0" err="1"/>
              <a:t>Konkrétně</a:t>
            </a:r>
            <a:r>
              <a:rPr lang="en-US" dirty="0"/>
              <a:t> </a:t>
            </a:r>
            <a:r>
              <a:rPr lang="en-US" dirty="0" err="1"/>
              <a:t>zkoumám</a:t>
            </a:r>
            <a:r>
              <a:rPr lang="en-US" dirty="0"/>
              <a:t>, </a:t>
            </a:r>
            <a:r>
              <a:rPr lang="en-US" dirty="0" err="1"/>
              <a:t>zda</a:t>
            </a:r>
            <a:r>
              <a:rPr lang="en-US" dirty="0"/>
              <a:t> </a:t>
            </a:r>
            <a:r>
              <a:rPr lang="en-US" dirty="0" err="1"/>
              <a:t>existuje</a:t>
            </a:r>
            <a:r>
              <a:rPr lang="en-US" dirty="0"/>
              <a:t> </a:t>
            </a:r>
            <a:r>
              <a:rPr lang="en-US" dirty="0" err="1"/>
              <a:t>souvislost</a:t>
            </a:r>
            <a:r>
              <a:rPr lang="en-US" dirty="0"/>
              <a:t> </a:t>
            </a:r>
            <a:r>
              <a:rPr lang="en-US" dirty="0" err="1"/>
              <a:t>mezi</a:t>
            </a:r>
            <a:r>
              <a:rPr lang="en-US" dirty="0"/>
              <a:t> </a:t>
            </a:r>
            <a:r>
              <a:rPr lang="en-US" dirty="0" err="1"/>
              <a:t>výší</a:t>
            </a:r>
            <a:r>
              <a:rPr lang="en-US" dirty="0"/>
              <a:t> </a:t>
            </a:r>
            <a:r>
              <a:rPr lang="en-US" dirty="0" err="1"/>
              <a:t>rozpočtů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policii</a:t>
            </a:r>
            <a:r>
              <a:rPr lang="en-US" dirty="0"/>
              <a:t> a </a:t>
            </a:r>
            <a:r>
              <a:rPr lang="en-US" dirty="0" err="1"/>
              <a:t>počtem</a:t>
            </a:r>
            <a:r>
              <a:rPr lang="en-US" dirty="0"/>
              <a:t> </a:t>
            </a:r>
            <a:r>
              <a:rPr lang="en-US" dirty="0" err="1"/>
              <a:t>zaznamenaných</a:t>
            </a:r>
            <a:r>
              <a:rPr lang="en-US" dirty="0"/>
              <a:t> </a:t>
            </a:r>
            <a:r>
              <a:rPr lang="en-US" dirty="0" err="1"/>
              <a:t>střeleb</a:t>
            </a:r>
            <a:r>
              <a:rPr lang="en-US" dirty="0"/>
              <a:t>. Toto </a:t>
            </a:r>
            <a:r>
              <a:rPr lang="en-US" dirty="0" err="1"/>
              <a:t>téma</a:t>
            </a:r>
            <a:r>
              <a:rPr lang="en-US" dirty="0"/>
              <a:t> je </a:t>
            </a:r>
            <a:r>
              <a:rPr lang="en-US" dirty="0" err="1"/>
              <a:t>aktuální</a:t>
            </a:r>
            <a:r>
              <a:rPr lang="en-US" dirty="0"/>
              <a:t> </a:t>
            </a:r>
            <a:r>
              <a:rPr lang="en-US" dirty="0" err="1"/>
              <a:t>zejména</a:t>
            </a:r>
            <a:r>
              <a:rPr lang="en-US" dirty="0"/>
              <a:t> v </a:t>
            </a:r>
            <a:r>
              <a:rPr lang="en-US" dirty="0" err="1"/>
              <a:t>kontextu</a:t>
            </a:r>
            <a:r>
              <a:rPr lang="en-US" dirty="0"/>
              <a:t> </a:t>
            </a:r>
            <a:r>
              <a:rPr lang="en-US" dirty="0" err="1"/>
              <a:t>debat</a:t>
            </a:r>
            <a:r>
              <a:rPr lang="en-US" dirty="0"/>
              <a:t> o </a:t>
            </a:r>
            <a:r>
              <a:rPr lang="en-US" dirty="0" err="1"/>
              <a:t>financování</a:t>
            </a:r>
            <a:r>
              <a:rPr lang="en-US" dirty="0"/>
              <a:t> </a:t>
            </a:r>
            <a:r>
              <a:rPr lang="en-US" dirty="0" err="1"/>
              <a:t>policie</a:t>
            </a:r>
            <a:r>
              <a:rPr lang="en-US" dirty="0"/>
              <a:t> v USA.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7887F-6850-4035-AC54-18CAEC2670FC}" type="slidenum"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93955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Projekt </a:t>
            </a:r>
            <a:r>
              <a:rPr lang="en-US" dirty="0" err="1"/>
              <a:t>má</a:t>
            </a:r>
            <a:r>
              <a:rPr lang="en-US" dirty="0"/>
              <a:t> </a:t>
            </a:r>
            <a:r>
              <a:rPr lang="en-US" dirty="0" err="1"/>
              <a:t>tři</a:t>
            </a:r>
            <a:r>
              <a:rPr lang="en-US" dirty="0"/>
              <a:t> </a:t>
            </a:r>
            <a:r>
              <a:rPr lang="en-US" dirty="0" err="1"/>
              <a:t>hlavní</a:t>
            </a:r>
            <a:r>
              <a:rPr lang="en-US" dirty="0"/>
              <a:t> </a:t>
            </a:r>
            <a:r>
              <a:rPr lang="en-US" dirty="0" err="1"/>
              <a:t>cíle</a:t>
            </a:r>
            <a:r>
              <a:rPr lang="en-US" dirty="0"/>
              <a:t>. Za </a:t>
            </a:r>
            <a:r>
              <a:rPr lang="en-US" dirty="0" err="1"/>
              <a:t>prvé</a:t>
            </a:r>
            <a:r>
              <a:rPr lang="en-US" dirty="0"/>
              <a:t>, </a:t>
            </a:r>
            <a:r>
              <a:rPr lang="en-US" dirty="0" err="1"/>
              <a:t>identifikovat</a:t>
            </a:r>
            <a:r>
              <a:rPr lang="en-US" dirty="0"/>
              <a:t> </a:t>
            </a:r>
            <a:r>
              <a:rPr lang="en-US" dirty="0" err="1"/>
              <a:t>vztah</a:t>
            </a:r>
            <a:r>
              <a:rPr lang="en-US" dirty="0"/>
              <a:t> </a:t>
            </a:r>
            <a:r>
              <a:rPr lang="en-US" dirty="0" err="1"/>
              <a:t>mezi</a:t>
            </a:r>
            <a:r>
              <a:rPr lang="en-US" dirty="0"/>
              <a:t> </a:t>
            </a:r>
            <a:r>
              <a:rPr lang="en-US" dirty="0" err="1"/>
              <a:t>výší</a:t>
            </a:r>
            <a:r>
              <a:rPr lang="en-US" dirty="0"/>
              <a:t> </a:t>
            </a:r>
            <a:r>
              <a:rPr lang="en-US" dirty="0" err="1"/>
              <a:t>policejních</a:t>
            </a:r>
            <a:r>
              <a:rPr lang="en-US" dirty="0"/>
              <a:t> </a:t>
            </a:r>
            <a:r>
              <a:rPr lang="en-US" dirty="0" err="1"/>
              <a:t>rozpočtů</a:t>
            </a:r>
            <a:r>
              <a:rPr lang="en-US" dirty="0"/>
              <a:t> </a:t>
            </a:r>
            <a:r>
              <a:rPr lang="en-US" dirty="0" err="1"/>
              <a:t>měst</a:t>
            </a:r>
            <a:r>
              <a:rPr lang="en-US" dirty="0"/>
              <a:t> a </a:t>
            </a:r>
            <a:r>
              <a:rPr lang="en-US" dirty="0" err="1"/>
              <a:t>četností</a:t>
            </a:r>
            <a:r>
              <a:rPr lang="en-US" dirty="0"/>
              <a:t> </a:t>
            </a:r>
            <a:r>
              <a:rPr lang="en-US" dirty="0" err="1"/>
              <a:t>střeleb</a:t>
            </a:r>
            <a:r>
              <a:rPr lang="en-US" dirty="0"/>
              <a:t>. Za </a:t>
            </a:r>
            <a:r>
              <a:rPr lang="en-US" dirty="0" err="1"/>
              <a:t>druhé</a:t>
            </a:r>
            <a:r>
              <a:rPr lang="en-US" dirty="0"/>
              <a:t>, </a:t>
            </a:r>
            <a:r>
              <a:rPr lang="en-US" dirty="0" err="1"/>
              <a:t>analyzovat</a:t>
            </a:r>
            <a:r>
              <a:rPr lang="en-US" dirty="0"/>
              <a:t> </a:t>
            </a:r>
            <a:r>
              <a:rPr lang="en-US" dirty="0" err="1"/>
              <a:t>geografické</a:t>
            </a:r>
            <a:r>
              <a:rPr lang="en-US" dirty="0"/>
              <a:t> a </a:t>
            </a:r>
            <a:r>
              <a:rPr lang="en-US" dirty="0" err="1"/>
              <a:t>demografické</a:t>
            </a:r>
            <a:r>
              <a:rPr lang="en-US" dirty="0"/>
              <a:t> </a:t>
            </a:r>
            <a:r>
              <a:rPr lang="en-US" dirty="0" err="1"/>
              <a:t>vzorce</a:t>
            </a:r>
            <a:r>
              <a:rPr lang="en-US" dirty="0"/>
              <a:t> </a:t>
            </a:r>
            <a:r>
              <a:rPr lang="en-US" dirty="0" err="1"/>
              <a:t>včetně</a:t>
            </a:r>
            <a:r>
              <a:rPr lang="en-US" dirty="0"/>
              <a:t> </a:t>
            </a:r>
            <a:r>
              <a:rPr lang="en-US" dirty="0" err="1"/>
              <a:t>rasového</a:t>
            </a:r>
            <a:r>
              <a:rPr lang="en-US" dirty="0"/>
              <a:t> </a:t>
            </a:r>
            <a:r>
              <a:rPr lang="en-US" dirty="0" err="1"/>
              <a:t>složení</a:t>
            </a:r>
            <a:r>
              <a:rPr lang="en-US" dirty="0"/>
              <a:t> </a:t>
            </a:r>
            <a:r>
              <a:rPr lang="en-US" dirty="0" err="1"/>
              <a:t>obětí</a:t>
            </a:r>
            <a:r>
              <a:rPr lang="en-US" dirty="0"/>
              <a:t>. A za </a:t>
            </a:r>
            <a:r>
              <a:rPr lang="en-US" dirty="0" err="1"/>
              <a:t>třetí</a:t>
            </a:r>
            <a:r>
              <a:rPr lang="en-US" dirty="0"/>
              <a:t>, </a:t>
            </a:r>
            <a:r>
              <a:rPr lang="en-US" dirty="0" err="1"/>
              <a:t>prozkoumat</a:t>
            </a:r>
            <a:r>
              <a:rPr lang="en-US" dirty="0"/>
              <a:t> </a:t>
            </a:r>
            <a:r>
              <a:rPr lang="en-US" dirty="0" err="1"/>
              <a:t>demografické</a:t>
            </a:r>
            <a:r>
              <a:rPr lang="en-US" dirty="0"/>
              <a:t> a </a:t>
            </a:r>
            <a:r>
              <a:rPr lang="en-US" dirty="0" err="1"/>
              <a:t>situační</a:t>
            </a:r>
            <a:r>
              <a:rPr lang="en-US" dirty="0"/>
              <a:t> </a:t>
            </a:r>
            <a:r>
              <a:rPr lang="en-US" dirty="0" err="1"/>
              <a:t>faktory</a:t>
            </a:r>
            <a:r>
              <a:rPr lang="en-US" dirty="0"/>
              <a:t> </a:t>
            </a:r>
            <a:r>
              <a:rPr lang="en-US" dirty="0" err="1"/>
              <a:t>spojené</a:t>
            </a:r>
            <a:r>
              <a:rPr lang="en-US" dirty="0"/>
              <a:t> s </a:t>
            </a:r>
            <a:r>
              <a:rPr lang="en-US" dirty="0" err="1"/>
              <a:t>těmito</a:t>
            </a:r>
            <a:r>
              <a:rPr lang="en-US" dirty="0"/>
              <a:t> </a:t>
            </a:r>
            <a:r>
              <a:rPr lang="en-US" dirty="0" err="1"/>
              <a:t>incidenty</a:t>
            </a:r>
            <a:r>
              <a:rPr lang="en-US" dirty="0"/>
              <a:t>.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7887F-6850-4035-AC54-18CAEC2670FC}" type="slidenum"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1145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 </a:t>
            </a:r>
            <a:r>
              <a:rPr lang="en-US" dirty="0" err="1"/>
              <a:t>přípravu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jsem</a:t>
            </a:r>
            <a:r>
              <a:rPr lang="en-US" dirty="0"/>
              <a:t> </a:t>
            </a:r>
            <a:r>
              <a:rPr lang="en-US" dirty="0" err="1"/>
              <a:t>použil</a:t>
            </a:r>
            <a:r>
              <a:rPr lang="en-US" dirty="0"/>
              <a:t> </a:t>
            </a:r>
            <a:r>
              <a:rPr lang="en-US" dirty="0" err="1"/>
              <a:t>BigQuery</a:t>
            </a:r>
            <a:r>
              <a:rPr lang="en-US" dirty="0"/>
              <a:t>, </a:t>
            </a:r>
            <a:r>
              <a:rPr lang="en-US" dirty="0" err="1"/>
              <a:t>kde</a:t>
            </a:r>
            <a:r>
              <a:rPr lang="en-US" dirty="0"/>
              <a:t> </a:t>
            </a:r>
            <a:r>
              <a:rPr lang="en-US" dirty="0" err="1"/>
              <a:t>jsem</a:t>
            </a:r>
            <a:r>
              <a:rPr lang="en-US" dirty="0"/>
              <a:t> </a:t>
            </a:r>
            <a:r>
              <a:rPr lang="en-US" dirty="0" err="1"/>
              <a:t>vytvořil</a:t>
            </a:r>
            <a:r>
              <a:rPr lang="en-US" dirty="0"/>
              <a:t> SQL </a:t>
            </a:r>
            <a:r>
              <a:rPr lang="en-US" dirty="0" err="1"/>
              <a:t>transformace</a:t>
            </a:r>
            <a:r>
              <a:rPr lang="en-US" dirty="0"/>
              <a:t> pro </a:t>
            </a:r>
            <a:r>
              <a:rPr lang="en-US" dirty="0" err="1"/>
              <a:t>čištění</a:t>
            </a:r>
            <a:r>
              <a:rPr lang="en-US" dirty="0"/>
              <a:t> a </a:t>
            </a:r>
            <a:r>
              <a:rPr lang="en-US" dirty="0" err="1"/>
              <a:t>propojení</a:t>
            </a:r>
            <a:r>
              <a:rPr lang="en-US" dirty="0"/>
              <a:t> </a:t>
            </a:r>
            <a:r>
              <a:rPr lang="en-US" dirty="0" err="1"/>
              <a:t>datových</a:t>
            </a:r>
            <a:r>
              <a:rPr lang="en-US" dirty="0"/>
              <a:t> </a:t>
            </a:r>
            <a:r>
              <a:rPr lang="en-US" dirty="0" err="1"/>
              <a:t>zdrojů</a:t>
            </a:r>
            <a:r>
              <a:rPr lang="en-US" dirty="0"/>
              <a:t>. Data o </a:t>
            </a:r>
            <a:r>
              <a:rPr lang="en-US" dirty="0" err="1"/>
              <a:t>střelbách</a:t>
            </a:r>
            <a:r>
              <a:rPr lang="en-US" dirty="0"/>
              <a:t> </a:t>
            </a:r>
            <a:r>
              <a:rPr lang="en-US" dirty="0" err="1"/>
              <a:t>pocházejí</a:t>
            </a:r>
            <a:r>
              <a:rPr lang="en-US" dirty="0"/>
              <a:t> z </a:t>
            </a:r>
            <a:r>
              <a:rPr lang="en-US" dirty="0" err="1"/>
              <a:t>databáze</a:t>
            </a:r>
            <a:r>
              <a:rPr lang="en-US" dirty="0"/>
              <a:t> Washington Post a </a:t>
            </a:r>
            <a:r>
              <a:rPr lang="en-US" dirty="0" err="1"/>
              <a:t>rozpočtová</a:t>
            </a:r>
            <a:r>
              <a:rPr lang="en-US" dirty="0"/>
              <a:t> data z </a:t>
            </a:r>
            <a:r>
              <a:rPr lang="en-US" dirty="0" err="1"/>
              <a:t>městských</a:t>
            </a:r>
            <a:r>
              <a:rPr lang="en-US" dirty="0"/>
              <a:t> </a:t>
            </a:r>
            <a:r>
              <a:rPr lang="en-US" dirty="0" err="1"/>
              <a:t>finančních</a:t>
            </a:r>
            <a:r>
              <a:rPr lang="en-US" dirty="0"/>
              <a:t> </a:t>
            </a:r>
            <a:r>
              <a:rPr lang="en-US" dirty="0" err="1"/>
              <a:t>výkazů</a:t>
            </a:r>
            <a:r>
              <a:rPr lang="en-US" dirty="0"/>
              <a:t>. BI </a:t>
            </a:r>
            <a:r>
              <a:rPr lang="en-US" dirty="0" err="1"/>
              <a:t>část</a:t>
            </a:r>
            <a:r>
              <a:rPr lang="en-US" dirty="0"/>
              <a:t> </a:t>
            </a:r>
            <a:r>
              <a:rPr lang="en-US" dirty="0" err="1"/>
              <a:t>byla</a:t>
            </a:r>
            <a:r>
              <a:rPr lang="en-US" dirty="0"/>
              <a:t> </a:t>
            </a:r>
            <a:r>
              <a:rPr lang="en-US" dirty="0" err="1"/>
              <a:t>realizována</a:t>
            </a:r>
            <a:r>
              <a:rPr lang="en-US" dirty="0"/>
              <a:t> v Power BI pro </a:t>
            </a:r>
            <a:r>
              <a:rPr lang="en-US" dirty="0" err="1"/>
              <a:t>vytvoření</a:t>
            </a:r>
            <a:r>
              <a:rPr lang="en-US" dirty="0"/>
              <a:t> </a:t>
            </a:r>
            <a:r>
              <a:rPr lang="en-US" dirty="0" err="1"/>
              <a:t>interaktivních</a:t>
            </a:r>
            <a:r>
              <a:rPr lang="en-US" dirty="0"/>
              <a:t> </a:t>
            </a:r>
            <a:r>
              <a:rPr lang="en-US" dirty="0" err="1"/>
              <a:t>dashboardů</a:t>
            </a:r>
            <a:endParaRPr lang="cs-CZ" dirty="0" err="1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7887F-6850-4035-AC54-18CAEC2670FC}" type="slidenum"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26829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science </a:t>
            </a:r>
            <a:r>
              <a:rPr lang="en-US" dirty="0" err="1"/>
              <a:t>analýza</a:t>
            </a:r>
            <a:r>
              <a:rPr lang="en-US" dirty="0"/>
              <a:t> </a:t>
            </a:r>
            <a:r>
              <a:rPr lang="en-US" dirty="0" err="1"/>
              <a:t>probíhala</a:t>
            </a:r>
            <a:r>
              <a:rPr lang="en-US" dirty="0"/>
              <a:t> v </a:t>
            </a:r>
            <a:r>
              <a:rPr lang="en-US" dirty="0" err="1"/>
              <a:t>Pythonu</a:t>
            </a:r>
            <a:r>
              <a:rPr lang="en-US" dirty="0"/>
              <a:t>. </a:t>
            </a:r>
            <a:r>
              <a:rPr lang="en-US" dirty="0" err="1"/>
              <a:t>Použil</a:t>
            </a:r>
            <a:r>
              <a:rPr lang="en-US" dirty="0"/>
              <a:t> </a:t>
            </a:r>
            <a:r>
              <a:rPr lang="en-US" dirty="0" err="1"/>
              <a:t>jsem</a:t>
            </a:r>
            <a:r>
              <a:rPr lang="en-US" dirty="0"/>
              <a:t> </a:t>
            </a:r>
            <a:r>
              <a:rPr lang="en-US" dirty="0" err="1"/>
              <a:t>statistické</a:t>
            </a:r>
            <a:r>
              <a:rPr lang="en-US" dirty="0"/>
              <a:t> </a:t>
            </a:r>
            <a:r>
              <a:rPr lang="en-US" dirty="0" err="1"/>
              <a:t>metody</a:t>
            </a:r>
            <a:r>
              <a:rPr lang="en-US" dirty="0"/>
              <a:t> </a:t>
            </a:r>
            <a:r>
              <a:rPr lang="en-US" dirty="0" err="1"/>
              <a:t>jako</a:t>
            </a:r>
            <a:r>
              <a:rPr lang="en-US" dirty="0"/>
              <a:t> chi-square testy a </a:t>
            </a:r>
            <a:r>
              <a:rPr lang="en-US" dirty="0" err="1"/>
              <a:t>Cramerovo</a:t>
            </a:r>
            <a:r>
              <a:rPr lang="en-US" dirty="0"/>
              <a:t> V pro </a:t>
            </a:r>
            <a:r>
              <a:rPr lang="en-US" dirty="0" err="1"/>
              <a:t>měření</a:t>
            </a:r>
            <a:r>
              <a:rPr lang="en-US" dirty="0"/>
              <a:t> </a:t>
            </a:r>
            <a:r>
              <a:rPr lang="en-US" dirty="0" err="1"/>
              <a:t>síly</a:t>
            </a:r>
            <a:r>
              <a:rPr lang="en-US" dirty="0"/>
              <a:t> </a:t>
            </a:r>
            <a:r>
              <a:rPr lang="en-US" dirty="0" err="1"/>
              <a:t>asociací</a:t>
            </a:r>
            <a:r>
              <a:rPr lang="en-US" dirty="0"/>
              <a:t>. </a:t>
            </a:r>
            <a:r>
              <a:rPr lang="en-US" dirty="0" err="1"/>
              <a:t>Dále</a:t>
            </a:r>
            <a:r>
              <a:rPr lang="en-US" dirty="0"/>
              <a:t> </a:t>
            </a:r>
            <a:r>
              <a:rPr lang="en-US" dirty="0" err="1"/>
              <a:t>jsem</a:t>
            </a:r>
            <a:r>
              <a:rPr lang="en-US" dirty="0"/>
              <a:t> </a:t>
            </a:r>
            <a:r>
              <a:rPr lang="en-US" dirty="0" err="1"/>
              <a:t>aplikoval</a:t>
            </a:r>
            <a:r>
              <a:rPr lang="en-US" dirty="0"/>
              <a:t> </a:t>
            </a:r>
            <a:r>
              <a:rPr lang="en-US" dirty="0" err="1"/>
              <a:t>procedury</a:t>
            </a:r>
            <a:r>
              <a:rPr lang="en-US" dirty="0"/>
              <a:t> z </a:t>
            </a:r>
            <a:r>
              <a:rPr lang="en-US" dirty="0" err="1"/>
              <a:t>knihovny</a:t>
            </a:r>
            <a:r>
              <a:rPr lang="en-US" dirty="0"/>
              <a:t> CleverMiner - </a:t>
            </a:r>
            <a:r>
              <a:rPr lang="en-US" dirty="0" err="1"/>
              <a:t>konkrétně</a:t>
            </a:r>
            <a:r>
              <a:rPr lang="en-US" dirty="0"/>
              <a:t> 4ft-Miner pro </a:t>
            </a:r>
            <a:r>
              <a:rPr lang="en-US" dirty="0" err="1"/>
              <a:t>asociační</a:t>
            </a:r>
            <a:r>
              <a:rPr lang="en-US" dirty="0"/>
              <a:t> </a:t>
            </a:r>
            <a:r>
              <a:rPr lang="en-US" dirty="0" err="1"/>
              <a:t>pravidla</a:t>
            </a:r>
            <a:r>
              <a:rPr lang="en-US" dirty="0"/>
              <a:t>, CF-Miner pro </a:t>
            </a:r>
            <a:r>
              <a:rPr lang="en-US" dirty="0" err="1"/>
              <a:t>analýzu</a:t>
            </a:r>
            <a:r>
              <a:rPr lang="en-US" dirty="0"/>
              <a:t> </a:t>
            </a:r>
            <a:r>
              <a:rPr lang="en-US" dirty="0" err="1"/>
              <a:t>distribucí</a:t>
            </a:r>
            <a:r>
              <a:rPr lang="en-US" dirty="0"/>
              <a:t> a SD4ft-Miner pro subgroup discovery. Pro </a:t>
            </a:r>
            <a:r>
              <a:rPr lang="en-US" dirty="0" err="1"/>
              <a:t>prediktivní</a:t>
            </a:r>
            <a:r>
              <a:rPr lang="en-US" dirty="0"/>
              <a:t> </a:t>
            </a:r>
            <a:r>
              <a:rPr lang="en-US" dirty="0" err="1"/>
              <a:t>modelování</a:t>
            </a:r>
            <a:r>
              <a:rPr lang="en-US" dirty="0"/>
              <a:t> </a:t>
            </a:r>
            <a:r>
              <a:rPr lang="en-US" dirty="0" err="1"/>
              <a:t>jsem</a:t>
            </a:r>
            <a:r>
              <a:rPr lang="en-US" dirty="0"/>
              <a:t> </a:t>
            </a:r>
            <a:r>
              <a:rPr lang="en-US" dirty="0" err="1"/>
              <a:t>použil</a:t>
            </a:r>
            <a:r>
              <a:rPr lang="en-US" dirty="0"/>
              <a:t> Random Forest.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7887F-6850-4035-AC54-18CAEC2670FC}" type="slidenum"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096767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První</a:t>
            </a:r>
            <a:r>
              <a:rPr lang="en-US" dirty="0"/>
              <a:t> a </a:t>
            </a:r>
            <a:r>
              <a:rPr lang="en-US" dirty="0" err="1"/>
              <a:t>nejdůležitější</a:t>
            </a:r>
            <a:r>
              <a:rPr lang="en-US" dirty="0"/>
              <a:t> </a:t>
            </a:r>
            <a:r>
              <a:rPr lang="en-US" dirty="0" err="1"/>
              <a:t>zjištění</a:t>
            </a:r>
            <a:r>
              <a:rPr lang="en-US" dirty="0"/>
              <a:t> je </a:t>
            </a:r>
            <a:r>
              <a:rPr lang="en-US" dirty="0" err="1"/>
              <a:t>takzvaný</a:t>
            </a:r>
            <a:r>
              <a:rPr lang="en-US" dirty="0"/>
              <a:t> paradox </a:t>
            </a:r>
            <a:r>
              <a:rPr lang="en-US" dirty="0" err="1"/>
              <a:t>policejního</a:t>
            </a:r>
            <a:r>
              <a:rPr lang="en-US" dirty="0"/>
              <a:t> </a:t>
            </a:r>
            <a:r>
              <a:rPr lang="en-US" dirty="0" err="1"/>
              <a:t>rozpočtu</a:t>
            </a:r>
            <a:r>
              <a:rPr lang="en-US" dirty="0"/>
              <a:t>. </a:t>
            </a:r>
            <a:r>
              <a:rPr lang="en-US" dirty="0" err="1"/>
              <a:t>Korelace</a:t>
            </a:r>
            <a:r>
              <a:rPr lang="en-US" dirty="0"/>
              <a:t> </a:t>
            </a:r>
            <a:r>
              <a:rPr lang="en-US" dirty="0" err="1"/>
              <a:t>mezi</a:t>
            </a:r>
            <a:r>
              <a:rPr lang="en-US" dirty="0"/>
              <a:t> </a:t>
            </a:r>
            <a:r>
              <a:rPr lang="en-US" dirty="0" err="1"/>
              <a:t>rozpočtem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policii</a:t>
            </a:r>
            <a:r>
              <a:rPr lang="en-US" dirty="0"/>
              <a:t> per capita a </a:t>
            </a:r>
            <a:r>
              <a:rPr lang="en-US" dirty="0" err="1"/>
              <a:t>mírou</a:t>
            </a:r>
            <a:r>
              <a:rPr lang="en-US" dirty="0"/>
              <a:t> </a:t>
            </a:r>
            <a:r>
              <a:rPr lang="en-US" dirty="0" err="1"/>
              <a:t>střeleb</a:t>
            </a:r>
            <a:r>
              <a:rPr lang="en-US" dirty="0"/>
              <a:t> je </a:t>
            </a:r>
            <a:r>
              <a:rPr lang="en-US" dirty="0" err="1"/>
              <a:t>pouze</a:t>
            </a:r>
            <a:r>
              <a:rPr lang="en-US" dirty="0"/>
              <a:t> 0,29, </a:t>
            </a:r>
            <a:r>
              <a:rPr lang="en-US" dirty="0" err="1"/>
              <a:t>což</a:t>
            </a:r>
            <a:r>
              <a:rPr lang="en-US" dirty="0"/>
              <a:t> je </a:t>
            </a:r>
            <a:r>
              <a:rPr lang="en-US" dirty="0" err="1"/>
              <a:t>slabá</a:t>
            </a:r>
            <a:r>
              <a:rPr lang="en-US" dirty="0"/>
              <a:t> </a:t>
            </a:r>
            <a:r>
              <a:rPr lang="en-US" dirty="0" err="1"/>
              <a:t>korelace</a:t>
            </a:r>
            <a:r>
              <a:rPr lang="en-US" dirty="0"/>
              <a:t>. Co je </a:t>
            </a:r>
            <a:r>
              <a:rPr lang="en-US" dirty="0" err="1"/>
              <a:t>překvapivější</a:t>
            </a:r>
            <a:r>
              <a:rPr lang="en-US" dirty="0"/>
              <a:t> - </a:t>
            </a:r>
            <a:r>
              <a:rPr lang="en-US" dirty="0" err="1"/>
              <a:t>města</a:t>
            </a:r>
            <a:r>
              <a:rPr lang="en-US" dirty="0"/>
              <a:t> s </a:t>
            </a:r>
            <a:r>
              <a:rPr lang="en-US" dirty="0" err="1"/>
              <a:t>vysokým</a:t>
            </a:r>
            <a:r>
              <a:rPr lang="en-US" dirty="0"/>
              <a:t> </a:t>
            </a:r>
            <a:r>
              <a:rPr lang="en-US" dirty="0" err="1"/>
              <a:t>rozpočtem</a:t>
            </a:r>
            <a:r>
              <a:rPr lang="en-US" dirty="0"/>
              <a:t> </a:t>
            </a:r>
            <a:r>
              <a:rPr lang="en-US" dirty="0" err="1"/>
              <a:t>mají</a:t>
            </a:r>
            <a:r>
              <a:rPr lang="en-US" dirty="0"/>
              <a:t> </a:t>
            </a:r>
            <a:r>
              <a:rPr lang="en-US" dirty="0" err="1"/>
              <a:t>dokonce</a:t>
            </a:r>
            <a:r>
              <a:rPr lang="en-US" dirty="0"/>
              <a:t> </a:t>
            </a:r>
            <a:r>
              <a:rPr lang="en-US" dirty="0" err="1"/>
              <a:t>vyšší</a:t>
            </a:r>
            <a:r>
              <a:rPr lang="en-US" dirty="0"/>
              <a:t> </a:t>
            </a:r>
            <a:r>
              <a:rPr lang="en-US" dirty="0" err="1"/>
              <a:t>pravděpodobnost</a:t>
            </a:r>
            <a:r>
              <a:rPr lang="en-US" dirty="0"/>
              <a:t> </a:t>
            </a:r>
            <a:r>
              <a:rPr lang="en-US" dirty="0" err="1"/>
              <a:t>vysoké</a:t>
            </a:r>
            <a:r>
              <a:rPr lang="en-US" dirty="0"/>
              <a:t> </a:t>
            </a:r>
            <a:r>
              <a:rPr lang="en-US" dirty="0" err="1"/>
              <a:t>míry</a:t>
            </a:r>
            <a:r>
              <a:rPr lang="en-US" dirty="0"/>
              <a:t> </a:t>
            </a:r>
            <a:r>
              <a:rPr lang="en-US" dirty="0" err="1"/>
              <a:t>střeleb</a:t>
            </a:r>
            <a:r>
              <a:rPr lang="en-US" dirty="0"/>
              <a:t>, </a:t>
            </a:r>
            <a:r>
              <a:rPr lang="en-US" dirty="0" err="1"/>
              <a:t>konkrétně</a:t>
            </a:r>
            <a:r>
              <a:rPr lang="en-US" dirty="0"/>
              <a:t> 69,4 </a:t>
            </a:r>
            <a:r>
              <a:rPr lang="en-US" dirty="0" err="1"/>
              <a:t>procent</a:t>
            </a:r>
            <a:r>
              <a:rPr lang="en-US" dirty="0"/>
              <a:t>.</a:t>
            </a:r>
            <a:endParaRPr lang="cs-CZ" dirty="0"/>
          </a:p>
          <a:p>
            <a:endParaRPr lang="en-US" dirty="0"/>
          </a:p>
          <a:p>
            <a:r>
              <a:rPr lang="en-US" dirty="0"/>
              <a:t>Toto </a:t>
            </a:r>
            <a:r>
              <a:rPr lang="en-US" dirty="0" err="1"/>
              <a:t>potvrzuje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4ft-Miner </a:t>
            </a:r>
            <a:r>
              <a:rPr lang="en-US" dirty="0" err="1"/>
              <a:t>pravidlo</a:t>
            </a:r>
            <a:r>
              <a:rPr lang="en-US" dirty="0"/>
              <a:t> s confidence 0,694. Graf </a:t>
            </a:r>
            <a:r>
              <a:rPr lang="en-US" dirty="0" err="1"/>
              <a:t>ukazuje</a:t>
            </a:r>
            <a:r>
              <a:rPr lang="en-US" dirty="0"/>
              <a:t>, </a:t>
            </a:r>
            <a:r>
              <a:rPr lang="en-US" dirty="0" err="1"/>
              <a:t>že</a:t>
            </a:r>
            <a:r>
              <a:rPr lang="en-US" dirty="0"/>
              <a:t> </a:t>
            </a:r>
            <a:r>
              <a:rPr lang="en-US" dirty="0" err="1"/>
              <a:t>průměrná</a:t>
            </a:r>
            <a:r>
              <a:rPr lang="en-US" dirty="0"/>
              <a:t> </a:t>
            </a:r>
            <a:r>
              <a:rPr lang="en-US" dirty="0" err="1"/>
              <a:t>míra</a:t>
            </a:r>
            <a:r>
              <a:rPr lang="en-US" dirty="0"/>
              <a:t> </a:t>
            </a:r>
            <a:r>
              <a:rPr lang="en-US" dirty="0" err="1"/>
              <a:t>střeleb</a:t>
            </a:r>
            <a:r>
              <a:rPr lang="en-US" dirty="0"/>
              <a:t> </a:t>
            </a:r>
            <a:r>
              <a:rPr lang="en-US" dirty="0" err="1"/>
              <a:t>roste</a:t>
            </a:r>
            <a:r>
              <a:rPr lang="en-US" dirty="0"/>
              <a:t> s </a:t>
            </a:r>
            <a:r>
              <a:rPr lang="en-US" dirty="0" err="1"/>
              <a:t>kategorií</a:t>
            </a:r>
            <a:r>
              <a:rPr lang="en-US" dirty="0"/>
              <a:t> </a:t>
            </a:r>
            <a:r>
              <a:rPr lang="en-US" dirty="0" err="1"/>
              <a:t>rozpočtu</a:t>
            </a:r>
            <a:r>
              <a:rPr lang="en-US" dirty="0"/>
              <a:t> - od 3,2 u </a:t>
            </a:r>
            <a:r>
              <a:rPr lang="en-US" dirty="0" err="1"/>
              <a:t>nízkého</a:t>
            </a:r>
            <a:r>
              <a:rPr lang="en-US" dirty="0"/>
              <a:t> </a:t>
            </a:r>
            <a:r>
              <a:rPr lang="en-US" dirty="0" err="1"/>
              <a:t>rozpočtu</a:t>
            </a:r>
            <a:r>
              <a:rPr lang="en-US" dirty="0"/>
              <a:t> po 3,7 u </a:t>
            </a:r>
            <a:r>
              <a:rPr lang="en-US" dirty="0" err="1"/>
              <a:t>vysokého</a:t>
            </a:r>
            <a:r>
              <a:rPr lang="en-US" dirty="0"/>
              <a:t>.</a:t>
            </a:r>
            <a:endParaRPr lang="cs-CZ" dirty="0"/>
          </a:p>
          <a:p>
            <a:r>
              <a:rPr lang="en-US" dirty="0" err="1"/>
              <a:t>Interpretace</a:t>
            </a:r>
            <a:r>
              <a:rPr lang="en-US" dirty="0"/>
              <a:t> je </a:t>
            </a:r>
            <a:r>
              <a:rPr lang="en-US" dirty="0" err="1"/>
              <a:t>jasná</a:t>
            </a:r>
            <a:r>
              <a:rPr lang="en-US" dirty="0"/>
              <a:t>: </a:t>
            </a:r>
            <a:r>
              <a:rPr lang="en-US" dirty="0" err="1"/>
              <a:t>vyšší</a:t>
            </a:r>
            <a:r>
              <a:rPr lang="en-US" dirty="0"/>
              <a:t> </a:t>
            </a:r>
            <a:r>
              <a:rPr lang="en-US" dirty="0" err="1"/>
              <a:t>rozpočet</a:t>
            </a:r>
            <a:r>
              <a:rPr lang="en-US" dirty="0"/>
              <a:t> </a:t>
            </a:r>
            <a:r>
              <a:rPr lang="en-US" dirty="0" err="1"/>
              <a:t>automaticky</a:t>
            </a:r>
            <a:r>
              <a:rPr lang="en-US" dirty="0"/>
              <a:t> </a:t>
            </a:r>
            <a:r>
              <a:rPr lang="en-US" dirty="0" err="1"/>
              <a:t>neznamená</a:t>
            </a:r>
            <a:r>
              <a:rPr lang="en-US" dirty="0"/>
              <a:t> </a:t>
            </a:r>
            <a:r>
              <a:rPr lang="en-US" dirty="0" err="1"/>
              <a:t>méně</a:t>
            </a:r>
            <a:r>
              <a:rPr lang="en-US" dirty="0"/>
              <a:t> </a:t>
            </a:r>
            <a:r>
              <a:rPr lang="en-US" dirty="0" err="1"/>
              <a:t>střeleb</a:t>
            </a:r>
            <a:r>
              <a:rPr lang="en-US" dirty="0"/>
              <a:t>. </a:t>
            </a:r>
            <a:r>
              <a:rPr lang="en-US" dirty="0" err="1"/>
              <a:t>Samotné</a:t>
            </a:r>
            <a:r>
              <a:rPr lang="en-US" dirty="0"/>
              <a:t> </a:t>
            </a:r>
            <a:r>
              <a:rPr lang="en-US" dirty="0" err="1"/>
              <a:t>navyšování</a:t>
            </a:r>
            <a:r>
              <a:rPr lang="en-US" dirty="0"/>
              <a:t> </a:t>
            </a:r>
            <a:r>
              <a:rPr lang="en-US" dirty="0" err="1"/>
              <a:t>rozpočtů</a:t>
            </a:r>
            <a:r>
              <a:rPr lang="en-US" dirty="0"/>
              <a:t> </a:t>
            </a:r>
            <a:r>
              <a:rPr lang="en-US" dirty="0" err="1"/>
              <a:t>tedy</a:t>
            </a:r>
            <a:r>
              <a:rPr lang="en-US" dirty="0"/>
              <a:t> </a:t>
            </a:r>
            <a:r>
              <a:rPr lang="en-US" dirty="0" err="1"/>
              <a:t>není</a:t>
            </a:r>
            <a:r>
              <a:rPr lang="en-US" dirty="0"/>
              <a:t> </a:t>
            </a:r>
            <a:r>
              <a:rPr lang="en-US" dirty="0" err="1"/>
              <a:t>efektivní</a:t>
            </a:r>
            <a:r>
              <a:rPr lang="en-US" dirty="0"/>
              <a:t> </a:t>
            </a:r>
            <a:r>
              <a:rPr lang="en-US" dirty="0" err="1"/>
              <a:t>strategií</a:t>
            </a:r>
            <a:r>
              <a:rPr lang="en-US" dirty="0"/>
              <a:t> pro </a:t>
            </a:r>
            <a:r>
              <a:rPr lang="en-US" dirty="0" err="1"/>
              <a:t>snížení</a:t>
            </a:r>
            <a:r>
              <a:rPr lang="en-US" dirty="0"/>
              <a:t> </a:t>
            </a:r>
            <a:r>
              <a:rPr lang="en-US" dirty="0" err="1"/>
              <a:t>počtu</a:t>
            </a:r>
            <a:r>
              <a:rPr lang="en-US" dirty="0"/>
              <a:t> </a:t>
            </a:r>
            <a:r>
              <a:rPr lang="en-US" dirty="0" err="1"/>
              <a:t>incidentů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7887F-6850-4035-AC54-18CAEC2670FC}" type="slidenum"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40843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C57B5-B72C-D340-F9D4-6EAE05452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18E82915-E3CD-022A-4321-7A3AB3637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DFD45ABC-1D89-C29C-372D-7741B0085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Druhý</a:t>
            </a:r>
            <a:r>
              <a:rPr lang="en-US" dirty="0"/>
              <a:t> </a:t>
            </a:r>
            <a:r>
              <a:rPr lang="en-US" dirty="0" err="1"/>
              <a:t>nález</a:t>
            </a:r>
            <a:r>
              <a:rPr lang="en-US" dirty="0"/>
              <a:t> se </a:t>
            </a:r>
            <a:r>
              <a:rPr lang="en-US" dirty="0" err="1"/>
              <a:t>týká</a:t>
            </a:r>
            <a:r>
              <a:rPr lang="en-US" dirty="0"/>
              <a:t> </a:t>
            </a:r>
            <a:r>
              <a:rPr lang="en-US" dirty="0" err="1"/>
              <a:t>velikosti</a:t>
            </a:r>
            <a:r>
              <a:rPr lang="en-US" dirty="0"/>
              <a:t> </a:t>
            </a:r>
            <a:r>
              <a:rPr lang="en-US" dirty="0" err="1"/>
              <a:t>měst</a:t>
            </a:r>
            <a:r>
              <a:rPr lang="en-US" dirty="0"/>
              <a:t>. Chi-square test s p-</a:t>
            </a:r>
            <a:r>
              <a:rPr lang="en-US" dirty="0" err="1"/>
              <a:t>hodnotou</a:t>
            </a:r>
            <a:r>
              <a:rPr lang="en-US" dirty="0"/>
              <a:t> </a:t>
            </a:r>
            <a:r>
              <a:rPr lang="en-US" dirty="0" err="1"/>
              <a:t>menší</a:t>
            </a:r>
            <a:r>
              <a:rPr lang="en-US" dirty="0"/>
              <a:t> </a:t>
            </a:r>
            <a:r>
              <a:rPr lang="en-US" dirty="0" err="1"/>
              <a:t>než</a:t>
            </a:r>
            <a:r>
              <a:rPr lang="en-US" dirty="0"/>
              <a:t> 0,000001 a </a:t>
            </a:r>
            <a:r>
              <a:rPr lang="en-US" dirty="0" err="1"/>
              <a:t>Cramerovým</a:t>
            </a:r>
            <a:r>
              <a:rPr lang="en-US" dirty="0"/>
              <a:t> V 0,24 </a:t>
            </a:r>
            <a:r>
              <a:rPr lang="en-US" dirty="0" err="1"/>
              <a:t>potvrzuje</a:t>
            </a:r>
            <a:r>
              <a:rPr lang="en-US" dirty="0"/>
              <a:t> </a:t>
            </a:r>
            <a:r>
              <a:rPr lang="en-US" dirty="0" err="1"/>
              <a:t>statisticky</a:t>
            </a:r>
            <a:r>
              <a:rPr lang="en-US" dirty="0"/>
              <a:t> </a:t>
            </a:r>
            <a:r>
              <a:rPr lang="en-US" dirty="0" err="1"/>
              <a:t>významný</a:t>
            </a:r>
            <a:r>
              <a:rPr lang="en-US" dirty="0"/>
              <a:t> </a:t>
            </a:r>
            <a:r>
              <a:rPr lang="en-US" dirty="0" err="1"/>
              <a:t>vztah</a:t>
            </a:r>
            <a:r>
              <a:rPr lang="en-US" dirty="0"/>
              <a:t> </a:t>
            </a:r>
            <a:r>
              <a:rPr lang="en-US" dirty="0" err="1"/>
              <a:t>mezi</a:t>
            </a:r>
            <a:r>
              <a:rPr lang="en-US" dirty="0"/>
              <a:t> </a:t>
            </a:r>
            <a:r>
              <a:rPr lang="en-US" dirty="0" err="1"/>
              <a:t>velikostí</a:t>
            </a:r>
            <a:r>
              <a:rPr lang="en-US" dirty="0"/>
              <a:t> </a:t>
            </a:r>
            <a:r>
              <a:rPr lang="en-US" dirty="0" err="1"/>
              <a:t>města</a:t>
            </a:r>
            <a:r>
              <a:rPr lang="en-US" dirty="0"/>
              <a:t> a </a:t>
            </a:r>
            <a:r>
              <a:rPr lang="en-US" dirty="0" err="1"/>
              <a:t>mírou</a:t>
            </a:r>
            <a:r>
              <a:rPr lang="en-US" dirty="0"/>
              <a:t> </a:t>
            </a:r>
            <a:r>
              <a:rPr lang="en-US" dirty="0" err="1"/>
              <a:t>střeleb</a:t>
            </a:r>
            <a:r>
              <a:rPr lang="en-US" dirty="0"/>
              <a:t>.</a:t>
            </a:r>
            <a:endParaRPr lang="cs-CZ" dirty="0"/>
          </a:p>
          <a:p>
            <a:r>
              <a:rPr lang="en-US" err="1"/>
              <a:t>Konkrétně</a:t>
            </a:r>
            <a:r>
              <a:rPr lang="en-US" dirty="0"/>
              <a:t>: </a:t>
            </a:r>
            <a:r>
              <a:rPr lang="en-US" err="1"/>
              <a:t>malá</a:t>
            </a:r>
            <a:r>
              <a:rPr lang="en-US" dirty="0"/>
              <a:t> </a:t>
            </a:r>
            <a:r>
              <a:rPr lang="en-US" err="1"/>
              <a:t>města</a:t>
            </a:r>
            <a:r>
              <a:rPr lang="en-US" dirty="0"/>
              <a:t> </a:t>
            </a:r>
            <a:r>
              <a:rPr lang="en-US" err="1"/>
              <a:t>mají</a:t>
            </a:r>
            <a:r>
              <a:rPr lang="en-US" dirty="0"/>
              <a:t> 61 </a:t>
            </a:r>
            <a:r>
              <a:rPr lang="en-US" err="1"/>
              <a:t>procent</a:t>
            </a:r>
            <a:r>
              <a:rPr lang="en-US" dirty="0"/>
              <a:t> </a:t>
            </a:r>
            <a:r>
              <a:rPr lang="en-US" err="1"/>
              <a:t>případů</a:t>
            </a:r>
            <a:r>
              <a:rPr lang="en-US" dirty="0"/>
              <a:t> v </a:t>
            </a:r>
            <a:r>
              <a:rPr lang="en-US" err="1"/>
              <a:t>kategorii</a:t>
            </a:r>
            <a:r>
              <a:rPr lang="en-US" dirty="0"/>
              <a:t> </a:t>
            </a:r>
            <a:r>
              <a:rPr lang="en-US" err="1"/>
              <a:t>vysoké</a:t>
            </a:r>
            <a:r>
              <a:rPr lang="en-US" dirty="0"/>
              <a:t> </a:t>
            </a:r>
            <a:r>
              <a:rPr lang="en-US" err="1"/>
              <a:t>míry</a:t>
            </a:r>
            <a:r>
              <a:rPr lang="en-US" dirty="0"/>
              <a:t> </a:t>
            </a:r>
            <a:r>
              <a:rPr lang="en-US" err="1"/>
              <a:t>střeleb</a:t>
            </a:r>
            <a:r>
              <a:rPr lang="en-US" dirty="0"/>
              <a:t>, </a:t>
            </a:r>
            <a:r>
              <a:rPr lang="en-US" err="1"/>
              <a:t>střední</a:t>
            </a:r>
            <a:r>
              <a:rPr lang="en-US" dirty="0"/>
              <a:t> </a:t>
            </a:r>
            <a:r>
              <a:rPr lang="en-US" err="1"/>
              <a:t>města</a:t>
            </a:r>
            <a:r>
              <a:rPr lang="en-US" dirty="0"/>
              <a:t> 63,5 </a:t>
            </a:r>
            <a:r>
              <a:rPr lang="en-US" err="1"/>
              <a:t>procenta</a:t>
            </a:r>
            <a:r>
              <a:rPr lang="en-US" dirty="0"/>
              <a:t>, ale </a:t>
            </a:r>
            <a:r>
              <a:rPr lang="en-US" err="1"/>
              <a:t>velká</a:t>
            </a:r>
            <a:r>
              <a:rPr lang="en-US" dirty="0"/>
              <a:t> </a:t>
            </a:r>
            <a:r>
              <a:rPr lang="en-US" err="1"/>
              <a:t>města</a:t>
            </a:r>
            <a:r>
              <a:rPr lang="en-US" dirty="0"/>
              <a:t> </a:t>
            </a:r>
            <a:r>
              <a:rPr lang="en-US" err="1"/>
              <a:t>pouze</a:t>
            </a:r>
            <a:r>
              <a:rPr lang="en-US" dirty="0"/>
              <a:t> 29 </a:t>
            </a:r>
            <a:r>
              <a:rPr lang="en-US" err="1"/>
              <a:t>procent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 err="1"/>
              <a:t>Paradoxně</a:t>
            </a:r>
            <a:r>
              <a:rPr lang="en-US" dirty="0"/>
              <a:t> </a:t>
            </a:r>
            <a:r>
              <a:rPr lang="en-US" dirty="0" err="1"/>
              <a:t>tedy</a:t>
            </a:r>
            <a:r>
              <a:rPr lang="en-US" dirty="0"/>
              <a:t> -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když</a:t>
            </a:r>
            <a:r>
              <a:rPr lang="en-US" dirty="0"/>
              <a:t> </a:t>
            </a:r>
            <a:r>
              <a:rPr lang="en-US" dirty="0" err="1"/>
              <a:t>Kalifornie</a:t>
            </a:r>
            <a:r>
              <a:rPr lang="en-US" dirty="0"/>
              <a:t> a Texas </a:t>
            </a:r>
            <a:r>
              <a:rPr lang="en-US" dirty="0" err="1"/>
              <a:t>dominují</a:t>
            </a:r>
            <a:r>
              <a:rPr lang="en-US" dirty="0"/>
              <a:t> v </a:t>
            </a:r>
            <a:r>
              <a:rPr lang="en-US" dirty="0" err="1"/>
              <a:t>absolutních</a:t>
            </a:r>
            <a:r>
              <a:rPr lang="en-US" dirty="0"/>
              <a:t> </a:t>
            </a:r>
            <a:r>
              <a:rPr lang="en-US" dirty="0" err="1"/>
              <a:t>počtech</a:t>
            </a:r>
            <a:r>
              <a:rPr lang="en-US" dirty="0"/>
              <a:t> a </a:t>
            </a:r>
            <a:r>
              <a:rPr lang="en-US" dirty="0" err="1"/>
              <a:t>velká</a:t>
            </a:r>
            <a:r>
              <a:rPr lang="en-US" dirty="0"/>
              <a:t> </a:t>
            </a:r>
            <a:r>
              <a:rPr lang="en-US" dirty="0" err="1"/>
              <a:t>města</a:t>
            </a:r>
            <a:r>
              <a:rPr lang="en-US" dirty="0"/>
              <a:t> </a:t>
            </a:r>
            <a:r>
              <a:rPr lang="en-US" dirty="0" err="1"/>
              <a:t>mají</a:t>
            </a:r>
            <a:r>
              <a:rPr lang="en-US" dirty="0"/>
              <a:t> </a:t>
            </a:r>
            <a:r>
              <a:rPr lang="en-US" dirty="0" err="1"/>
              <a:t>více</a:t>
            </a:r>
            <a:r>
              <a:rPr lang="en-US" dirty="0"/>
              <a:t> </a:t>
            </a:r>
            <a:r>
              <a:rPr lang="en-US" dirty="0" err="1"/>
              <a:t>incidentů</a:t>
            </a:r>
            <a:r>
              <a:rPr lang="en-US" dirty="0"/>
              <a:t> </a:t>
            </a:r>
            <a:r>
              <a:rPr lang="en-US" dirty="0" err="1"/>
              <a:t>celkem</a:t>
            </a:r>
            <a:r>
              <a:rPr lang="en-US" dirty="0"/>
              <a:t>, po </a:t>
            </a:r>
            <a:r>
              <a:rPr lang="en-US" dirty="0" err="1"/>
              <a:t>přepočtu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populaci</a:t>
            </a:r>
            <a:r>
              <a:rPr lang="en-US" dirty="0"/>
              <a:t> </a:t>
            </a:r>
            <a:r>
              <a:rPr lang="en-US" dirty="0" err="1"/>
              <a:t>mají</a:t>
            </a:r>
            <a:r>
              <a:rPr lang="en-US" dirty="0"/>
              <a:t> </a:t>
            </a:r>
            <a:r>
              <a:rPr lang="en-US" dirty="0" err="1"/>
              <a:t>menší</a:t>
            </a:r>
            <a:r>
              <a:rPr lang="en-US" dirty="0"/>
              <a:t> </a:t>
            </a:r>
            <a:r>
              <a:rPr lang="en-US" dirty="0" err="1"/>
              <a:t>města</a:t>
            </a:r>
            <a:r>
              <a:rPr lang="en-US" dirty="0"/>
              <a:t> </a:t>
            </a:r>
            <a:r>
              <a:rPr lang="en-US" dirty="0" err="1"/>
              <a:t>výrazně</a:t>
            </a:r>
            <a:r>
              <a:rPr lang="en-US" dirty="0"/>
              <a:t> </a:t>
            </a:r>
            <a:r>
              <a:rPr lang="en-US" dirty="0" err="1"/>
              <a:t>horší</a:t>
            </a:r>
            <a:r>
              <a:rPr lang="en-US" dirty="0"/>
              <a:t> </a:t>
            </a:r>
            <a:r>
              <a:rPr lang="en-US" dirty="0" err="1"/>
              <a:t>výsledky</a:t>
            </a:r>
            <a:r>
              <a:rPr lang="en-US" dirty="0"/>
              <a:t>. To </a:t>
            </a:r>
            <a:r>
              <a:rPr lang="en-US" dirty="0" err="1"/>
              <a:t>naznačuje</a:t>
            </a:r>
            <a:r>
              <a:rPr lang="en-US" dirty="0"/>
              <a:t>, </a:t>
            </a:r>
            <a:r>
              <a:rPr lang="en-US" dirty="0" err="1"/>
              <a:t>že</a:t>
            </a:r>
            <a:r>
              <a:rPr lang="en-US" dirty="0"/>
              <a:t> </a:t>
            </a:r>
            <a:r>
              <a:rPr lang="en-US" dirty="0" err="1"/>
              <a:t>preventivní</a:t>
            </a:r>
            <a:r>
              <a:rPr lang="en-US" dirty="0"/>
              <a:t> </a:t>
            </a:r>
            <a:r>
              <a:rPr lang="en-US" dirty="0" err="1"/>
              <a:t>programy</a:t>
            </a:r>
            <a:r>
              <a:rPr lang="en-US" dirty="0"/>
              <a:t> by </a:t>
            </a:r>
            <a:r>
              <a:rPr lang="en-US" dirty="0" err="1"/>
              <a:t>měly</a:t>
            </a:r>
            <a:r>
              <a:rPr lang="en-US" dirty="0"/>
              <a:t> </a:t>
            </a:r>
            <a:r>
              <a:rPr lang="en-US" dirty="0" err="1"/>
              <a:t>cílit</a:t>
            </a:r>
            <a:r>
              <a:rPr lang="en-US" dirty="0"/>
              <a:t> </a:t>
            </a:r>
            <a:r>
              <a:rPr lang="en-US" dirty="0" err="1"/>
              <a:t>právě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malá</a:t>
            </a:r>
            <a:r>
              <a:rPr lang="en-US" dirty="0"/>
              <a:t> a </a:t>
            </a:r>
            <a:r>
              <a:rPr lang="en-US" dirty="0" err="1"/>
              <a:t>střední</a:t>
            </a:r>
            <a:r>
              <a:rPr lang="en-US" dirty="0"/>
              <a:t> </a:t>
            </a:r>
            <a:r>
              <a:rPr lang="en-US" dirty="0" err="1"/>
              <a:t>města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163DEB6-5D1A-89D8-3769-915B684CD9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7887F-6850-4035-AC54-18CAEC2670FC}" type="slidenum"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643548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Třetí</a:t>
            </a:r>
            <a:r>
              <a:rPr lang="en-US"/>
              <a:t> </a:t>
            </a:r>
            <a:r>
              <a:rPr lang="en-US" err="1"/>
              <a:t>nález</a:t>
            </a:r>
            <a:r>
              <a:rPr lang="en-US"/>
              <a:t> se týká rasových disparit, konkrétně u neozbrojených obětí. Pomocí SD4ft-Miner jsem porovnal pravděpodobnost, že oběť byla neozbrojená, mezi rasovými skupinami.</a:t>
            </a:r>
            <a:endParaRPr lang="cs-CZ"/>
          </a:p>
          <a:p>
            <a:r>
              <a:rPr lang="en-US" err="1"/>
              <a:t>Černošské</a:t>
            </a:r>
            <a:r>
              <a:rPr lang="en-US" dirty="0"/>
              <a:t> </a:t>
            </a:r>
            <a:r>
              <a:rPr lang="en-US" err="1"/>
              <a:t>oběti</a:t>
            </a:r>
            <a:r>
              <a:rPr lang="en-US" dirty="0"/>
              <a:t> </a:t>
            </a:r>
            <a:r>
              <a:rPr lang="en-US" err="1"/>
              <a:t>mají</a:t>
            </a:r>
            <a:r>
              <a:rPr lang="en-US"/>
              <a:t> o 31 </a:t>
            </a:r>
            <a:r>
              <a:rPr lang="en-US" err="1"/>
              <a:t>procent</a:t>
            </a:r>
            <a:r>
              <a:rPr lang="en-US"/>
              <a:t> </a:t>
            </a:r>
            <a:r>
              <a:rPr lang="en-US" err="1"/>
              <a:t>vyšší</a:t>
            </a:r>
            <a:r>
              <a:rPr lang="en-US"/>
              <a:t> </a:t>
            </a:r>
            <a:r>
              <a:rPr lang="en-US" err="1"/>
              <a:t>pravděpodobnost</a:t>
            </a:r>
            <a:r>
              <a:rPr lang="en-US"/>
              <a:t> </a:t>
            </a:r>
            <a:r>
              <a:rPr lang="en-US" err="1"/>
              <a:t>být</a:t>
            </a:r>
            <a:r>
              <a:rPr lang="en-US"/>
              <a:t> </a:t>
            </a:r>
            <a:r>
              <a:rPr lang="en-US" err="1"/>
              <a:t>neozbrojené</a:t>
            </a:r>
            <a:r>
              <a:rPr lang="en-US"/>
              <a:t> </a:t>
            </a:r>
            <a:r>
              <a:rPr lang="en-US" err="1"/>
              <a:t>ve</a:t>
            </a:r>
            <a:r>
              <a:rPr lang="en-US"/>
              <a:t> </a:t>
            </a:r>
            <a:r>
              <a:rPr lang="en-US" err="1"/>
              <a:t>srovnání</a:t>
            </a:r>
            <a:r>
              <a:rPr lang="en-US"/>
              <a:t> s </a:t>
            </a:r>
            <a:r>
              <a:rPr lang="en-US" err="1"/>
              <a:t>bílými</a:t>
            </a:r>
            <a:r>
              <a:rPr lang="en-US"/>
              <a:t> </a:t>
            </a:r>
            <a:r>
              <a:rPr lang="en-US" err="1"/>
              <a:t>oběťmi</a:t>
            </a:r>
            <a:r>
              <a:rPr lang="en-US"/>
              <a:t>. U </a:t>
            </a:r>
            <a:r>
              <a:rPr lang="en-US" err="1"/>
              <a:t>hispánských</a:t>
            </a:r>
            <a:r>
              <a:rPr lang="en-US"/>
              <a:t> </a:t>
            </a:r>
            <a:r>
              <a:rPr lang="en-US" err="1"/>
              <a:t>obětí</a:t>
            </a:r>
            <a:r>
              <a:rPr lang="en-US"/>
              <a:t> je to </a:t>
            </a:r>
            <a:r>
              <a:rPr lang="en-US" err="1"/>
              <a:t>dokonce</a:t>
            </a:r>
            <a:r>
              <a:rPr lang="en-US"/>
              <a:t> o 42 </a:t>
            </a:r>
            <a:r>
              <a:rPr lang="en-US" err="1"/>
              <a:t>procent</a:t>
            </a:r>
            <a:r>
              <a:rPr lang="en-US"/>
              <a:t> </a:t>
            </a:r>
            <a:r>
              <a:rPr lang="en-US" err="1"/>
              <a:t>více</a:t>
            </a:r>
            <a:r>
              <a:rPr lang="en-US"/>
              <a:t>. Konkrétní </a:t>
            </a:r>
            <a:r>
              <a:rPr lang="en-US" err="1"/>
              <a:t>čísla</a:t>
            </a:r>
            <a:r>
              <a:rPr lang="en-US"/>
              <a:t>: 12,4 </a:t>
            </a:r>
            <a:r>
              <a:rPr lang="en-US" err="1"/>
              <a:t>procenta</a:t>
            </a:r>
            <a:r>
              <a:rPr lang="en-US"/>
              <a:t> </a:t>
            </a:r>
            <a:r>
              <a:rPr lang="en-US" err="1"/>
              <a:t>černošských</a:t>
            </a:r>
            <a:r>
              <a:rPr lang="en-US"/>
              <a:t> </a:t>
            </a:r>
            <a:r>
              <a:rPr lang="en-US" err="1"/>
              <a:t>obětí</a:t>
            </a:r>
            <a:r>
              <a:rPr lang="en-US"/>
              <a:t> </a:t>
            </a:r>
            <a:r>
              <a:rPr lang="en-US" err="1"/>
              <a:t>bylo</a:t>
            </a:r>
            <a:r>
              <a:rPr lang="en-US"/>
              <a:t> </a:t>
            </a:r>
            <a:r>
              <a:rPr lang="en-US" err="1"/>
              <a:t>neozbrojených</a:t>
            </a:r>
            <a:r>
              <a:rPr lang="en-US"/>
              <a:t>, 13,5 </a:t>
            </a:r>
            <a:r>
              <a:rPr lang="en-US" err="1"/>
              <a:t>procenta</a:t>
            </a:r>
            <a:r>
              <a:rPr lang="en-US"/>
              <a:t> </a:t>
            </a:r>
            <a:r>
              <a:rPr lang="en-US" err="1"/>
              <a:t>hispánských</a:t>
            </a:r>
            <a:r>
              <a:rPr lang="en-US"/>
              <a:t>, ale </a:t>
            </a:r>
            <a:r>
              <a:rPr lang="en-US" err="1"/>
              <a:t>pouze</a:t>
            </a:r>
            <a:r>
              <a:rPr lang="en-US"/>
              <a:t> 9,5 </a:t>
            </a:r>
            <a:r>
              <a:rPr lang="en-US" err="1"/>
              <a:t>procenta</a:t>
            </a:r>
            <a:r>
              <a:rPr lang="en-US"/>
              <a:t> </a:t>
            </a:r>
            <a:r>
              <a:rPr lang="en-US" err="1"/>
              <a:t>bílých</a:t>
            </a:r>
            <a:r>
              <a:rPr lang="en-US"/>
              <a:t>.</a:t>
            </a:r>
          </a:p>
          <a:p>
            <a:endParaRPr lang="en-US" dirty="0"/>
          </a:p>
          <a:p>
            <a:r>
              <a:rPr lang="en-US"/>
              <a:t>Chi-square test </a:t>
            </a:r>
            <a:r>
              <a:rPr lang="en-US" err="1"/>
              <a:t>potvrzuje</a:t>
            </a:r>
            <a:r>
              <a:rPr lang="en-US"/>
              <a:t> statistickou významnost s p-hodnotou menší než 0,01. Graf ukazuje rozložení kategorií výzbroje napříč rasami. Tato data naznačují potřebu dalšího zkoumání faktorů </a:t>
            </a:r>
            <a:r>
              <a:rPr lang="en-US" err="1"/>
              <a:t>ovlivňujících</a:t>
            </a:r>
            <a:r>
              <a:rPr lang="en-US"/>
              <a:t> </a:t>
            </a:r>
            <a:r>
              <a:rPr lang="en-US" err="1"/>
              <a:t>hodnocení</a:t>
            </a:r>
            <a:r>
              <a:rPr lang="en-US"/>
              <a:t> </a:t>
            </a:r>
            <a:r>
              <a:rPr lang="en-US" err="1"/>
              <a:t>hrozby</a:t>
            </a:r>
            <a:r>
              <a:rPr lang="en-US"/>
              <a:t>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7887F-6850-4035-AC54-18CAEC2670FC}" type="slidenum"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639253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Čtvrtý</a:t>
            </a:r>
            <a:r>
              <a:rPr lang="en-US" dirty="0"/>
              <a:t> </a:t>
            </a:r>
            <a:r>
              <a:rPr lang="en-US" dirty="0" err="1"/>
              <a:t>nález</a:t>
            </a:r>
            <a:r>
              <a:rPr lang="en-US" dirty="0"/>
              <a:t> </a:t>
            </a:r>
            <a:r>
              <a:rPr lang="en-US" dirty="0" err="1"/>
              <a:t>identifikuje</a:t>
            </a:r>
            <a:r>
              <a:rPr lang="en-US" dirty="0"/>
              <a:t> </a:t>
            </a:r>
            <a:r>
              <a:rPr lang="en-US" dirty="0" err="1"/>
              <a:t>specifickou</a:t>
            </a:r>
            <a:r>
              <a:rPr lang="en-US" dirty="0"/>
              <a:t> </a:t>
            </a:r>
            <a:r>
              <a:rPr lang="en-US" dirty="0" err="1"/>
              <a:t>rizikovou</a:t>
            </a:r>
            <a:r>
              <a:rPr lang="en-US" dirty="0"/>
              <a:t> </a:t>
            </a:r>
            <a:r>
              <a:rPr lang="en-US" dirty="0" err="1"/>
              <a:t>skupinu</a:t>
            </a:r>
            <a:r>
              <a:rPr lang="en-US" dirty="0"/>
              <a:t>. 4ft-Miner </a:t>
            </a:r>
            <a:r>
              <a:rPr lang="en-US" dirty="0" err="1"/>
              <a:t>pravidlo</a:t>
            </a:r>
            <a:r>
              <a:rPr lang="en-US" dirty="0"/>
              <a:t> </a:t>
            </a:r>
            <a:r>
              <a:rPr lang="en-US" dirty="0" err="1"/>
              <a:t>ukazuje</a:t>
            </a:r>
            <a:r>
              <a:rPr lang="en-US" dirty="0"/>
              <a:t>, </a:t>
            </a:r>
            <a:r>
              <a:rPr lang="en-US" dirty="0" err="1"/>
              <a:t>že</a:t>
            </a:r>
            <a:r>
              <a:rPr lang="en-US" dirty="0"/>
              <a:t> </a:t>
            </a:r>
            <a:r>
              <a:rPr lang="en-US" dirty="0" err="1"/>
              <a:t>kombinace</a:t>
            </a:r>
            <a:r>
              <a:rPr lang="en-US" dirty="0"/>
              <a:t> </a:t>
            </a:r>
            <a:r>
              <a:rPr lang="en-US" dirty="0" err="1"/>
              <a:t>bílá</a:t>
            </a:r>
            <a:r>
              <a:rPr lang="en-US" dirty="0"/>
              <a:t> rasa a </a:t>
            </a:r>
            <a:r>
              <a:rPr lang="en-US" dirty="0" err="1"/>
              <a:t>seniorský</a:t>
            </a:r>
            <a:r>
              <a:rPr lang="en-US" dirty="0"/>
              <a:t> </a:t>
            </a:r>
            <a:r>
              <a:rPr lang="en-US" dirty="0" err="1"/>
              <a:t>věk</a:t>
            </a:r>
            <a:r>
              <a:rPr lang="en-US" dirty="0"/>
              <a:t> </a:t>
            </a:r>
            <a:r>
              <a:rPr lang="en-US" dirty="0" err="1"/>
              <a:t>silně</a:t>
            </a:r>
            <a:r>
              <a:rPr lang="en-US" dirty="0"/>
              <a:t> </a:t>
            </a:r>
            <a:r>
              <a:rPr lang="en-US" dirty="0" err="1"/>
              <a:t>predikuje</a:t>
            </a:r>
            <a:r>
              <a:rPr lang="en-US" dirty="0"/>
              <a:t> </a:t>
            </a:r>
            <a:r>
              <a:rPr lang="en-US" dirty="0" err="1"/>
              <a:t>přítomnost</a:t>
            </a:r>
            <a:r>
              <a:rPr lang="en-US" dirty="0"/>
              <a:t> </a:t>
            </a:r>
            <a:r>
              <a:rPr lang="en-US" dirty="0" err="1"/>
              <a:t>duševního</a:t>
            </a:r>
            <a:r>
              <a:rPr lang="en-US" dirty="0"/>
              <a:t> </a:t>
            </a:r>
            <a:r>
              <a:rPr lang="en-US" dirty="0" err="1"/>
              <a:t>onemocnění</a:t>
            </a:r>
            <a:r>
              <a:rPr lang="en-US" dirty="0"/>
              <a:t> s confidence 38,3 </a:t>
            </a:r>
            <a:r>
              <a:rPr lang="en-US" dirty="0" err="1"/>
              <a:t>procenta</a:t>
            </a:r>
            <a:r>
              <a:rPr lang="en-US" dirty="0"/>
              <a:t> a AAD plus 102 </a:t>
            </a:r>
            <a:r>
              <a:rPr lang="en-US" dirty="0" err="1"/>
              <a:t>procent</a:t>
            </a:r>
            <a:r>
              <a:rPr lang="en-US" dirty="0"/>
              <a:t>, </a:t>
            </a:r>
            <a:r>
              <a:rPr lang="en-US" dirty="0" err="1"/>
              <a:t>což</a:t>
            </a:r>
            <a:r>
              <a:rPr lang="en-US" dirty="0"/>
              <a:t> </a:t>
            </a:r>
            <a:r>
              <a:rPr lang="en-US" dirty="0" err="1"/>
              <a:t>znamená</a:t>
            </a:r>
            <a:r>
              <a:rPr lang="en-US" dirty="0"/>
              <a:t> </a:t>
            </a:r>
            <a:r>
              <a:rPr lang="en-US" dirty="0" err="1"/>
              <a:t>více</a:t>
            </a:r>
            <a:r>
              <a:rPr lang="en-US" dirty="0"/>
              <a:t> </a:t>
            </a:r>
            <a:r>
              <a:rPr lang="en-US" dirty="0" err="1"/>
              <a:t>než</a:t>
            </a:r>
            <a:r>
              <a:rPr lang="en-US" dirty="0"/>
              <a:t> </a:t>
            </a:r>
            <a:r>
              <a:rPr lang="en-US" dirty="0" err="1"/>
              <a:t>dvojnásobek</a:t>
            </a:r>
            <a:r>
              <a:rPr lang="en-US" dirty="0"/>
              <a:t> </a:t>
            </a:r>
            <a:r>
              <a:rPr lang="en-US" dirty="0" err="1"/>
              <a:t>průměru</a:t>
            </a:r>
            <a:r>
              <a:rPr lang="en-US" dirty="0"/>
              <a:t>.</a:t>
            </a:r>
            <a:endParaRPr lang="cs-CZ" dirty="0"/>
          </a:p>
          <a:p>
            <a:endParaRPr lang="en-US" dirty="0"/>
          </a:p>
          <a:p>
            <a:r>
              <a:rPr lang="en-US" dirty="0"/>
              <a:t>Chi-square test </a:t>
            </a:r>
            <a:r>
              <a:rPr lang="en-US" dirty="0" err="1"/>
              <a:t>věk</a:t>
            </a:r>
            <a:r>
              <a:rPr lang="en-US" dirty="0"/>
              <a:t> versus </a:t>
            </a:r>
            <a:r>
              <a:rPr lang="en-US" dirty="0" err="1"/>
              <a:t>duševní</a:t>
            </a:r>
            <a:r>
              <a:rPr lang="en-US" dirty="0"/>
              <a:t> </a:t>
            </a:r>
            <a:r>
              <a:rPr lang="en-US" dirty="0" err="1"/>
              <a:t>onemocnění</a:t>
            </a:r>
            <a:r>
              <a:rPr lang="en-US" dirty="0"/>
              <a:t> </a:t>
            </a:r>
            <a:r>
              <a:rPr lang="en-US" dirty="0" err="1"/>
              <a:t>má</a:t>
            </a:r>
            <a:r>
              <a:rPr lang="en-US" dirty="0"/>
              <a:t> p-</a:t>
            </a:r>
            <a:r>
              <a:rPr lang="en-US" dirty="0" err="1"/>
              <a:t>hodnotu</a:t>
            </a:r>
            <a:r>
              <a:rPr lang="en-US" dirty="0"/>
              <a:t> 0,0008, </a:t>
            </a:r>
            <a:r>
              <a:rPr lang="en-US" dirty="0" err="1"/>
              <a:t>což</a:t>
            </a:r>
            <a:r>
              <a:rPr lang="en-US" dirty="0"/>
              <a:t> je </a:t>
            </a:r>
            <a:r>
              <a:rPr lang="en-US" dirty="0" err="1"/>
              <a:t>vysoce</a:t>
            </a:r>
            <a:r>
              <a:rPr lang="en-US" dirty="0"/>
              <a:t> </a:t>
            </a:r>
            <a:r>
              <a:rPr lang="en-US" dirty="0" err="1"/>
              <a:t>signifikantní</a:t>
            </a:r>
            <a:r>
              <a:rPr lang="en-US" dirty="0"/>
              <a:t>. Senioři </a:t>
            </a:r>
            <a:r>
              <a:rPr lang="en-US" dirty="0" err="1"/>
              <a:t>celkově</a:t>
            </a:r>
            <a:r>
              <a:rPr lang="en-US" dirty="0"/>
              <a:t> </a:t>
            </a:r>
            <a:r>
              <a:rPr lang="en-US" dirty="0" err="1"/>
              <a:t>mají</a:t>
            </a:r>
            <a:r>
              <a:rPr lang="en-US" dirty="0"/>
              <a:t> 27,6 </a:t>
            </a:r>
            <a:r>
              <a:rPr lang="en-US" dirty="0" err="1"/>
              <a:t>procenta</a:t>
            </a:r>
            <a:r>
              <a:rPr lang="en-US" dirty="0"/>
              <a:t> </a:t>
            </a:r>
            <a:r>
              <a:rPr lang="en-US" dirty="0" err="1"/>
              <a:t>případů</a:t>
            </a:r>
            <a:r>
              <a:rPr lang="en-US" dirty="0"/>
              <a:t> s </a:t>
            </a:r>
            <a:r>
              <a:rPr lang="en-US" dirty="0" err="1"/>
              <a:t>duševním</a:t>
            </a:r>
            <a:r>
              <a:rPr lang="en-US" dirty="0"/>
              <a:t> </a:t>
            </a:r>
            <a:r>
              <a:rPr lang="en-US" dirty="0" err="1"/>
              <a:t>onemocněním</a:t>
            </a:r>
            <a:r>
              <a:rPr lang="en-US" dirty="0"/>
              <a:t> </a:t>
            </a:r>
            <a:r>
              <a:rPr lang="en-US" dirty="0" err="1"/>
              <a:t>oproti</a:t>
            </a:r>
            <a:r>
              <a:rPr lang="en-US" dirty="0"/>
              <a:t> </a:t>
            </a:r>
            <a:r>
              <a:rPr lang="en-US" dirty="0" err="1"/>
              <a:t>průměru</a:t>
            </a:r>
            <a:r>
              <a:rPr lang="en-US" dirty="0"/>
              <a:t> 18,9 </a:t>
            </a:r>
            <a:r>
              <a:rPr lang="en-US" dirty="0" err="1"/>
              <a:t>procenta</a:t>
            </a:r>
            <a:r>
              <a:rPr lang="en-US" dirty="0"/>
              <a:t>.</a:t>
            </a:r>
            <a:endParaRPr lang="cs-CZ" dirty="0"/>
          </a:p>
          <a:p>
            <a:r>
              <a:rPr lang="en-US" dirty="0" err="1"/>
              <a:t>Praktická</a:t>
            </a:r>
            <a:r>
              <a:rPr lang="en-US" dirty="0"/>
              <a:t> </a:t>
            </a:r>
            <a:r>
              <a:rPr lang="en-US" dirty="0" err="1"/>
              <a:t>aplikace</a:t>
            </a:r>
            <a:r>
              <a:rPr lang="en-US" dirty="0"/>
              <a:t> je </a:t>
            </a:r>
            <a:r>
              <a:rPr lang="en-US" dirty="0" err="1"/>
              <a:t>vytvoření</a:t>
            </a:r>
            <a:r>
              <a:rPr lang="en-US" dirty="0"/>
              <a:t> </a:t>
            </a:r>
            <a:r>
              <a:rPr lang="en-US" dirty="0" err="1"/>
              <a:t>specializovaných</a:t>
            </a:r>
            <a:r>
              <a:rPr lang="en-US" dirty="0"/>
              <a:t> </a:t>
            </a:r>
            <a:r>
              <a:rPr lang="en-US" dirty="0" err="1"/>
              <a:t>jednotek</a:t>
            </a:r>
            <a:r>
              <a:rPr lang="en-US" dirty="0"/>
              <a:t> pro mental health crisis, </a:t>
            </a:r>
            <a:r>
              <a:rPr lang="en-US" dirty="0" err="1"/>
              <a:t>takzvaných</a:t>
            </a:r>
            <a:r>
              <a:rPr lang="en-US" dirty="0"/>
              <a:t> CIT teams, s </a:t>
            </a:r>
            <a:r>
              <a:rPr lang="en-US" dirty="0" err="1"/>
              <a:t>prioritním</a:t>
            </a:r>
            <a:r>
              <a:rPr lang="en-US" dirty="0"/>
              <a:t> </a:t>
            </a:r>
            <a:r>
              <a:rPr lang="en-US" dirty="0" err="1"/>
              <a:t>zavedením</a:t>
            </a:r>
            <a:r>
              <a:rPr lang="en-US" dirty="0"/>
              <a:t> v </a:t>
            </a:r>
            <a:r>
              <a:rPr lang="en-US" dirty="0" err="1"/>
              <a:t>oblastech</a:t>
            </a:r>
            <a:r>
              <a:rPr lang="en-US" dirty="0"/>
              <a:t> s </a:t>
            </a:r>
            <a:r>
              <a:rPr lang="en-US" dirty="0" err="1"/>
              <a:t>vyšším</a:t>
            </a:r>
            <a:r>
              <a:rPr lang="en-US" dirty="0"/>
              <a:t> </a:t>
            </a:r>
            <a:r>
              <a:rPr lang="en-US" dirty="0" err="1"/>
              <a:t>podílem</a:t>
            </a:r>
            <a:r>
              <a:rPr lang="en-US" dirty="0"/>
              <a:t> </a:t>
            </a:r>
            <a:r>
              <a:rPr lang="en-US" dirty="0" err="1"/>
              <a:t>seniorské</a:t>
            </a:r>
            <a:r>
              <a:rPr lang="en-US" dirty="0"/>
              <a:t> populace.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7887F-6850-4035-AC54-18CAEC2670FC}" type="slidenum"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377309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Pátý</a:t>
            </a:r>
            <a:r>
              <a:rPr lang="en-US"/>
              <a:t> </a:t>
            </a:r>
            <a:r>
              <a:rPr lang="en-US" err="1"/>
              <a:t>nález</a:t>
            </a:r>
            <a:r>
              <a:rPr lang="en-US"/>
              <a:t> se týká chování obětí před incidentem. Chi-square test s p-hodnotou menší než 0,000001 potvrzuje významný vztah mezi flee behavior a ozbrojeností.</a:t>
            </a:r>
            <a:endParaRPr lang="cs-CZ"/>
          </a:p>
          <a:p>
            <a:r>
              <a:rPr lang="en-US" err="1"/>
              <a:t>Klíčové</a:t>
            </a:r>
            <a:r>
              <a:rPr lang="en-US" dirty="0"/>
              <a:t> </a:t>
            </a:r>
            <a:r>
              <a:rPr lang="en-US" err="1"/>
              <a:t>zjištění</a:t>
            </a:r>
            <a:r>
              <a:rPr lang="en-US"/>
              <a:t>: </a:t>
            </a:r>
            <a:r>
              <a:rPr lang="en-US" err="1"/>
              <a:t>osoby</a:t>
            </a:r>
            <a:r>
              <a:rPr lang="en-US" dirty="0"/>
              <a:t> </a:t>
            </a:r>
            <a:r>
              <a:rPr lang="en-US" err="1"/>
              <a:t>utíkající</a:t>
            </a:r>
            <a:r>
              <a:rPr lang="en-US"/>
              <a:t> autem </a:t>
            </a:r>
            <a:r>
              <a:rPr lang="en-US" err="1"/>
              <a:t>byly</a:t>
            </a:r>
            <a:r>
              <a:rPr lang="en-US"/>
              <a:t> </a:t>
            </a:r>
            <a:r>
              <a:rPr lang="en-US" err="1"/>
              <a:t>neozbrojené</a:t>
            </a:r>
            <a:r>
              <a:rPr lang="en-US"/>
              <a:t> v 26,8 </a:t>
            </a:r>
            <a:r>
              <a:rPr lang="en-US" err="1"/>
              <a:t>procentech</a:t>
            </a:r>
            <a:r>
              <a:rPr lang="en-US"/>
              <a:t> </a:t>
            </a:r>
            <a:r>
              <a:rPr lang="en-US" err="1"/>
              <a:t>případů</a:t>
            </a:r>
            <a:r>
              <a:rPr lang="en-US"/>
              <a:t>, </a:t>
            </a:r>
            <a:r>
              <a:rPr lang="en-US" err="1"/>
              <a:t>zatímco</a:t>
            </a:r>
            <a:r>
              <a:rPr lang="en-US"/>
              <a:t> </a:t>
            </a:r>
            <a:r>
              <a:rPr lang="en-US" err="1"/>
              <a:t>osoby</a:t>
            </a:r>
            <a:r>
              <a:rPr lang="en-US"/>
              <a:t> </a:t>
            </a:r>
            <a:r>
              <a:rPr lang="en-US" err="1"/>
              <a:t>které</a:t>
            </a:r>
            <a:r>
              <a:rPr lang="en-US"/>
              <a:t> </a:t>
            </a:r>
            <a:r>
              <a:rPr lang="en-US" err="1"/>
              <a:t>neutíkaly</a:t>
            </a:r>
            <a:r>
              <a:rPr lang="en-US"/>
              <a:t> </a:t>
            </a:r>
            <a:r>
              <a:rPr lang="en-US" err="1"/>
              <a:t>pouze</a:t>
            </a:r>
            <a:r>
              <a:rPr lang="en-US"/>
              <a:t> v 7,9 </a:t>
            </a:r>
            <a:r>
              <a:rPr lang="en-US" err="1"/>
              <a:t>procentech</a:t>
            </a:r>
            <a:r>
              <a:rPr lang="en-US"/>
              <a:t>. To je 3,4krát </a:t>
            </a:r>
            <a:r>
              <a:rPr lang="en-US" err="1"/>
              <a:t>vyšší</a:t>
            </a:r>
            <a:r>
              <a:rPr lang="en-US"/>
              <a:t> </a:t>
            </a:r>
            <a:r>
              <a:rPr lang="en-US" err="1"/>
              <a:t>pravděpodobnost</a:t>
            </a:r>
            <a:r>
              <a:rPr lang="en-US"/>
              <a:t>.</a:t>
            </a:r>
            <a:endParaRPr lang="cs-CZ"/>
          </a:p>
          <a:p>
            <a:endParaRPr lang="en-US" dirty="0"/>
          </a:p>
          <a:p>
            <a:r>
              <a:rPr lang="en-US" dirty="0" err="1"/>
              <a:t>Celkově</a:t>
            </a:r>
            <a:r>
              <a:rPr lang="en-US" dirty="0"/>
              <a:t> 63 </a:t>
            </a:r>
            <a:r>
              <a:rPr lang="en-US" dirty="0" err="1"/>
              <a:t>procent</a:t>
            </a:r>
            <a:r>
              <a:rPr lang="en-US" dirty="0"/>
              <a:t> </a:t>
            </a:r>
            <a:r>
              <a:rPr lang="en-US" dirty="0" err="1"/>
              <a:t>obětí</a:t>
            </a:r>
            <a:r>
              <a:rPr lang="en-US" dirty="0"/>
              <a:t> </a:t>
            </a:r>
            <a:r>
              <a:rPr lang="en-US" dirty="0" err="1"/>
              <a:t>neutíkalo</a:t>
            </a:r>
            <a:r>
              <a:rPr lang="en-US" dirty="0"/>
              <a:t>, 19 </a:t>
            </a:r>
            <a:r>
              <a:rPr lang="en-US" dirty="0" err="1"/>
              <a:t>procent</a:t>
            </a:r>
            <a:r>
              <a:rPr lang="en-US" dirty="0"/>
              <a:t> </a:t>
            </a:r>
            <a:r>
              <a:rPr lang="en-US" dirty="0" err="1"/>
              <a:t>utíkalo</a:t>
            </a:r>
            <a:r>
              <a:rPr lang="en-US" dirty="0"/>
              <a:t> </a:t>
            </a:r>
            <a:r>
              <a:rPr lang="en-US" dirty="0" err="1"/>
              <a:t>pěšky</a:t>
            </a:r>
            <a:r>
              <a:rPr lang="en-US" dirty="0"/>
              <a:t> a 15 </a:t>
            </a:r>
            <a:r>
              <a:rPr lang="en-US" dirty="0" err="1"/>
              <a:t>procent</a:t>
            </a:r>
            <a:r>
              <a:rPr lang="en-US" dirty="0"/>
              <a:t> autem. </a:t>
            </a:r>
            <a:r>
              <a:rPr lang="en-US" dirty="0" err="1"/>
              <a:t>Interpretace</a:t>
            </a:r>
            <a:r>
              <a:rPr lang="en-US" dirty="0"/>
              <a:t> je, </a:t>
            </a:r>
            <a:r>
              <a:rPr lang="en-US" dirty="0" err="1"/>
              <a:t>že</a:t>
            </a:r>
            <a:r>
              <a:rPr lang="en-US" dirty="0"/>
              <a:t> </a:t>
            </a:r>
            <a:r>
              <a:rPr lang="en-US" dirty="0" err="1"/>
              <a:t>policejní</a:t>
            </a:r>
            <a:r>
              <a:rPr lang="en-US" dirty="0"/>
              <a:t> </a:t>
            </a:r>
            <a:r>
              <a:rPr lang="en-US" dirty="0" err="1"/>
              <a:t>honičky</a:t>
            </a:r>
            <a:r>
              <a:rPr lang="en-US" dirty="0"/>
              <a:t> </a:t>
            </a:r>
            <a:r>
              <a:rPr lang="en-US" dirty="0" err="1"/>
              <a:t>končí</a:t>
            </a:r>
            <a:r>
              <a:rPr lang="en-US" dirty="0"/>
              <a:t> </a:t>
            </a:r>
            <a:r>
              <a:rPr lang="en-US" dirty="0" err="1"/>
              <a:t>fatálně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u </a:t>
            </a:r>
            <a:r>
              <a:rPr lang="en-US" dirty="0" err="1"/>
              <a:t>neozbrojených</a:t>
            </a:r>
            <a:r>
              <a:rPr lang="en-US" dirty="0"/>
              <a:t> </a:t>
            </a:r>
            <a:r>
              <a:rPr lang="en-US" dirty="0" err="1"/>
              <a:t>osob</a:t>
            </a:r>
            <a:r>
              <a:rPr lang="en-US" dirty="0"/>
              <a:t> </a:t>
            </a:r>
            <a:r>
              <a:rPr lang="en-US" dirty="0" err="1"/>
              <a:t>významně</a:t>
            </a:r>
            <a:r>
              <a:rPr lang="en-US" dirty="0"/>
              <a:t> </a:t>
            </a:r>
            <a:r>
              <a:rPr lang="en-US" dirty="0" err="1"/>
              <a:t>častěji</a:t>
            </a:r>
            <a:r>
              <a:rPr lang="en-US" dirty="0"/>
              <a:t>. To </a:t>
            </a:r>
            <a:r>
              <a:rPr lang="en-US" dirty="0" err="1"/>
              <a:t>naznačuje</a:t>
            </a:r>
            <a:r>
              <a:rPr lang="en-US" dirty="0"/>
              <a:t> </a:t>
            </a:r>
            <a:r>
              <a:rPr lang="en-US" dirty="0" err="1"/>
              <a:t>potřebu</a:t>
            </a:r>
            <a:r>
              <a:rPr lang="en-US" dirty="0"/>
              <a:t> de-</a:t>
            </a:r>
            <a:r>
              <a:rPr lang="en-US" dirty="0" err="1"/>
              <a:t>eskalačních</a:t>
            </a:r>
            <a:r>
              <a:rPr lang="en-US" dirty="0"/>
              <a:t> </a:t>
            </a:r>
            <a:r>
              <a:rPr lang="en-US" dirty="0" err="1"/>
              <a:t>technik</a:t>
            </a:r>
            <a:r>
              <a:rPr lang="en-US" dirty="0"/>
              <a:t> a </a:t>
            </a:r>
            <a:r>
              <a:rPr lang="en-US" dirty="0" err="1"/>
              <a:t>revizi</a:t>
            </a:r>
            <a:r>
              <a:rPr lang="en-US" dirty="0"/>
              <a:t> </a:t>
            </a:r>
            <a:r>
              <a:rPr lang="en-US" dirty="0" err="1"/>
              <a:t>protokolů</a:t>
            </a:r>
            <a:r>
              <a:rPr lang="en-US" dirty="0"/>
              <a:t> pro pursuit situations.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7887F-6850-4035-AC54-18CAEC2670FC}" type="slidenum"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070480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V závěru shrnu výsledky. Všechny klíčové požadavky projektu byly implementovány a cíl práce byl naplněn. Podařilo se identifikovat vztah mezi rozpočtem a střelbami, analyzovat geografické a demografické vzorce, a prozkoumat situační faktory.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601C6-9A0C-4A2F-9361-88D10206EF23}" type="slidenum">
              <a:rPr lang="cs-CZ" smtClean="0"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44174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cs-CZ" dirty="0"/>
              <a:t>Z technického hlediska jsem vytvořil funkční ETL </a:t>
            </a:r>
            <a:r>
              <a:rPr lang="cs-CZ" err="1"/>
              <a:t>pipeline</a:t>
            </a:r>
            <a:r>
              <a:rPr lang="cs-CZ" dirty="0"/>
              <a:t> v </a:t>
            </a:r>
            <a:r>
              <a:rPr lang="cs-CZ" err="1"/>
              <a:t>BigQuery</a:t>
            </a:r>
            <a:r>
              <a:rPr lang="cs-CZ" dirty="0"/>
              <a:t> s devíti SQL transformacemi. Hlavním analytickým přínosem je odhalení paradoxu policejního rozpočtu s korelací 0,29 a identifikace rizikových skupin.</a:t>
            </a:r>
            <a:endParaRPr lang="cs-CZ">
              <a:ea typeface="Calibri"/>
              <a:cs typeface="Calibri"/>
            </a:endParaRPr>
          </a:p>
          <a:p>
            <a:pPr>
              <a:defRPr/>
            </a:pPr>
            <a:r>
              <a:rPr lang="cs-CZ" dirty="0"/>
              <a:t>Práce má své limity. Propojit se podařilo pouze 174 ze 218 měst, což je necelých 80 procent. Chybějící data o socioekonomických faktorech jako chudoba nebo nezaměstnanost limitují možnost kauzální interpretace výsledků.</a:t>
            </a:r>
            <a:endParaRPr lang="cs-CZ">
              <a:ea typeface="Calibri"/>
              <a:cs typeface="Calibri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601C6-9A0C-4A2F-9361-88D10206EF23}" type="slidenum">
              <a:rPr lang="cs-CZ" smtClean="0"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260484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Pro pokračování výzkumu navrhuji integraci socioekonomických dat jako příjem, nezaměstnanost a míra kriminality. Dále by bylo zajímavé analyzovat trendy vývoje střeleb v čase od roku 2015 do 2024, což by umožnilo sledovat efekt různých policejních reforem.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601C6-9A0C-4A2F-9361-88D10206EF23}" type="slidenum">
              <a:rPr lang="cs-CZ" smtClean="0"/>
              <a:t>18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99625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0815" indent="-170815"/>
            <a:endParaRPr lang="cs-CZ" sz="24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601C6-9A0C-4A2F-9361-88D10206EF23}" type="slidenum">
              <a:rPr lang="cs-CZ" smtClean="0"/>
              <a:t>19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59930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text 2">
            <a:extLst>
              <a:ext uri="{FF2B5EF4-FFF2-40B4-BE49-F238E27FC236}">
                <a16:creationId xmlns:a16="http://schemas.microsoft.com/office/drawing/2014/main" id="{2389DD16-FB00-4D9A-B48C-50050FDDC1F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838009" y="933549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500" b="1">
                <a:solidFill>
                  <a:srgbClr val="00988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Jméno a příjmení autora</a:t>
            </a:r>
          </a:p>
        </p:txBody>
      </p:sp>
      <p:sp>
        <p:nvSpPr>
          <p:cNvPr id="11" name="Zástupný text 2">
            <a:extLst>
              <a:ext uri="{FF2B5EF4-FFF2-40B4-BE49-F238E27FC236}">
                <a16:creationId xmlns:a16="http://schemas.microsoft.com/office/drawing/2014/main" id="{6BBD7AF0-0104-49C6-B49F-55B685879E0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838009" y="1245177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rgbClr val="4A4A49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Název katedry / oddělení</a:t>
            </a:r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6609EC98-6EA4-4C3E-A04D-5D810F2A42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3591" y="2591091"/>
            <a:ext cx="7886701" cy="1782150"/>
          </a:xfrm>
          <a:prstGeom prst="rect">
            <a:avLst/>
          </a:prstGeom>
        </p:spPr>
        <p:txBody>
          <a:bodyPr anchor="t"/>
          <a:lstStyle>
            <a:lvl1pPr algn="l">
              <a:defRPr sz="4500">
                <a:solidFill>
                  <a:srgbClr val="4A4A4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 dirty="0"/>
              <a:t>Název prezentace</a:t>
            </a:r>
          </a:p>
        </p:txBody>
      </p:sp>
      <p:sp>
        <p:nvSpPr>
          <p:cNvPr id="13" name="Podnadpis 2">
            <a:extLst>
              <a:ext uri="{FF2B5EF4-FFF2-40B4-BE49-F238E27FC236}">
                <a16:creationId xmlns:a16="http://schemas.microsoft.com/office/drawing/2014/main" id="{8DECF7AF-89F1-4012-9B20-327F67C10B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831" y="4487541"/>
            <a:ext cx="7871461" cy="8136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rgbClr val="4A4A4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54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text 2">
            <a:extLst>
              <a:ext uri="{FF2B5EF4-FFF2-40B4-BE49-F238E27FC236}">
                <a16:creationId xmlns:a16="http://schemas.microsoft.com/office/drawing/2014/main" id="{9235DDD2-26F3-4A0D-93F4-FB32B5B241D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838009" y="870423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500" b="1">
                <a:solidFill>
                  <a:srgbClr val="89F7E2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Jméno a příjmení autora</a:t>
            </a:r>
          </a:p>
        </p:txBody>
      </p:sp>
      <p:sp>
        <p:nvSpPr>
          <p:cNvPr id="11" name="Zástupný text 2">
            <a:extLst>
              <a:ext uri="{FF2B5EF4-FFF2-40B4-BE49-F238E27FC236}">
                <a16:creationId xmlns:a16="http://schemas.microsoft.com/office/drawing/2014/main" id="{D7300AA5-064D-49EA-BBBE-873363EE3286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838009" y="1182051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Jmeno.prijmeni@vse.cz</a:t>
            </a:r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2206462F-D376-411D-9D76-52EE5EED75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3591" y="2591091"/>
            <a:ext cx="7886701" cy="1782150"/>
          </a:xfrm>
          <a:prstGeom prst="rect">
            <a:avLst/>
          </a:prstGeom>
        </p:spPr>
        <p:txBody>
          <a:bodyPr anchor="t"/>
          <a:lstStyle>
            <a:lvl1pPr algn="l">
              <a:defRPr sz="45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 dirty="0"/>
              <a:t>Název prezentace</a:t>
            </a:r>
          </a:p>
        </p:txBody>
      </p:sp>
      <p:sp>
        <p:nvSpPr>
          <p:cNvPr id="13" name="Podnadpis 2">
            <a:extLst>
              <a:ext uri="{FF2B5EF4-FFF2-40B4-BE49-F238E27FC236}">
                <a16:creationId xmlns:a16="http://schemas.microsoft.com/office/drawing/2014/main" id="{A3092441-B532-4881-997F-6A08EF518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831" y="4487541"/>
            <a:ext cx="7871461" cy="8136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cs-CZ" dirty="0"/>
              <a:t>Kliknutím můžete upravit styl předlohy.</a:t>
            </a:r>
          </a:p>
        </p:txBody>
      </p:sp>
    </p:spTree>
    <p:extLst>
      <p:ext uri="{BB962C8B-B14F-4D97-AF65-F5344CB8AC3E}">
        <p14:creationId xmlns:p14="http://schemas.microsoft.com/office/powerpoint/2010/main" val="3727089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FEBE9D-4844-416F-A47B-E71F5CB39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D6471AA-641D-48E4-895F-2C70DDA44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4055"/>
            <a:ext cx="7779544" cy="449337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D51239B-9FE1-4DB1-BD79-B7D38D332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29.01.2026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E3E641A-DC32-4DD9-8307-46D9DFF58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92F49C3-090D-4190-9CE2-36066030C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37968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EAB441-3D76-4218-81BE-D7E4F3F92A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A84F63F-E322-46AC-A5C6-E1540E1BD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939DC5B-E1B0-4FCB-9D9A-C6471A28B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29.01.2026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A462326-6725-45D6-8FAC-124BEDCD3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B92F161-156E-4802-8F1B-078DF89F7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54167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FA8AAD-C4A1-48ED-8D79-3AB4069FE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9D2D865-A902-4D7C-A0B5-B2C4BB195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CC5CC91-7444-4FBB-B6F3-3E6FBD5B3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29.01.2026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C05772A-E403-4DD1-B232-954A3547E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A89E5D0-757E-45AA-8FEA-238040FB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76233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401FF8-98E7-49CB-8B33-E139EF39E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F8276E-A998-4BB7-B53A-49EC37A410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53073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5672645-DFF8-41C8-8BAC-5F24D188F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4"/>
            <a:ext cx="3886200" cy="453072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23C31C8-960E-4A18-BC09-35D75D589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29.01.2026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E33D9D5-2EC6-4E2A-AA85-6FCF97D65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CF1E174-D347-4AB1-95DE-ECA0F485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1111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E112A9-1FE6-4496-81B4-0842D25D8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012830"/>
            <a:ext cx="7886700" cy="1325563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F9BFB9E-5D3E-46B3-ABDB-B7E57DAC6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06502C15-7789-4EE7-A643-5A633ABA3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85128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C6F85072-0475-4304-BE03-A72EA7AC39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F1610A2-3C29-4B70-AF60-C2A3EBCE30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2" y="2505074"/>
            <a:ext cx="3887391" cy="385127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72C164E5-0EFB-46F1-BB95-CBBAC80C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29.01.2026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54FD1153-99E6-4ECA-BF33-0E377D334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6282298-48D6-4F29-8798-A54B0577B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20216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G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843D58-00E6-4F74-B46F-884BB0737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D11A4E0E-761B-449A-9AA3-FAB726390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29.01.2026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ED2199A-57B9-4C7C-A04D-6C8B8FF22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5D08B6B-5218-473D-BD06-9695102C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3951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Graf vz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843D58-00E6-4F74-B46F-884BB0737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D11A4E0E-761B-449A-9AA3-FAB726390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29.01.2026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ED2199A-57B9-4C7C-A04D-6C8B8FF22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5D08B6B-5218-473D-BD06-9695102C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  <p:graphicFrame>
        <p:nvGraphicFramePr>
          <p:cNvPr id="8" name="Graf 7">
            <a:extLst>
              <a:ext uri="{FF2B5EF4-FFF2-40B4-BE49-F238E27FC236}">
                <a16:creationId xmlns:a16="http://schemas.microsoft.com/office/drawing/2014/main" id="{A2CFF3E3-BFCF-4550-86A1-C1FA2629A69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058343424"/>
              </p:ext>
            </p:extLst>
          </p:nvPr>
        </p:nvGraphicFramePr>
        <p:xfrm>
          <a:off x="628652" y="1990725"/>
          <a:ext cx="7779543" cy="4147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4608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ul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64B6AD0B-CD39-418F-BD86-753F9D93E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29.01.2026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F3563E2-1FFA-41D6-A180-AB12573EE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07A9ED8-2B82-40D5-A9B1-F2B165BE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  <p:sp>
        <p:nvSpPr>
          <p:cNvPr id="14" name="Nadpis 1">
            <a:extLst>
              <a:ext uri="{FF2B5EF4-FFF2-40B4-BE49-F238E27FC236}">
                <a16:creationId xmlns:a16="http://schemas.microsoft.com/office/drawing/2014/main" id="{3595AC0D-E641-4E07-B2CB-74274830B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00016"/>
            <a:ext cx="7779544" cy="689952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3224159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ulka vz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64B6AD0B-CD39-418F-BD86-753F9D93E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29.01.2026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F3563E2-1FFA-41D6-A180-AB12573EE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07A9ED8-2B82-40D5-A9B1-F2B165BE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  <p:graphicFrame>
        <p:nvGraphicFramePr>
          <p:cNvPr id="5" name="Tabulka 5">
            <a:extLst>
              <a:ext uri="{FF2B5EF4-FFF2-40B4-BE49-F238E27FC236}">
                <a16:creationId xmlns:a16="http://schemas.microsoft.com/office/drawing/2014/main" id="{9841DB2C-4E87-4F77-9936-DB53842AFF3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49251074"/>
              </p:ext>
            </p:extLst>
          </p:nvPr>
        </p:nvGraphicFramePr>
        <p:xfrm>
          <a:off x="731521" y="2152650"/>
          <a:ext cx="7581899" cy="3605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0525">
                  <a:extLst>
                    <a:ext uri="{9D8B030D-6E8A-4147-A177-3AD203B41FA5}">
                      <a16:colId xmlns:a16="http://schemas.microsoft.com/office/drawing/2014/main" val="1219353005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4046355216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1360489622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2421545816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445562066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4004064892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1769508777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3799914238"/>
                    </a:ext>
                  </a:extLst>
                </a:gridCol>
                <a:gridCol w="857699">
                  <a:extLst>
                    <a:ext uri="{9D8B030D-6E8A-4147-A177-3AD203B41FA5}">
                      <a16:colId xmlns:a16="http://schemas.microsoft.com/office/drawing/2014/main" val="1835371581"/>
                    </a:ext>
                  </a:extLst>
                </a:gridCol>
              </a:tblGrid>
              <a:tr h="450667"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504544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812970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039754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737182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019941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095225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294286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52544"/>
                  </a:ext>
                </a:extLst>
              </a:tr>
            </a:tbl>
          </a:graphicData>
        </a:graphic>
      </p:graphicFrame>
      <p:sp>
        <p:nvSpPr>
          <p:cNvPr id="14" name="Nadpis 1">
            <a:extLst>
              <a:ext uri="{FF2B5EF4-FFF2-40B4-BE49-F238E27FC236}">
                <a16:creationId xmlns:a16="http://schemas.microsoft.com/office/drawing/2014/main" id="{3595AC0D-E641-4E07-B2CB-74274830B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00016"/>
            <a:ext cx="7779544" cy="689952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3926611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75CB4D-7416-4123-83CE-C769D1CEF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987429"/>
            <a:ext cx="2949178" cy="10699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D0998F7-E90D-471F-891C-0FD12349B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536892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0F5FE98-251D-4D3C-B8B7-DADD6DEB8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399"/>
            <a:ext cx="2949178" cy="4298955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390EA42-058E-4D22-B615-D930D64C6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29.01.2026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78A484A-2BA3-41B7-86CF-5D3F9304C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01B4CD1-4B53-455D-AE40-D95A24E4F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01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697884-28AE-4700-9C13-68750D37E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987429"/>
            <a:ext cx="2949178" cy="10699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7173077C-429C-4C0E-8F05-9FFAC62D14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30"/>
            <a:ext cx="4629150" cy="5368924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7844AFA-992F-4BE4-ABDB-10F592A44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399"/>
            <a:ext cx="2949178" cy="4298955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0442129-45B5-4C81-B28A-AA85D4F4D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29.01.2026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6712F59-4F02-4916-92FC-440DB3FE4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893627A-E54A-4DF9-9A32-88F06F6E2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0211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text 2">
            <a:extLst>
              <a:ext uri="{FF2B5EF4-FFF2-40B4-BE49-F238E27FC236}">
                <a16:creationId xmlns:a16="http://schemas.microsoft.com/office/drawing/2014/main" id="{9235DDD2-26F3-4A0D-93F4-FB32B5B241D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838009" y="870423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500" b="1">
                <a:solidFill>
                  <a:srgbClr val="89F7E2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Jméno a příjmení autora</a:t>
            </a:r>
          </a:p>
        </p:txBody>
      </p:sp>
      <p:sp>
        <p:nvSpPr>
          <p:cNvPr id="11" name="Zástupný text 2">
            <a:extLst>
              <a:ext uri="{FF2B5EF4-FFF2-40B4-BE49-F238E27FC236}">
                <a16:creationId xmlns:a16="http://schemas.microsoft.com/office/drawing/2014/main" id="{D7300AA5-064D-49EA-BBBE-873363EE3286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838009" y="1182051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Jmeno.prijmeni@vse.cz</a:t>
            </a:r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2206462F-D376-411D-9D76-52EE5EED75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3591" y="2591091"/>
            <a:ext cx="7886701" cy="1782150"/>
          </a:xfrm>
          <a:prstGeom prst="rect">
            <a:avLst/>
          </a:prstGeom>
        </p:spPr>
        <p:txBody>
          <a:bodyPr anchor="t"/>
          <a:lstStyle>
            <a:lvl1pPr algn="l">
              <a:defRPr sz="45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/>
              <a:t>Název prezentace</a:t>
            </a:r>
          </a:p>
        </p:txBody>
      </p:sp>
      <p:sp>
        <p:nvSpPr>
          <p:cNvPr id="13" name="Podnadpis 2">
            <a:extLst>
              <a:ext uri="{FF2B5EF4-FFF2-40B4-BE49-F238E27FC236}">
                <a16:creationId xmlns:a16="http://schemas.microsoft.com/office/drawing/2014/main" id="{A3092441-B532-4881-997F-6A08EF518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831" y="4487541"/>
            <a:ext cx="7871461" cy="8136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cs-CZ"/>
              <a:t>Kliknutím můžete upravit styl předlohy.</a:t>
            </a:r>
          </a:p>
        </p:txBody>
      </p:sp>
    </p:spTree>
    <p:extLst>
      <p:ext uri="{BB962C8B-B14F-4D97-AF65-F5344CB8AC3E}">
        <p14:creationId xmlns:p14="http://schemas.microsoft.com/office/powerpoint/2010/main" val="3858123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text 2">
            <a:extLst>
              <a:ext uri="{FF2B5EF4-FFF2-40B4-BE49-F238E27FC236}">
                <a16:creationId xmlns:a16="http://schemas.microsoft.com/office/drawing/2014/main" id="{9235DDD2-26F3-4A0D-93F4-FB32B5B241D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838009" y="870423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500" b="1">
                <a:solidFill>
                  <a:srgbClr val="89F7E2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Jméno a příjmení autora</a:t>
            </a:r>
          </a:p>
        </p:txBody>
      </p:sp>
      <p:sp>
        <p:nvSpPr>
          <p:cNvPr id="11" name="Zástupný text 2">
            <a:extLst>
              <a:ext uri="{FF2B5EF4-FFF2-40B4-BE49-F238E27FC236}">
                <a16:creationId xmlns:a16="http://schemas.microsoft.com/office/drawing/2014/main" id="{D7300AA5-064D-49EA-BBBE-873363EE3286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838009" y="1182051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Jmeno.prijmeni@vse.cz</a:t>
            </a:r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2206462F-D376-411D-9D76-52EE5EED75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3591" y="2591091"/>
            <a:ext cx="7886701" cy="1782150"/>
          </a:xfrm>
          <a:prstGeom prst="rect">
            <a:avLst/>
          </a:prstGeom>
        </p:spPr>
        <p:txBody>
          <a:bodyPr anchor="t"/>
          <a:lstStyle>
            <a:lvl1pPr algn="l">
              <a:defRPr sz="45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/>
              <a:t>Název prezentace</a:t>
            </a:r>
          </a:p>
        </p:txBody>
      </p:sp>
      <p:sp>
        <p:nvSpPr>
          <p:cNvPr id="13" name="Podnadpis 2">
            <a:extLst>
              <a:ext uri="{FF2B5EF4-FFF2-40B4-BE49-F238E27FC236}">
                <a16:creationId xmlns:a16="http://schemas.microsoft.com/office/drawing/2014/main" id="{A3092441-B532-4881-997F-6A08EF518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831" y="4487541"/>
            <a:ext cx="7871461" cy="8136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cs-CZ"/>
              <a:t>Kliknutím můžete upravit styl předlohy.</a:t>
            </a:r>
          </a:p>
        </p:txBody>
      </p:sp>
    </p:spTree>
    <p:extLst>
      <p:ext uri="{BB962C8B-B14F-4D97-AF65-F5344CB8AC3E}">
        <p14:creationId xmlns:p14="http://schemas.microsoft.com/office/powerpoint/2010/main" val="3727089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8" Type="http://schemas.openxmlformats.org/officeDocument/2006/relationships/image" Target="../media/image9.pn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image" Target="../media/image8.svg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6.svg"/><Relationship Id="rId10" Type="http://schemas.openxmlformats.org/officeDocument/2006/relationships/slideLayout" Target="../slideLayouts/slideLayout12.xml"/><Relationship Id="rId19" Type="http://schemas.openxmlformats.org/officeDocument/2006/relationships/image" Target="../media/image10.svg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719039ED-503B-4BFC-8729-F0E04FD071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" y="-3085"/>
            <a:ext cx="9144000" cy="6861085"/>
          </a:xfrm>
          <a:prstGeom prst="rect">
            <a:avLst/>
          </a:prstGeom>
        </p:spPr>
      </p:pic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144A193-2443-4336-B8E6-567C50C42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B62FE8A-B6A8-4920-9B7E-768DE3DF4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712BF67-B920-4B8E-84CF-AAC489B8A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29CD2-0146-4F3B-A4AA-75EB0CF2F752}" type="datetimeFigureOut">
              <a:rPr lang="cs-CZ" smtClean="0"/>
              <a:t>29.01.2026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85ED088-792C-4229-99A4-13C382DAC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FF2DEB4-37E5-4BE0-984C-F6914BD2C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9FAB3-BFA5-4172-A475-10F9ABCB38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04509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rgbClr val="4A4A4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Clr>
          <a:srgbClr val="009881"/>
        </a:buClr>
        <a:buFont typeface="Arial" panose="020B0604020202020204" pitchFamily="34" charset="0"/>
        <a:buChar char="•"/>
        <a:defRPr sz="21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8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5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35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35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cký objekt 6">
            <a:extLst>
              <a:ext uri="{FF2B5EF4-FFF2-40B4-BE49-F238E27FC236}">
                <a16:creationId xmlns:a16="http://schemas.microsoft.com/office/drawing/2014/main" id="{D3D61E27-7486-4CBD-80A0-7CDBAF7D7AF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3085"/>
            <a:ext cx="9144000" cy="6861085"/>
          </a:xfrm>
          <a:prstGeom prst="rect">
            <a:avLst/>
          </a:prstGeom>
        </p:spPr>
      </p:pic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144A193-2443-4336-B8E6-567C50C42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B62FE8A-B6A8-4920-9B7E-768DE3DF4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712BF67-B920-4B8E-84CF-AAC489B8A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29CD2-0146-4F3B-A4AA-75EB0CF2F752}" type="datetimeFigureOut">
              <a:rPr lang="cs-CZ" smtClean="0"/>
              <a:t>29.01.2026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85ED088-792C-4229-99A4-13C382DAC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FF2DEB4-37E5-4BE0-984C-F6914BD2C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9FAB3-BFA5-4172-A475-10F9ABCB38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8597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Clr>
          <a:srgbClr val="89F7E2"/>
        </a:buClr>
        <a:buFont typeface="Arial" panose="020B0604020202020204" pitchFamily="34" charset="0"/>
        <a:buChar char="•"/>
        <a:defRPr sz="21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5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cký objekt 13">
            <a:extLst>
              <a:ext uri="{FF2B5EF4-FFF2-40B4-BE49-F238E27FC236}">
                <a16:creationId xmlns:a16="http://schemas.microsoft.com/office/drawing/2014/main" id="{1664D167-1933-44B8-9DE6-BCF4B4ADB8DE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4125" y="8313"/>
            <a:ext cx="9148126" cy="6858000"/>
          </a:xfrm>
          <a:prstGeom prst="rect">
            <a:avLst/>
          </a:prstGeom>
        </p:spPr>
      </p:pic>
      <p:pic>
        <p:nvPicPr>
          <p:cNvPr id="9" name="Grafický objekt 8">
            <a:extLst>
              <a:ext uri="{FF2B5EF4-FFF2-40B4-BE49-F238E27FC236}">
                <a16:creationId xmlns:a16="http://schemas.microsoft.com/office/drawing/2014/main" id="{D89BE277-1B57-4A04-A616-0D6719FD6A11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46539" y="360307"/>
            <a:ext cx="179594" cy="179594"/>
          </a:xfrm>
          <a:prstGeom prst="rect">
            <a:avLst/>
          </a:prstGeom>
        </p:spPr>
      </p:pic>
      <p:pic>
        <p:nvPicPr>
          <p:cNvPr id="13" name="Grafický objekt 12">
            <a:extLst>
              <a:ext uri="{FF2B5EF4-FFF2-40B4-BE49-F238E27FC236}">
                <a16:creationId xmlns:a16="http://schemas.microsoft.com/office/drawing/2014/main" id="{3CE1673A-F13A-49C1-A0F3-7628437F7F90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684010" y="360307"/>
            <a:ext cx="179594" cy="179594"/>
          </a:xfrm>
          <a:prstGeom prst="rect">
            <a:avLst/>
          </a:prstGeom>
        </p:spPr>
      </p:pic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07A972C7-80EA-4001-A2C8-48457C784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00016"/>
            <a:ext cx="7779544" cy="6899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4A64F96-20EB-4338-812A-2CF45FA87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924055"/>
            <a:ext cx="7779544" cy="4191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849455D-C2AF-42AF-A377-1FD9570338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B329ADC-2255-4EF3-B5C0-B90829E78CD9}" type="datetimeFigureOut">
              <a:rPr lang="cs-CZ" smtClean="0"/>
              <a:pPr/>
              <a:t>29.01.2026</a:t>
            </a:fld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E38892D-BE40-4B7B-98A7-1B108AC51A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1406528-E83B-4FF2-81FD-6E1ED0DE8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25530" y="6356355"/>
            <a:ext cx="1982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5CA258-668E-4A85-A197-2757C3BEE154}" type="slidenum">
              <a:rPr lang="cs-CZ" smtClean="0"/>
              <a:pPr/>
              <a:t>‹#›</a:t>
            </a:fld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Zástupný nadpis 1">
            <a:extLst>
              <a:ext uri="{FF2B5EF4-FFF2-40B4-BE49-F238E27FC236}">
                <a16:creationId xmlns:a16="http://schemas.microsoft.com/office/drawing/2014/main" id="{6CADA8D1-4B1D-49C0-B645-EB5D43487BC1}"/>
              </a:ext>
            </a:extLst>
          </p:cNvPr>
          <p:cNvSpPr txBox="1">
            <a:spLocks/>
          </p:cNvSpPr>
          <p:nvPr userDrawn="1"/>
        </p:nvSpPr>
        <p:spPr>
          <a:xfrm>
            <a:off x="8815389" y="6436824"/>
            <a:ext cx="416717" cy="452926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5BC4F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fld id="{166024C8-F27F-4469-B950-3CAEC9128C7E}" type="slidenum">
              <a:rPr lang="cs-CZ" sz="1100" smtClean="0">
                <a:solidFill>
                  <a:schemeClr val="bg1"/>
                </a:solidFill>
              </a:rPr>
              <a:pPr algn="ctr"/>
              <a:t>‹#›</a:t>
            </a:fld>
            <a:endParaRPr lang="cs-CZ" sz="3200" dirty="0">
              <a:solidFill>
                <a:schemeClr val="bg1"/>
              </a:solidFill>
            </a:endParaRP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FCDCD643-C700-45E8-8816-DD3D4AEF500E}"/>
              </a:ext>
            </a:extLst>
          </p:cNvPr>
          <p:cNvSpPr txBox="1"/>
          <p:nvPr userDrawn="1"/>
        </p:nvSpPr>
        <p:spPr>
          <a:xfrm>
            <a:off x="6722748" y="299366"/>
            <a:ext cx="963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cs-CZ" sz="1200" dirty="0">
                <a:solidFill>
                  <a:srgbClr val="0098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fis.vse.cz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68403B65-A3E4-4EA5-A348-D73A327280A2}"/>
              </a:ext>
            </a:extLst>
          </p:cNvPr>
          <p:cNvSpPr txBox="1"/>
          <p:nvPr userDrawn="1"/>
        </p:nvSpPr>
        <p:spPr>
          <a:xfrm>
            <a:off x="7851988" y="299366"/>
            <a:ext cx="1195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cs-CZ" sz="1200" dirty="0" err="1">
                <a:solidFill>
                  <a:srgbClr val="0098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fisvse</a:t>
            </a:r>
            <a:endParaRPr lang="cs-CZ" sz="1600" dirty="0">
              <a:solidFill>
                <a:srgbClr val="00988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205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3" r:id="rId2"/>
    <p:sldLayoutId id="2147483665" r:id="rId3"/>
    <p:sldLayoutId id="2147483666" r:id="rId4"/>
    <p:sldLayoutId id="2147483667" r:id="rId5"/>
    <p:sldLayoutId id="2147483668" r:id="rId6"/>
    <p:sldLayoutId id="2147483672" r:id="rId7"/>
    <p:sldLayoutId id="2147483669" r:id="rId8"/>
    <p:sldLayoutId id="2147483673" r:id="rId9"/>
    <p:sldLayoutId id="2147483670" r:id="rId10"/>
    <p:sldLayoutId id="2147483671" r:id="rId11"/>
    <p:sldLayoutId id="2147483678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rgbClr val="00988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100000"/>
        </a:lnSpc>
        <a:spcBef>
          <a:spcPts val="750"/>
        </a:spcBef>
        <a:buClr>
          <a:srgbClr val="009881"/>
        </a:buClr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10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10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10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10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cký objekt 6">
            <a:extLst>
              <a:ext uri="{FF2B5EF4-FFF2-40B4-BE49-F238E27FC236}">
                <a16:creationId xmlns:a16="http://schemas.microsoft.com/office/drawing/2014/main" id="{D3D61E27-7486-4CBD-80A0-7CDBAF7D7AF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3085"/>
            <a:ext cx="9144000" cy="6861085"/>
          </a:xfrm>
          <a:prstGeom prst="rect">
            <a:avLst/>
          </a:prstGeom>
        </p:spPr>
      </p:pic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144A193-2443-4336-B8E6-567C50C42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B62FE8A-B6A8-4920-9B7E-768DE3DF4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712BF67-B920-4B8E-84CF-AAC489B8A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29CD2-0146-4F3B-A4AA-75EB0CF2F752}" type="datetimeFigureOut">
              <a:rPr lang="cs-CZ" smtClean="0"/>
              <a:t>29.01.2026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85ED088-792C-4229-99A4-13C382DAC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FF2DEB4-37E5-4BE0-984C-F6914BD2C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9FAB3-BFA5-4172-A475-10F9ABCB38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8597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Clr>
          <a:srgbClr val="89F7E2"/>
        </a:buClr>
        <a:buFont typeface="Arial" panose="020B0604020202020204" pitchFamily="34" charset="0"/>
        <a:buChar char="•"/>
        <a:defRPr sz="21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5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1">
            <a:extLst>
              <a:ext uri="{FF2B5EF4-FFF2-40B4-BE49-F238E27FC236}">
                <a16:creationId xmlns:a16="http://schemas.microsoft.com/office/drawing/2014/main" id="{FDA0EE84-57A3-437C-B722-52ACFBB5ED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591" y="2428716"/>
            <a:ext cx="7908788" cy="3250932"/>
          </a:xfrm>
        </p:spPr>
        <p:txBody>
          <a:bodyPr>
            <a:normAutofit/>
          </a:bodyPr>
          <a:lstStyle/>
          <a:p>
            <a:r>
              <a:rPr lang="cs-CZ" dirty="0">
                <a:latin typeface="Arial"/>
                <a:cs typeface="Arial"/>
              </a:rPr>
              <a:t>Analýza vztahu mezi policejními rozpočty a mírou policejních střeleb v USA</a:t>
            </a:r>
            <a:endParaRPr lang="cs-CZ" dirty="0"/>
          </a:p>
        </p:txBody>
      </p:sp>
      <p:sp>
        <p:nvSpPr>
          <p:cNvPr id="8" name="Zástupný text 3">
            <a:extLst>
              <a:ext uri="{FF2B5EF4-FFF2-40B4-BE49-F238E27FC236}">
                <a16:creationId xmlns:a16="http://schemas.microsoft.com/office/drawing/2014/main" id="{E29E5E70-22CD-4E96-8CAB-90368F65564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572000" y="662940"/>
            <a:ext cx="3984915" cy="5191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1400" dirty="0">
                <a:latin typeface="Arial"/>
                <a:cs typeface="Arial"/>
              </a:rPr>
              <a:t>Josef Gajda </a:t>
            </a:r>
            <a:endParaRPr lang="cs-CZ" sz="1400" dirty="0"/>
          </a:p>
        </p:txBody>
      </p:sp>
      <p:sp>
        <p:nvSpPr>
          <p:cNvPr id="9" name="Zástupný text 4">
            <a:extLst>
              <a:ext uri="{FF2B5EF4-FFF2-40B4-BE49-F238E27FC236}">
                <a16:creationId xmlns:a16="http://schemas.microsoft.com/office/drawing/2014/main" id="{C9002A16-94F7-4B76-9824-2D769080A31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838009" y="1030911"/>
            <a:ext cx="3718906" cy="3116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>
                <a:latin typeface="Arial"/>
                <a:cs typeface="Arial"/>
              </a:rPr>
              <a:t>Studijní program: Informační management</a:t>
            </a:r>
            <a:endParaRPr lang="cs-CZ" dirty="0"/>
          </a:p>
        </p:txBody>
      </p:sp>
      <p:sp>
        <p:nvSpPr>
          <p:cNvPr id="2" name="Zástupný text 4">
            <a:extLst>
              <a:ext uri="{FF2B5EF4-FFF2-40B4-BE49-F238E27FC236}">
                <a16:creationId xmlns:a16="http://schemas.microsoft.com/office/drawing/2014/main" id="{6DC8903B-1E09-1F86-58A9-F8FAB7A289F8}"/>
              </a:ext>
            </a:extLst>
          </p:cNvPr>
          <p:cNvSpPr txBox="1">
            <a:spLocks/>
          </p:cNvSpPr>
          <p:nvPr/>
        </p:nvSpPr>
        <p:spPr>
          <a:xfrm>
            <a:off x="4838009" y="1402766"/>
            <a:ext cx="3718906" cy="3116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685783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9881"/>
              </a:buClr>
              <a:buFont typeface="Arial" panose="020B0604020202020204" pitchFamily="34" charset="0"/>
              <a:buNone/>
              <a:defRPr sz="1400" kern="1200">
                <a:solidFill>
                  <a:srgbClr val="4A4A4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892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881"/>
              </a:buClr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85783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881"/>
              </a:buClr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028675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881"/>
              </a:buClr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566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881"/>
              </a:buClr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714457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348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240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132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>
                <a:latin typeface="Arial"/>
                <a:cs typeface="Arial"/>
              </a:rPr>
              <a:t>Datum: 30.01.2025</a:t>
            </a:r>
          </a:p>
        </p:txBody>
      </p:sp>
    </p:spTree>
    <p:extLst>
      <p:ext uri="{BB962C8B-B14F-4D97-AF65-F5344CB8AC3E}">
        <p14:creationId xmlns:p14="http://schemas.microsoft.com/office/powerpoint/2010/main" val="3786549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98B41-9007-2A18-1DCF-E4FDB13B9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203128E-662C-3957-CB07-9F4A60E4C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Popis</a:t>
            </a:r>
            <a:r>
              <a:rPr lang="en-US" dirty="0"/>
              <a:t> </a:t>
            </a:r>
            <a:r>
              <a:rPr lang="cs-CZ" dirty="0"/>
              <a:t>řešené oblasti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FB03FD0-6621-58F3-A6B7-A35FC5792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170815" indent="-170815"/>
            <a:r>
              <a:rPr lang="cs-CZ" sz="2400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Cílem projektu je analyzovat faktory ovlivňující četnost a geografické rozložení policejních střeleb v USA.</a:t>
            </a:r>
          </a:p>
          <a:p>
            <a:pPr marL="0" indent="0">
              <a:buNone/>
            </a:pPr>
            <a:endParaRPr lang="cs-CZ" sz="2400" dirty="0">
              <a:ea typeface="Calibri"/>
            </a:endParaRPr>
          </a:p>
          <a:p>
            <a:pPr marL="170815" indent="-170815"/>
            <a:r>
              <a:rPr lang="cs-CZ" sz="2400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Analýza zkoumá možné souvislosti mezi výší rozpočtů na policii a počtem zaznamenaných střeleb.</a:t>
            </a:r>
          </a:p>
        </p:txBody>
      </p:sp>
    </p:spTree>
    <p:extLst>
      <p:ext uri="{BB962C8B-B14F-4D97-AF65-F5344CB8AC3E}">
        <p14:creationId xmlns:p14="http://schemas.microsoft.com/office/powerpoint/2010/main" val="4196028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7BF2E-2AB9-A8FB-03C5-8728F9015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742DEB-8846-2D0E-09BA-ABCD9C5FB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Cíle analýzy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D0D4454-B025-E60E-9BD8-C5222B905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cs-CZ" sz="2400" dirty="0">
                <a:solidFill>
                  <a:srgbClr val="000000"/>
                </a:solidFill>
                <a:latin typeface="Arial"/>
                <a:cs typeface="Arial"/>
              </a:rPr>
              <a:t>Identifikovat vztah mezi výší policejních rozpočtů měst a četností policejních střeleb v USA</a:t>
            </a:r>
            <a:endParaRPr lang="cs-CZ" sz="2400" dirty="0">
              <a:solidFill>
                <a:srgbClr val="000000"/>
              </a:solidFill>
            </a:endParaRPr>
          </a:p>
          <a:p>
            <a:pPr marL="457200" indent="-457200">
              <a:buAutoNum type="arabicPeriod"/>
            </a:pPr>
            <a:endParaRPr lang="cs-CZ" sz="2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cs-CZ" sz="2400" dirty="0">
                <a:solidFill>
                  <a:srgbClr val="000000"/>
                </a:solidFill>
                <a:latin typeface="Arial"/>
                <a:cs typeface="Arial"/>
              </a:rPr>
              <a:t>Analyzovat geografické </a:t>
            </a:r>
            <a:r>
              <a:rPr lang="cs-CZ" sz="2400" b="0" i="0" dirty="0">
                <a:solidFill>
                  <a:srgbClr val="000000"/>
                </a:solidFill>
                <a:effectLst/>
                <a:latin typeface="Arial"/>
                <a:cs typeface="Arial"/>
              </a:rPr>
              <a:t>a </a:t>
            </a:r>
            <a:r>
              <a:rPr lang="cs-CZ" sz="2400" dirty="0">
                <a:solidFill>
                  <a:srgbClr val="000000"/>
                </a:solidFill>
                <a:latin typeface="Arial"/>
                <a:cs typeface="Arial"/>
              </a:rPr>
              <a:t>demografické vzorce policejních střeleb včetně rasového složení obětí</a:t>
            </a:r>
            <a:r>
              <a:rPr lang="cs-CZ" sz="2400" b="0" i="0" dirty="0">
                <a:solidFill>
                  <a:srgbClr val="000000"/>
                </a:solidFill>
                <a:effectLst/>
                <a:latin typeface="Arial"/>
                <a:cs typeface="Arial"/>
              </a:rPr>
              <a:t>.</a:t>
            </a:r>
            <a:endParaRPr lang="cs-CZ" dirty="0">
              <a:solidFill>
                <a:srgbClr val="000000"/>
              </a:solidFill>
            </a:endParaRPr>
          </a:p>
          <a:p>
            <a:pPr marL="457200" indent="-457200">
              <a:buAutoNum type="arabicPeriod"/>
            </a:pPr>
            <a:endParaRPr lang="cs-CZ" sz="2400" dirty="0">
              <a:solidFill>
                <a:srgbClr val="000000"/>
              </a:solidFill>
            </a:endParaRPr>
          </a:p>
          <a:p>
            <a:pPr marL="457200" indent="-457200">
              <a:lnSpc>
                <a:spcPct val="110000"/>
              </a:lnSpc>
              <a:buAutoNum type="arabicPeriod"/>
            </a:pPr>
            <a:r>
              <a:rPr lang="cs-CZ" sz="2400" dirty="0">
                <a:solidFill>
                  <a:srgbClr val="000000"/>
                </a:solidFill>
                <a:latin typeface="Arial"/>
                <a:cs typeface="Arial"/>
              </a:rPr>
              <a:t>Analyzovat demografické a situační faktory spojené s policejními střelbami.</a:t>
            </a: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4139299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50660-EE0F-3255-6AF0-442908384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DDC37E9-85DD-2231-4FBA-B97601DCC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Způsob řešení otázek pro data science - 1/2</a:t>
            </a:r>
            <a:br>
              <a:rPr lang="cs-CZ" dirty="0">
                <a:latin typeface="Arial"/>
                <a:cs typeface="Arial"/>
              </a:rPr>
            </a:b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179EC6F-21E7-0F86-D493-56C9068D6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" y="1789968"/>
            <a:ext cx="7882414" cy="46274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70815" indent="-170815"/>
            <a:r>
              <a:rPr lang="cs-CZ" sz="2400" dirty="0">
                <a:latin typeface="Arial"/>
                <a:cs typeface="Arial"/>
              </a:rPr>
              <a:t>Příprava dat (ETL) v nástroji </a:t>
            </a:r>
            <a:r>
              <a:rPr lang="cs-CZ" sz="2400" b="1" dirty="0" err="1">
                <a:latin typeface="Arial"/>
                <a:cs typeface="Arial"/>
              </a:rPr>
              <a:t>BigQuery</a:t>
            </a:r>
            <a:r>
              <a:rPr lang="cs-CZ" sz="2400" b="1" dirty="0">
                <a:latin typeface="Arial"/>
                <a:cs typeface="Arial"/>
              </a:rPr>
              <a:t>,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100" dirty="0">
                <a:latin typeface="Arial"/>
                <a:cs typeface="Arial"/>
              </a:rPr>
              <a:t>SQL dotazy pro transformaci tabulek,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100" dirty="0">
                <a:latin typeface="Arial"/>
                <a:cs typeface="Arial"/>
              </a:rPr>
              <a:t>příprava dat pro BI část a Data Science část.</a:t>
            </a:r>
          </a:p>
          <a:p>
            <a:pPr marL="170815" indent="-170815"/>
            <a:endParaRPr lang="cs-CZ" sz="2400" b="1" dirty="0">
              <a:latin typeface="Arial"/>
              <a:cs typeface="Arial"/>
            </a:endParaRPr>
          </a:p>
          <a:p>
            <a:pPr marL="170815" indent="-170815"/>
            <a:r>
              <a:rPr lang="cs-CZ" sz="2400" dirty="0">
                <a:latin typeface="Arial"/>
                <a:cs typeface="Arial"/>
              </a:rPr>
              <a:t>BI část provedena v nástroji </a:t>
            </a:r>
            <a:r>
              <a:rPr lang="cs-CZ" sz="2400" b="1" dirty="0" err="1">
                <a:latin typeface="Arial"/>
                <a:cs typeface="Arial"/>
              </a:rPr>
              <a:t>PowerBI</a:t>
            </a:r>
            <a:r>
              <a:rPr lang="cs-CZ" sz="2400" b="1" dirty="0"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2054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7365D-F509-5246-0DC5-141029BD7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642C89-C92D-A0EB-B91B-292F691E9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Způsob řešení otázek pro data science - 2/2</a:t>
            </a:r>
            <a:br>
              <a:rPr lang="cs-CZ" dirty="0">
                <a:latin typeface="Arial"/>
                <a:cs typeface="Arial"/>
              </a:rPr>
            </a:b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FB6CE4D-4C9C-F6CA-5335-6665E4192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" y="1789968"/>
            <a:ext cx="7882414" cy="46274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70815" indent="-170815"/>
            <a:r>
              <a:rPr lang="cs-CZ" sz="2400" dirty="0">
                <a:latin typeface="Arial"/>
                <a:cs typeface="Arial"/>
              </a:rPr>
              <a:t>Analýza dat bude prováděna v nástroji </a:t>
            </a:r>
            <a:r>
              <a:rPr lang="cs-CZ" sz="2400" b="1" dirty="0">
                <a:latin typeface="Arial"/>
                <a:cs typeface="Arial"/>
              </a:rPr>
              <a:t>Python,</a:t>
            </a:r>
            <a:endParaRPr lang="cs-CZ" sz="2400" b="1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100" b="1" dirty="0">
                <a:latin typeface="Arial"/>
                <a:cs typeface="Arial"/>
              </a:rPr>
              <a:t>statistická analýza:</a:t>
            </a:r>
            <a:r>
              <a:rPr lang="cs-CZ" sz="2100" dirty="0">
                <a:latin typeface="Arial"/>
                <a:cs typeface="Arial"/>
              </a:rPr>
              <a:t> </a:t>
            </a:r>
            <a:r>
              <a:rPr lang="cs-CZ" sz="2100" dirty="0" err="1">
                <a:latin typeface="Arial"/>
                <a:cs typeface="Arial"/>
              </a:rPr>
              <a:t>Chi</a:t>
            </a:r>
            <a:r>
              <a:rPr lang="cs-CZ" sz="2100" dirty="0">
                <a:latin typeface="Arial"/>
                <a:cs typeface="Arial"/>
              </a:rPr>
              <a:t>-square testy, </a:t>
            </a:r>
            <a:r>
              <a:rPr lang="cs-CZ" sz="2100" dirty="0" err="1">
                <a:latin typeface="Arial"/>
                <a:cs typeface="Arial"/>
              </a:rPr>
              <a:t>Cramerovo</a:t>
            </a:r>
            <a:r>
              <a:rPr lang="cs-CZ" sz="2100" dirty="0">
                <a:latin typeface="Arial"/>
                <a:cs typeface="Arial"/>
              </a:rPr>
              <a:t> V, korelační analýza,</a:t>
            </a:r>
            <a:endParaRPr lang="cs-CZ" sz="2100" b="1" dirty="0">
              <a:latin typeface="Arial"/>
              <a:cs typeface="Arial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100" b="1" dirty="0">
                <a:latin typeface="Arial"/>
                <a:cs typeface="Arial"/>
              </a:rPr>
              <a:t>4ft-Miner:</a:t>
            </a:r>
            <a:r>
              <a:rPr lang="cs-CZ" sz="2100" dirty="0">
                <a:latin typeface="Arial"/>
                <a:cs typeface="Arial"/>
              </a:rPr>
              <a:t> Asociační pravidla pro identifikaci vzorců,</a:t>
            </a:r>
            <a:endParaRPr lang="cs-CZ" sz="21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100" b="1" dirty="0">
                <a:latin typeface="Arial"/>
                <a:cs typeface="Arial"/>
              </a:rPr>
              <a:t>CF-</a:t>
            </a:r>
            <a:r>
              <a:rPr lang="cs-CZ" sz="2100" b="1" dirty="0" err="1">
                <a:latin typeface="Arial"/>
                <a:cs typeface="Arial"/>
              </a:rPr>
              <a:t>Miner</a:t>
            </a:r>
            <a:r>
              <a:rPr lang="cs-CZ" sz="2100" b="1" dirty="0">
                <a:latin typeface="Arial"/>
                <a:cs typeface="Arial"/>
              </a:rPr>
              <a:t>:</a:t>
            </a:r>
            <a:r>
              <a:rPr lang="cs-CZ" sz="2100" dirty="0">
                <a:latin typeface="Arial"/>
                <a:cs typeface="Arial"/>
              </a:rPr>
              <a:t> Analýza distribuce histogramů mezi skupinami,</a:t>
            </a:r>
            <a:endParaRPr lang="cs-CZ" sz="21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100" b="1" dirty="0">
                <a:latin typeface="Arial"/>
                <a:cs typeface="Arial"/>
              </a:rPr>
              <a:t>SD4ft-Miner:</a:t>
            </a:r>
            <a:r>
              <a:rPr lang="cs-CZ" sz="2100" dirty="0">
                <a:latin typeface="Arial"/>
                <a:cs typeface="Arial"/>
              </a:rPr>
              <a:t> </a:t>
            </a:r>
            <a:r>
              <a:rPr lang="cs-CZ" sz="2100" dirty="0" err="1">
                <a:latin typeface="Arial"/>
                <a:cs typeface="Arial"/>
              </a:rPr>
              <a:t>Subgroup</a:t>
            </a:r>
            <a:r>
              <a:rPr lang="cs-CZ" sz="2100" dirty="0">
                <a:latin typeface="Arial"/>
                <a:cs typeface="Arial"/>
              </a:rPr>
              <a:t> </a:t>
            </a:r>
            <a:r>
              <a:rPr lang="cs-CZ" sz="2100" dirty="0" err="1">
                <a:latin typeface="Arial"/>
                <a:cs typeface="Arial"/>
              </a:rPr>
              <a:t>discovery</a:t>
            </a:r>
            <a:r>
              <a:rPr lang="cs-CZ" sz="2100" dirty="0">
                <a:latin typeface="Arial"/>
                <a:cs typeface="Arial"/>
              </a:rPr>
              <a:t> pro rozdíly mezi podskupinami,</a:t>
            </a:r>
            <a:endParaRPr lang="cs-CZ" sz="21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100" b="1" dirty="0">
                <a:latin typeface="Arial"/>
                <a:cs typeface="Arial"/>
              </a:rPr>
              <a:t>prediktivní modely</a:t>
            </a:r>
            <a:r>
              <a:rPr lang="cs-CZ" sz="2100" dirty="0">
                <a:latin typeface="Arial"/>
                <a:cs typeface="Arial"/>
              </a:rPr>
              <a:t>: </a:t>
            </a:r>
            <a:r>
              <a:rPr lang="cs-CZ" sz="2100" err="1">
                <a:latin typeface="Arial"/>
                <a:cs typeface="Arial"/>
              </a:rPr>
              <a:t>Random</a:t>
            </a:r>
            <a:r>
              <a:rPr lang="cs-CZ" sz="2100" dirty="0">
                <a:latin typeface="Arial"/>
                <a:cs typeface="Arial"/>
              </a:rPr>
              <a:t> </a:t>
            </a:r>
            <a:r>
              <a:rPr lang="cs-CZ" sz="2100" err="1">
                <a:latin typeface="Arial"/>
                <a:cs typeface="Arial"/>
              </a:rPr>
              <a:t>Forest</a:t>
            </a:r>
            <a:r>
              <a:rPr lang="cs-CZ" sz="2100" dirty="0">
                <a:latin typeface="Arial"/>
                <a:cs typeface="Arial"/>
              </a:rPr>
              <a:t> (</a:t>
            </a:r>
            <a:r>
              <a:rPr lang="cs-CZ" sz="2100" err="1">
                <a:latin typeface="Arial"/>
                <a:cs typeface="Arial"/>
              </a:rPr>
              <a:t>feature</a:t>
            </a:r>
            <a:r>
              <a:rPr lang="cs-CZ" sz="2100" dirty="0">
                <a:latin typeface="Arial"/>
                <a:cs typeface="Arial"/>
              </a:rPr>
              <a:t> </a:t>
            </a:r>
            <a:r>
              <a:rPr lang="cs-CZ" sz="2100" err="1">
                <a:latin typeface="Arial"/>
                <a:cs typeface="Arial"/>
              </a:rPr>
              <a:t>importance</a:t>
            </a:r>
            <a:r>
              <a:rPr lang="cs-CZ" sz="2100" dirty="0">
                <a:latin typeface="Arial"/>
                <a:cs typeface="Arial"/>
              </a:rPr>
              <a:t>).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2100" b="1" dirty="0"/>
          </a:p>
        </p:txBody>
      </p:sp>
    </p:spTree>
    <p:extLst>
      <p:ext uri="{BB962C8B-B14F-4D97-AF65-F5344CB8AC3E}">
        <p14:creationId xmlns:p14="http://schemas.microsoft.com/office/powerpoint/2010/main" val="1019644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CC097-7FBE-A19B-B4B5-D25E4BCFD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3AD812C-51DF-81D8-D856-848966436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894123"/>
            <a:ext cx="7882739" cy="1069975"/>
          </a:xfrm>
        </p:spPr>
        <p:txBody>
          <a:bodyPr anchor="b">
            <a:normAutofit/>
          </a:bodyPr>
          <a:lstStyle/>
          <a:p>
            <a:r>
              <a:rPr lang="cs-CZ" sz="3000" dirty="0">
                <a:latin typeface="Arial"/>
                <a:cs typeface="Arial"/>
              </a:rPr>
              <a:t>Klíčové nálezy 1 - Paradox policejního rozpočtu</a:t>
            </a:r>
          </a:p>
        </p:txBody>
      </p:sp>
      <p:pic>
        <p:nvPicPr>
          <p:cNvPr id="6" name="Obrázek 5" descr="Obsah obrázku text, snímek obrazovky, Písmo, řada/pruh&#10;&#10;Obsah generovaný pomocí AI může být nesprávný.">
            <a:extLst>
              <a:ext uri="{FF2B5EF4-FFF2-40B4-BE49-F238E27FC236}">
                <a16:creationId xmlns:a16="http://schemas.microsoft.com/office/drawing/2014/main" id="{037601B6-42D1-81EC-9DF2-195A5D3BC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207" y="3023136"/>
            <a:ext cx="4629150" cy="2370531"/>
          </a:xfrm>
          <a:prstGeom prst="rect">
            <a:avLst/>
          </a:prstGeom>
          <a:noFill/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835102D-2973-54E9-C919-E82EEF307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952430"/>
            <a:ext cx="3777268" cy="431061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600" dirty="0">
                <a:latin typeface="Arial"/>
                <a:cs typeface="Arial"/>
              </a:rPr>
              <a:t>Zjištění:</a:t>
            </a:r>
          </a:p>
          <a:p>
            <a:pPr marL="342265" lvl="1"/>
            <a:r>
              <a:rPr lang="cs-CZ" sz="1600" dirty="0">
                <a:latin typeface="Arial"/>
                <a:cs typeface="Arial"/>
              </a:rPr>
              <a:t>Korelace mezi rozpočtem per capita a mírou střeleb: r = 0,29 (slabá)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600" dirty="0">
                <a:latin typeface="Arial"/>
                <a:cs typeface="Arial"/>
              </a:rPr>
              <a:t>Města s </a:t>
            </a:r>
            <a:r>
              <a:rPr lang="cs-CZ" sz="1600" err="1">
                <a:latin typeface="Arial"/>
                <a:cs typeface="Arial"/>
              </a:rPr>
              <a:t>High_Budget</a:t>
            </a:r>
            <a:r>
              <a:rPr lang="cs-CZ" sz="1600" dirty="0">
                <a:latin typeface="Arial"/>
                <a:cs typeface="Arial"/>
              </a:rPr>
              <a:t> mají vyšší pravděpodobnost vysoké míry střeleb (69,4%)</a:t>
            </a:r>
          </a:p>
          <a:p>
            <a:pPr marL="170815" indent="-170815"/>
            <a:r>
              <a:rPr lang="cs-CZ" sz="1600" dirty="0">
                <a:latin typeface="Arial"/>
                <a:cs typeface="Arial"/>
              </a:rPr>
              <a:t>4ft-Miner pravidlo:</a:t>
            </a:r>
            <a:endParaRPr lang="cs-CZ" sz="160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err="1">
                <a:latin typeface="Arial"/>
                <a:cs typeface="Arial"/>
              </a:rPr>
              <a:t>budget_category</a:t>
            </a:r>
            <a:r>
              <a:rPr lang="cs-CZ" sz="1400" dirty="0">
                <a:latin typeface="Arial"/>
                <a:cs typeface="Arial"/>
              </a:rPr>
              <a:t>(</a:t>
            </a:r>
            <a:r>
              <a:rPr lang="cs-CZ" sz="1400" err="1">
                <a:latin typeface="Arial"/>
                <a:cs typeface="Arial"/>
              </a:rPr>
              <a:t>High_Budget</a:t>
            </a:r>
            <a:r>
              <a:rPr lang="cs-CZ" sz="1400" dirty="0">
                <a:latin typeface="Arial"/>
                <a:cs typeface="Arial"/>
              </a:rPr>
              <a:t>) =&gt; </a:t>
            </a:r>
            <a:r>
              <a:rPr lang="cs-CZ" sz="1400" err="1">
                <a:latin typeface="Arial"/>
                <a:cs typeface="Arial"/>
              </a:rPr>
              <a:t>shooting_rate_category</a:t>
            </a:r>
            <a:r>
              <a:rPr lang="cs-CZ" sz="1400" dirty="0">
                <a:latin typeface="Arial"/>
                <a:cs typeface="Arial"/>
              </a:rPr>
              <a:t>(</a:t>
            </a:r>
            <a:r>
              <a:rPr lang="cs-CZ" sz="1400" err="1">
                <a:latin typeface="Arial"/>
                <a:cs typeface="Arial"/>
              </a:rPr>
              <a:t>High_Rate</a:t>
            </a:r>
            <a:r>
              <a:rPr lang="cs-CZ" sz="1400" dirty="0">
                <a:latin typeface="Arial"/>
                <a:cs typeface="Arial"/>
              </a:rPr>
              <a:t>)</a:t>
            </a:r>
          </a:p>
          <a:p>
            <a:pPr marL="856615" lvl="2" indent="-457200">
              <a:buFont typeface="Wingdings" panose="020B0604020202020204" pitchFamily="34" charset="0"/>
              <a:buChar char="§"/>
            </a:pPr>
            <a:r>
              <a:rPr lang="cs-CZ" sz="1400" err="1">
                <a:latin typeface="Arial"/>
                <a:cs typeface="Arial"/>
              </a:rPr>
              <a:t>confidence</a:t>
            </a:r>
            <a:r>
              <a:rPr lang="cs-CZ" sz="1400" dirty="0">
                <a:latin typeface="Arial"/>
                <a:cs typeface="Arial"/>
              </a:rPr>
              <a:t>: 0,694 | AAD: +0,412</a:t>
            </a:r>
          </a:p>
          <a:p>
            <a:pPr marL="170815" indent="-170815"/>
            <a:r>
              <a:rPr lang="cs-CZ" sz="1600" dirty="0">
                <a:latin typeface="Arial"/>
                <a:cs typeface="Arial"/>
              </a:rPr>
              <a:t>Interpretace: 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600" dirty="0">
                <a:latin typeface="Arial"/>
                <a:cs typeface="Arial"/>
              </a:rPr>
              <a:t>vyšší rozpočet neznamená méně střeleb,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600" dirty="0">
                <a:latin typeface="Arial"/>
                <a:cs typeface="Arial"/>
              </a:rPr>
              <a:t>samotné navyšování rozpočtů není efektivní strategií.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10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10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100"/>
          </a:p>
        </p:txBody>
      </p:sp>
    </p:spTree>
    <p:extLst>
      <p:ext uri="{BB962C8B-B14F-4D97-AF65-F5344CB8AC3E}">
        <p14:creationId xmlns:p14="http://schemas.microsoft.com/office/powerpoint/2010/main" val="2551814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A1DCD-C4D1-E735-68DF-FA75884F2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20D6BCA-395B-0505-F435-C39FABD3D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870796"/>
            <a:ext cx="8302616" cy="1069975"/>
          </a:xfrm>
        </p:spPr>
        <p:txBody>
          <a:bodyPr anchor="b">
            <a:normAutofit/>
          </a:bodyPr>
          <a:lstStyle/>
          <a:p>
            <a:r>
              <a:rPr lang="cs-CZ" sz="3000" dirty="0">
                <a:latin typeface="Arial"/>
                <a:cs typeface="Arial"/>
              </a:rPr>
              <a:t>Klíčové nálezy 2 - Geografické vzorce a velikost města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AC32F1A-6540-D1B0-FF11-D6156EF3F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929103"/>
            <a:ext cx="3777268" cy="431061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1400" dirty="0">
                <a:latin typeface="Arial"/>
                <a:cs typeface="Arial"/>
              </a:rPr>
              <a:t>Zjištění: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 err="1">
                <a:latin typeface="Arial"/>
                <a:cs typeface="Arial"/>
              </a:rPr>
              <a:t>Chi</a:t>
            </a:r>
            <a:r>
              <a:rPr lang="cs-CZ" sz="1400" dirty="0">
                <a:latin typeface="Arial"/>
                <a:cs typeface="Arial"/>
              </a:rPr>
              <a:t>-square test: p &lt; 0,000001, </a:t>
            </a:r>
            <a:r>
              <a:rPr lang="cs-CZ" sz="1400" dirty="0" err="1">
                <a:latin typeface="Arial"/>
                <a:cs typeface="Arial"/>
              </a:rPr>
              <a:t>Cramerovo</a:t>
            </a:r>
            <a:r>
              <a:rPr lang="cs-CZ" sz="1400" dirty="0">
                <a:latin typeface="Arial"/>
                <a:cs typeface="Arial"/>
              </a:rPr>
              <a:t> V = 0,2357,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Malá města: 61,2% v kategorii </a:t>
            </a:r>
            <a:r>
              <a:rPr lang="cs-CZ" sz="1400" dirty="0" err="1">
                <a:latin typeface="Arial"/>
                <a:cs typeface="Arial"/>
              </a:rPr>
              <a:t>High_Rate</a:t>
            </a:r>
            <a:r>
              <a:rPr lang="cs-CZ" sz="1400" dirty="0">
                <a:latin typeface="Arial"/>
                <a:cs typeface="Arial"/>
              </a:rPr>
              <a:t>,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Střední města: 63,5% v kategorii </a:t>
            </a:r>
            <a:r>
              <a:rPr lang="cs-CZ" sz="1400" dirty="0" err="1">
                <a:latin typeface="Arial"/>
                <a:cs typeface="Arial"/>
              </a:rPr>
              <a:t>High_Rate</a:t>
            </a:r>
            <a:r>
              <a:rPr lang="cs-CZ" sz="1400" dirty="0">
                <a:latin typeface="Arial"/>
                <a:cs typeface="Arial"/>
              </a:rPr>
              <a:t>,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Velká města: pouze 28,9% v kategorii </a:t>
            </a:r>
            <a:r>
              <a:rPr lang="cs-CZ" sz="1400" dirty="0" err="1">
                <a:latin typeface="Arial"/>
                <a:cs typeface="Arial"/>
              </a:rPr>
              <a:t>High_Rate</a:t>
            </a:r>
            <a:r>
              <a:rPr lang="cs-CZ" sz="1400" dirty="0">
                <a:latin typeface="Arial"/>
                <a:cs typeface="Arial"/>
              </a:rPr>
              <a:t>.</a:t>
            </a:r>
          </a:p>
          <a:p>
            <a:pPr marL="170815" indent="-170815"/>
            <a:r>
              <a:rPr lang="cs-CZ" sz="1400" dirty="0">
                <a:latin typeface="Arial"/>
                <a:cs typeface="Arial"/>
              </a:rPr>
              <a:t>Koncentrace incidentů:</a:t>
            </a:r>
            <a:endParaRPr lang="cs-CZ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Kalifornie a Texas dominují v absolutním počtu,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velká města mají více incidentů absolutně, ale lepší poměr k populaci.</a:t>
            </a:r>
          </a:p>
          <a:p>
            <a:pPr marL="170815" indent="-170815"/>
            <a:r>
              <a:rPr lang="cs-CZ" sz="1400" dirty="0">
                <a:latin typeface="Arial"/>
                <a:cs typeface="Arial"/>
              </a:rPr>
              <a:t>Interpretace: 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menší města mají výrazně vyšší relativní míru střeleb (per 100k obyvatel),</a:t>
            </a:r>
            <a:endParaRPr lang="cs-CZ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preventivní programy by měly cílit na malá a střední města.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10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10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100"/>
          </a:p>
        </p:txBody>
      </p:sp>
      <p:pic>
        <p:nvPicPr>
          <p:cNvPr id="8" name="Obrázek 7" descr="Obsah obrázku text, snímek obrazovky, Písmo, číslo&#10;&#10;Obsah generovaný pomocí AI může být nesprávný.">
            <a:extLst>
              <a:ext uri="{FF2B5EF4-FFF2-40B4-BE49-F238E27FC236}">
                <a16:creationId xmlns:a16="http://schemas.microsoft.com/office/drawing/2014/main" id="{90EE4304-CF56-DC20-4F7B-0E04137BC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559" y="2401438"/>
            <a:ext cx="4159161" cy="30934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90094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0F44F-796E-9BAF-82F4-2ACEAE7A4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444950-3AE1-DC0F-75C3-F5992A2B0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13404"/>
            <a:ext cx="7779544" cy="689952"/>
          </a:xfrm>
        </p:spPr>
        <p:txBody>
          <a:bodyPr anchor="t">
            <a:normAutofit/>
          </a:bodyPr>
          <a:lstStyle/>
          <a:p>
            <a:r>
              <a:rPr lang="cs-CZ" dirty="0">
                <a:latin typeface="Arial"/>
                <a:cs typeface="Arial"/>
              </a:rPr>
              <a:t>Klíčové nálezy 3 - Rasové disparity u neozbrojených obětí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E81DE58-5824-3DE3-5F27-C757ECCF2B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53073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170815" indent="-170815">
              <a:lnSpc>
                <a:spcPct val="90000"/>
              </a:lnSpc>
            </a:pPr>
            <a:r>
              <a:rPr lang="cs-CZ" sz="1300" dirty="0">
                <a:latin typeface="Arial"/>
                <a:cs typeface="Arial"/>
              </a:rPr>
              <a:t>Zjištění (SD4ft-Miner):</a:t>
            </a:r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cs-CZ" sz="1300" dirty="0">
                <a:latin typeface="Arial"/>
                <a:cs typeface="Arial"/>
              </a:rPr>
              <a:t>Black vs </a:t>
            </a:r>
            <a:r>
              <a:rPr lang="cs-CZ" sz="1300" dirty="0" err="1">
                <a:latin typeface="Arial"/>
                <a:cs typeface="Arial"/>
              </a:rPr>
              <a:t>White</a:t>
            </a:r>
            <a:r>
              <a:rPr lang="cs-CZ" sz="1300" dirty="0">
                <a:latin typeface="Arial"/>
                <a:cs typeface="Arial"/>
              </a:rPr>
              <a:t>: </a:t>
            </a:r>
            <a:r>
              <a:rPr lang="cs-CZ" sz="1300" dirty="0" err="1">
                <a:latin typeface="Arial"/>
                <a:cs typeface="Arial"/>
              </a:rPr>
              <a:t>RatioConf</a:t>
            </a:r>
            <a:r>
              <a:rPr lang="cs-CZ" sz="1300" dirty="0">
                <a:latin typeface="Arial"/>
                <a:cs typeface="Arial"/>
              </a:rPr>
              <a:t> = 1,310 (o 31% vyšší pravděpodobnost být neozbrojený),</a:t>
            </a:r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cs-CZ" sz="1300" err="1">
                <a:latin typeface="Arial"/>
                <a:cs typeface="Arial"/>
              </a:rPr>
              <a:t>Hispanic</a:t>
            </a:r>
            <a:r>
              <a:rPr lang="cs-CZ" sz="1300" dirty="0">
                <a:latin typeface="Arial"/>
                <a:cs typeface="Arial"/>
              </a:rPr>
              <a:t> vs </a:t>
            </a:r>
            <a:r>
              <a:rPr lang="cs-CZ" sz="1300" err="1">
                <a:latin typeface="Arial"/>
                <a:cs typeface="Arial"/>
              </a:rPr>
              <a:t>White</a:t>
            </a:r>
            <a:r>
              <a:rPr lang="cs-CZ" sz="1300" dirty="0">
                <a:latin typeface="Arial"/>
                <a:cs typeface="Arial"/>
              </a:rPr>
              <a:t>: </a:t>
            </a:r>
            <a:r>
              <a:rPr lang="cs-CZ" sz="1300" err="1">
                <a:latin typeface="Arial"/>
                <a:cs typeface="Arial"/>
              </a:rPr>
              <a:t>RatioConf</a:t>
            </a:r>
            <a:r>
              <a:rPr lang="cs-CZ" sz="1300" dirty="0">
                <a:latin typeface="Arial"/>
                <a:cs typeface="Arial"/>
              </a:rPr>
              <a:t> = 1,418 (o 42% vyšší pravděpodobnost být neozbrojený),</a:t>
            </a:r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cs-CZ" sz="1300" err="1">
                <a:latin typeface="Arial"/>
                <a:cs typeface="Arial"/>
              </a:rPr>
              <a:t>Chi</a:t>
            </a:r>
            <a:r>
              <a:rPr lang="cs-CZ" sz="1300" dirty="0">
                <a:latin typeface="Arial"/>
                <a:cs typeface="Arial"/>
              </a:rPr>
              <a:t>-square test potvrzuje statisticky významný vztah (p &lt; 0,01).</a:t>
            </a:r>
          </a:p>
          <a:p>
            <a:pPr marL="170815" indent="-170815">
              <a:lnSpc>
                <a:spcPct val="90000"/>
              </a:lnSpc>
            </a:pPr>
            <a:r>
              <a:rPr lang="cs-CZ" sz="1600" dirty="0">
                <a:latin typeface="Arial"/>
                <a:cs typeface="Arial"/>
              </a:rPr>
              <a:t>4ft-Miner pravidla potvrzují vzorce:</a:t>
            </a:r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cs-CZ" sz="1300" dirty="0" err="1">
                <a:latin typeface="Arial"/>
                <a:cs typeface="Arial"/>
              </a:rPr>
              <a:t>race_category</a:t>
            </a:r>
            <a:r>
              <a:rPr lang="cs-CZ" sz="1300" dirty="0">
                <a:latin typeface="Arial"/>
                <a:cs typeface="Arial"/>
              </a:rPr>
              <a:t>(</a:t>
            </a:r>
            <a:r>
              <a:rPr lang="cs-CZ" sz="1300" dirty="0" err="1">
                <a:latin typeface="Arial"/>
                <a:cs typeface="Arial"/>
              </a:rPr>
              <a:t>Hispanic</a:t>
            </a:r>
            <a:r>
              <a:rPr lang="cs-CZ" sz="1300" dirty="0">
                <a:latin typeface="Arial"/>
                <a:cs typeface="Arial"/>
              </a:rPr>
              <a:t>) &amp; </a:t>
            </a:r>
            <a:r>
              <a:rPr lang="cs-CZ" sz="1300" dirty="0" err="1">
                <a:latin typeface="Arial"/>
                <a:cs typeface="Arial"/>
              </a:rPr>
              <a:t>budget_category</a:t>
            </a:r>
            <a:r>
              <a:rPr lang="cs-CZ" sz="1300" dirty="0">
                <a:latin typeface="Arial"/>
                <a:cs typeface="Arial"/>
              </a:rPr>
              <a:t>(</a:t>
            </a:r>
            <a:r>
              <a:rPr lang="cs-CZ" sz="1300" dirty="0" err="1">
                <a:latin typeface="Arial"/>
                <a:cs typeface="Arial"/>
              </a:rPr>
              <a:t>High_Budget</a:t>
            </a:r>
            <a:r>
              <a:rPr lang="cs-CZ" sz="1300" dirty="0">
                <a:latin typeface="Arial"/>
                <a:cs typeface="Arial"/>
              </a:rPr>
              <a:t>) =&gt; </a:t>
            </a:r>
            <a:r>
              <a:rPr lang="cs-CZ" sz="1300" dirty="0" err="1">
                <a:latin typeface="Arial"/>
                <a:cs typeface="Arial"/>
              </a:rPr>
              <a:t>shooting_rate_category</a:t>
            </a:r>
            <a:r>
              <a:rPr lang="cs-CZ" sz="1300" dirty="0">
                <a:latin typeface="Arial"/>
                <a:cs typeface="Arial"/>
              </a:rPr>
              <a:t>(</a:t>
            </a:r>
            <a:r>
              <a:rPr lang="cs-CZ" sz="1300" dirty="0" err="1">
                <a:latin typeface="Arial"/>
                <a:cs typeface="Arial"/>
              </a:rPr>
              <a:t>High_Rate</a:t>
            </a:r>
            <a:r>
              <a:rPr lang="cs-CZ" sz="1300" dirty="0">
                <a:latin typeface="Arial"/>
                <a:cs typeface="Arial"/>
              </a:rPr>
              <a:t>)</a:t>
            </a:r>
          </a:p>
          <a:p>
            <a:pPr marL="856615" lvl="2" indent="-457200">
              <a:lnSpc>
                <a:spcPct val="90000"/>
              </a:lnSpc>
              <a:buFont typeface="Wingdings" panose="020B0604020202020204" pitchFamily="34" charset="0"/>
              <a:buChar char="§"/>
            </a:pPr>
            <a:r>
              <a:rPr lang="cs-CZ" sz="1300" dirty="0" err="1">
                <a:latin typeface="Arial"/>
                <a:cs typeface="Arial"/>
              </a:rPr>
              <a:t>confidence</a:t>
            </a:r>
            <a:r>
              <a:rPr lang="cs-CZ" sz="1300" dirty="0">
                <a:latin typeface="Arial"/>
                <a:cs typeface="Arial"/>
              </a:rPr>
              <a:t>: 0,778 | AAD: +0,582</a:t>
            </a:r>
          </a:p>
          <a:p>
            <a:pPr marL="170815" indent="-170815">
              <a:lnSpc>
                <a:spcPct val="90000"/>
              </a:lnSpc>
            </a:pPr>
            <a:r>
              <a:rPr lang="cs-CZ" sz="1300" dirty="0">
                <a:latin typeface="Arial"/>
                <a:cs typeface="Arial"/>
              </a:rPr>
              <a:t>Interpretace: </a:t>
            </a:r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cs-CZ" sz="1300" dirty="0">
                <a:latin typeface="Arial"/>
                <a:cs typeface="Arial"/>
              </a:rPr>
              <a:t>černošské oběti: 12,4% neozbrojených,</a:t>
            </a:r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cs-CZ" sz="1300" dirty="0">
                <a:latin typeface="Arial"/>
                <a:cs typeface="Arial"/>
              </a:rPr>
              <a:t>hispánské oběti: 13,5% neozbrojených,</a:t>
            </a:r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cs-CZ" sz="1300" dirty="0">
                <a:latin typeface="Arial"/>
                <a:cs typeface="Arial"/>
              </a:rPr>
              <a:t>bílé oběti: 9,5% neozbrojených,</a:t>
            </a:r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cs-CZ" sz="1300" dirty="0">
                <a:latin typeface="Arial"/>
                <a:cs typeface="Arial"/>
              </a:rPr>
              <a:t>existují měřitelné rozdíly v tom, jak různé rasové skupiny končí jako oběti střeleb.</a:t>
            </a:r>
          </a:p>
          <a:p>
            <a:pPr marL="170815" indent="-170815">
              <a:lnSpc>
                <a:spcPct val="90000"/>
              </a:lnSpc>
            </a:pPr>
            <a:r>
              <a:rPr lang="cs-CZ" sz="1300" dirty="0">
                <a:latin typeface="Arial"/>
                <a:cs typeface="Arial"/>
              </a:rPr>
              <a:t>Praktická aplikace:</a:t>
            </a:r>
            <a:endParaRPr lang="cs-CZ" sz="1300" b="1" dirty="0">
              <a:latin typeface="Arial"/>
              <a:cs typeface="Arial"/>
            </a:endParaRPr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cs-CZ" sz="1300" dirty="0">
                <a:latin typeface="Arial"/>
                <a:cs typeface="Arial"/>
              </a:rPr>
              <a:t>data naznačují potřebu dalšího zkoumání faktorů ovlivňujících hodnocení hrozby</a:t>
            </a:r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endParaRPr lang="cs-CZ" sz="1300"/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endParaRPr lang="cs-CZ" sz="1300"/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endParaRPr lang="cs-CZ" sz="1300"/>
          </a:p>
        </p:txBody>
      </p:sp>
      <p:pic>
        <p:nvPicPr>
          <p:cNvPr id="4" name="Obrázek 3" descr="Obsah obrázku text, snímek obrazovky, Písmo, číslo&#10;&#10;Obsah generovaný pomocí AI může být nesprávný.">
            <a:extLst>
              <a:ext uri="{FF2B5EF4-FFF2-40B4-BE49-F238E27FC236}">
                <a16:creationId xmlns:a16="http://schemas.microsoft.com/office/drawing/2014/main" id="{B8593857-4778-E039-7132-66B141023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150" y="2444211"/>
            <a:ext cx="3886200" cy="32935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86521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31787-364E-DB35-1540-A5BDC4981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DB71D78-337F-A13C-1868-AD3B5CC54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684184"/>
            <a:ext cx="8209310" cy="1081638"/>
          </a:xfrm>
        </p:spPr>
        <p:txBody>
          <a:bodyPr anchor="b">
            <a:normAutofit/>
          </a:bodyPr>
          <a:lstStyle/>
          <a:p>
            <a:r>
              <a:rPr lang="cs-CZ" sz="3000" dirty="0">
                <a:latin typeface="Arial"/>
                <a:cs typeface="Arial"/>
              </a:rPr>
              <a:t>Klíčové nálezy 4 - Věk, rasa a duševní onemocnění</a:t>
            </a:r>
          </a:p>
        </p:txBody>
      </p:sp>
      <p:pic>
        <p:nvPicPr>
          <p:cNvPr id="4" name="Obrázek 3" descr="Obsah obrázku text, snímek obrazovky, diagram, Písmo&#10;&#10;Obsah generovaný pomocí AI může být nesprávný.">
            <a:extLst>
              <a:ext uri="{FF2B5EF4-FFF2-40B4-BE49-F238E27FC236}">
                <a16:creationId xmlns:a16="http://schemas.microsoft.com/office/drawing/2014/main" id="{36805F55-6D6B-7A40-1996-18D094230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233" y="1752550"/>
            <a:ext cx="4629150" cy="4606003"/>
          </a:xfrm>
          <a:prstGeom prst="rect">
            <a:avLst/>
          </a:prstGeom>
          <a:noFill/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0F58D0A-27FE-E413-1736-B5D934723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54155"/>
            <a:ext cx="3580835" cy="460219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0815" indent="-170815">
              <a:lnSpc>
                <a:spcPct val="90000"/>
              </a:lnSpc>
            </a:pPr>
            <a:r>
              <a:rPr lang="cs-CZ" dirty="0">
                <a:latin typeface="Arial"/>
                <a:cs typeface="Arial"/>
              </a:rPr>
              <a:t>Zjištění (4ft-Miner):</a:t>
            </a:r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cs-CZ" sz="1200" err="1">
                <a:latin typeface="Arial"/>
                <a:cs typeface="Arial"/>
              </a:rPr>
              <a:t>race_category</a:t>
            </a:r>
            <a:r>
              <a:rPr lang="cs-CZ" sz="1200" dirty="0">
                <a:latin typeface="Arial"/>
                <a:cs typeface="Arial"/>
              </a:rPr>
              <a:t>(</a:t>
            </a:r>
            <a:r>
              <a:rPr lang="cs-CZ" sz="1200" err="1">
                <a:latin typeface="Arial"/>
                <a:cs typeface="Arial"/>
              </a:rPr>
              <a:t>White</a:t>
            </a:r>
            <a:r>
              <a:rPr lang="cs-CZ" sz="1200" dirty="0">
                <a:latin typeface="Arial"/>
                <a:cs typeface="Arial"/>
              </a:rPr>
              <a:t>) &amp; </a:t>
            </a:r>
            <a:r>
              <a:rPr lang="cs-CZ" sz="1200" err="1">
                <a:latin typeface="Arial"/>
                <a:cs typeface="Arial"/>
              </a:rPr>
              <a:t>age_group</a:t>
            </a:r>
            <a:r>
              <a:rPr lang="cs-CZ" sz="1200" dirty="0">
                <a:latin typeface="Arial"/>
                <a:cs typeface="Arial"/>
              </a:rPr>
              <a:t>(Senior) =&gt; </a:t>
            </a:r>
            <a:r>
              <a:rPr lang="cs-CZ" sz="1200" err="1">
                <a:latin typeface="Arial"/>
                <a:cs typeface="Arial"/>
              </a:rPr>
              <a:t>mental_illness_flag</a:t>
            </a:r>
            <a:r>
              <a:rPr lang="cs-CZ" sz="1200" dirty="0">
                <a:latin typeface="Arial"/>
                <a:cs typeface="Arial"/>
              </a:rPr>
              <a:t>(</a:t>
            </a:r>
            <a:r>
              <a:rPr lang="cs-CZ" sz="1200" err="1">
                <a:latin typeface="Arial"/>
                <a:cs typeface="Arial"/>
              </a:rPr>
              <a:t>Yes</a:t>
            </a:r>
            <a:r>
              <a:rPr lang="cs-CZ" sz="1200" dirty="0">
                <a:latin typeface="Arial"/>
                <a:cs typeface="Arial"/>
              </a:rPr>
              <a:t>)</a:t>
            </a:r>
          </a:p>
          <a:p>
            <a:pPr marL="856615" lvl="2" indent="-457200">
              <a:lnSpc>
                <a:spcPct val="90000"/>
              </a:lnSpc>
              <a:buFont typeface="Wingdings" panose="020B0604020202020204" pitchFamily="34" charset="0"/>
              <a:buChar char="§"/>
            </a:pPr>
            <a:r>
              <a:rPr lang="cs-CZ" sz="1200" err="1">
                <a:latin typeface="Arial"/>
                <a:cs typeface="Arial"/>
              </a:rPr>
              <a:t>confidence</a:t>
            </a:r>
            <a:r>
              <a:rPr lang="cs-CZ" sz="1200" dirty="0">
                <a:latin typeface="Arial"/>
                <a:cs typeface="Arial"/>
              </a:rPr>
              <a:t>: 38,3%, AAD: +102,2% (více než 2x průměr),</a:t>
            </a:r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cs-CZ" sz="1200" dirty="0" err="1">
                <a:latin typeface="Arial"/>
                <a:cs typeface="Arial"/>
              </a:rPr>
              <a:t>chi</a:t>
            </a:r>
            <a:r>
              <a:rPr lang="cs-CZ" sz="1200" dirty="0">
                <a:latin typeface="Arial"/>
                <a:cs typeface="Arial"/>
              </a:rPr>
              <a:t>-square: Věk vs duševní onemocnění p = 0,0016 (vysoce signifikantní),</a:t>
            </a:r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cs-CZ" sz="1200" dirty="0">
                <a:latin typeface="Arial"/>
                <a:cs typeface="Arial"/>
              </a:rPr>
              <a:t>senioři celkově: 27,6% s duševním onemocněním vs 18,9% průměr.</a:t>
            </a:r>
          </a:p>
          <a:p>
            <a:pPr marL="170815" indent="-170815">
              <a:lnSpc>
                <a:spcPct val="90000"/>
              </a:lnSpc>
            </a:pPr>
            <a:r>
              <a:rPr lang="cs-CZ" dirty="0">
                <a:latin typeface="Arial"/>
                <a:cs typeface="Arial"/>
              </a:rPr>
              <a:t>Interpretace: </a:t>
            </a:r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cs-CZ" sz="1200" dirty="0">
                <a:latin typeface="Arial"/>
                <a:cs typeface="Arial"/>
              </a:rPr>
              <a:t>starší běloši s duševním onemocněním představují specifickou rizikovou skupinu,</a:t>
            </a:r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cs-CZ" sz="1200" dirty="0">
                <a:latin typeface="Arial"/>
                <a:cs typeface="Arial"/>
              </a:rPr>
              <a:t>duševní onemocnění je častější u starších obětí napříč všemi rasami,</a:t>
            </a:r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cs-CZ" sz="1200" dirty="0">
                <a:latin typeface="Arial"/>
                <a:cs typeface="Arial"/>
              </a:rPr>
              <a:t>kombinace </a:t>
            </a:r>
            <a:r>
              <a:rPr lang="cs-CZ" sz="1200" err="1">
                <a:latin typeface="Arial"/>
                <a:cs typeface="Arial"/>
              </a:rPr>
              <a:t>White</a:t>
            </a:r>
            <a:r>
              <a:rPr lang="cs-CZ" sz="1200" dirty="0">
                <a:latin typeface="Arial"/>
                <a:cs typeface="Arial"/>
              </a:rPr>
              <a:t> + Senior má nejvyšší pravděpodobnost </a:t>
            </a:r>
            <a:r>
              <a:rPr lang="cs-CZ" sz="1200" err="1">
                <a:latin typeface="Arial"/>
                <a:cs typeface="Arial"/>
              </a:rPr>
              <a:t>mental</a:t>
            </a:r>
            <a:r>
              <a:rPr lang="cs-CZ" sz="1200" dirty="0">
                <a:latin typeface="Arial"/>
                <a:cs typeface="Arial"/>
              </a:rPr>
              <a:t> </a:t>
            </a:r>
            <a:r>
              <a:rPr lang="cs-CZ" sz="1200" err="1">
                <a:latin typeface="Arial"/>
                <a:cs typeface="Arial"/>
              </a:rPr>
              <a:t>illness</a:t>
            </a:r>
            <a:r>
              <a:rPr lang="cs-CZ" sz="1200" dirty="0">
                <a:latin typeface="Arial"/>
                <a:cs typeface="Arial"/>
              </a:rPr>
              <a:t>.</a:t>
            </a:r>
          </a:p>
          <a:p>
            <a:pPr marL="170815" indent="-170815">
              <a:lnSpc>
                <a:spcPct val="90000"/>
              </a:lnSpc>
            </a:pPr>
            <a:r>
              <a:rPr lang="cs-CZ" dirty="0">
                <a:latin typeface="Arial"/>
                <a:cs typeface="Arial"/>
              </a:rPr>
              <a:t>Praktická aplikace:</a:t>
            </a:r>
            <a:endParaRPr lang="cs-CZ" b="1">
              <a:latin typeface="Arial"/>
              <a:cs typeface="Arial"/>
            </a:endParaRPr>
          </a:p>
          <a:p>
            <a:pPr marL="514350" lvl="1" indent="-171450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cs-CZ" sz="1200" dirty="0">
                <a:latin typeface="Arial"/>
                <a:cs typeface="Arial"/>
              </a:rPr>
              <a:t>vytvořit specializované jednotky pro </a:t>
            </a:r>
            <a:r>
              <a:rPr lang="cs-CZ" sz="1200" dirty="0" err="1">
                <a:latin typeface="Arial"/>
                <a:cs typeface="Arial"/>
              </a:rPr>
              <a:t>mental</a:t>
            </a:r>
            <a:r>
              <a:rPr lang="cs-CZ" sz="1200" dirty="0">
                <a:latin typeface="Arial"/>
                <a:cs typeface="Arial"/>
              </a:rPr>
              <a:t> </a:t>
            </a:r>
            <a:r>
              <a:rPr lang="cs-CZ" sz="1200" dirty="0" err="1">
                <a:latin typeface="Arial"/>
                <a:cs typeface="Arial"/>
              </a:rPr>
              <a:t>health</a:t>
            </a:r>
            <a:r>
              <a:rPr lang="cs-CZ" sz="1200" dirty="0">
                <a:latin typeface="Arial"/>
                <a:cs typeface="Arial"/>
              </a:rPr>
              <a:t> </a:t>
            </a:r>
            <a:r>
              <a:rPr lang="cs-CZ" sz="1200" dirty="0" err="1">
                <a:latin typeface="Arial"/>
                <a:cs typeface="Arial"/>
              </a:rPr>
              <a:t>crisis</a:t>
            </a:r>
            <a:r>
              <a:rPr lang="cs-CZ" sz="1200" dirty="0">
                <a:latin typeface="Arial"/>
                <a:cs typeface="Arial"/>
              </a:rPr>
              <a:t> (CIT </a:t>
            </a:r>
            <a:r>
              <a:rPr lang="cs-CZ" sz="1200" dirty="0" err="1">
                <a:latin typeface="Arial"/>
                <a:cs typeface="Arial"/>
              </a:rPr>
              <a:t>teams</a:t>
            </a:r>
            <a:r>
              <a:rPr lang="cs-CZ" sz="1200" dirty="0">
                <a:latin typeface="Arial"/>
                <a:cs typeface="Arial"/>
              </a:rPr>
              <a:t>),</a:t>
            </a:r>
          </a:p>
          <a:p>
            <a:pPr marL="514350" lvl="1" indent="-171450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cs-CZ" sz="1200" dirty="0">
                <a:latin typeface="Arial"/>
                <a:cs typeface="Arial"/>
              </a:rPr>
              <a:t>prioritní zavedení v oblastech s vyšším podílem seniorské populace.</a:t>
            </a:r>
            <a:endParaRPr lang="cs-CZ"/>
          </a:p>
          <a:p>
            <a:pPr marL="513715" lvl="1" indent="-170815">
              <a:lnSpc>
                <a:spcPct val="90000"/>
              </a:lnSpc>
            </a:pPr>
            <a:endParaRPr lang="cs-CZ" sz="1000"/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endParaRPr lang="cs-CZ" sz="1000"/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endParaRPr lang="cs-CZ" sz="1000"/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endParaRPr lang="cs-CZ" sz="1000"/>
          </a:p>
        </p:txBody>
      </p:sp>
    </p:spTree>
    <p:extLst>
      <p:ext uri="{BB962C8B-B14F-4D97-AF65-F5344CB8AC3E}">
        <p14:creationId xmlns:p14="http://schemas.microsoft.com/office/powerpoint/2010/main" val="294459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FF981-ED7E-837C-6731-9545B21DC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329213-1EFF-E97F-C85B-D58DBDC87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1740"/>
            <a:ext cx="7907839" cy="689952"/>
          </a:xfrm>
        </p:spPr>
        <p:txBody>
          <a:bodyPr anchor="t">
            <a:noAutofit/>
          </a:bodyPr>
          <a:lstStyle/>
          <a:p>
            <a:r>
              <a:rPr lang="cs-CZ" dirty="0">
                <a:latin typeface="Arial"/>
                <a:cs typeface="Arial"/>
              </a:rPr>
              <a:t>Klíčový nález 5 - </a:t>
            </a:r>
            <a:r>
              <a:rPr lang="cs-CZ" dirty="0" err="1">
                <a:latin typeface="Arial"/>
                <a:cs typeface="Arial"/>
              </a:rPr>
              <a:t>Flee</a:t>
            </a:r>
            <a:r>
              <a:rPr lang="cs-CZ" dirty="0">
                <a:latin typeface="Arial"/>
                <a:cs typeface="Arial"/>
              </a:rPr>
              <a:t> </a:t>
            </a:r>
            <a:r>
              <a:rPr lang="cs-CZ" dirty="0" err="1">
                <a:latin typeface="Arial"/>
                <a:cs typeface="Arial"/>
              </a:rPr>
              <a:t>behavior</a:t>
            </a:r>
            <a:r>
              <a:rPr lang="cs-CZ" dirty="0">
                <a:latin typeface="Arial"/>
                <a:cs typeface="Arial"/>
              </a:rPr>
              <a:t> a ozbrojenost obětí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00194A5-E198-A8F7-0375-E4812A9F0D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5307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70815" indent="-170815">
              <a:lnSpc>
                <a:spcPct val="90000"/>
              </a:lnSpc>
            </a:pPr>
            <a:r>
              <a:rPr lang="cs-CZ" sz="1400" dirty="0">
                <a:latin typeface="Arial"/>
                <a:cs typeface="Arial"/>
              </a:rPr>
              <a:t>Zjištění:</a:t>
            </a:r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cs-CZ" sz="1400" dirty="0" err="1">
                <a:latin typeface="Arial"/>
                <a:cs typeface="Arial"/>
              </a:rPr>
              <a:t>chi</a:t>
            </a:r>
            <a:r>
              <a:rPr lang="cs-CZ" sz="1400" dirty="0">
                <a:latin typeface="Arial"/>
                <a:cs typeface="Arial"/>
              </a:rPr>
              <a:t>-square test: p &lt; 0,000001, </a:t>
            </a:r>
            <a:r>
              <a:rPr lang="cs-CZ" sz="1400" dirty="0" err="1">
                <a:latin typeface="Arial"/>
                <a:cs typeface="Arial"/>
              </a:rPr>
              <a:t>Cramerovo</a:t>
            </a:r>
            <a:r>
              <a:rPr lang="cs-CZ" sz="1400" dirty="0">
                <a:latin typeface="Arial"/>
                <a:cs typeface="Arial"/>
              </a:rPr>
              <a:t> V = 0,162,</a:t>
            </a:r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Utíkající autem: 26,8% neozbrojených,</a:t>
            </a:r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Neutíkající: 7,9% neozbrojených,</a:t>
            </a:r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Poměr: 3,4× vyšší pravděpodobnost být neozbrojený při útěku autem.</a:t>
            </a:r>
          </a:p>
          <a:p>
            <a:pPr marL="170815" indent="-170815">
              <a:lnSpc>
                <a:spcPct val="90000"/>
              </a:lnSpc>
            </a:pPr>
            <a:r>
              <a:rPr lang="cs-CZ" sz="1400" dirty="0">
                <a:latin typeface="Arial"/>
                <a:cs typeface="Arial"/>
              </a:rPr>
              <a:t>Celkové </a:t>
            </a:r>
            <a:r>
              <a:rPr lang="cs-CZ" sz="1400" dirty="0" err="1">
                <a:latin typeface="Arial"/>
                <a:cs typeface="Arial"/>
              </a:rPr>
              <a:t>flee</a:t>
            </a:r>
            <a:r>
              <a:rPr lang="cs-CZ" sz="1400" dirty="0">
                <a:latin typeface="Arial"/>
                <a:cs typeface="Arial"/>
              </a:rPr>
              <a:t> </a:t>
            </a:r>
            <a:r>
              <a:rPr lang="cs-CZ" sz="1400" dirty="0" err="1">
                <a:latin typeface="Arial"/>
                <a:cs typeface="Arial"/>
              </a:rPr>
              <a:t>behavior</a:t>
            </a:r>
            <a:r>
              <a:rPr lang="cs-CZ" sz="1400" dirty="0">
                <a:latin typeface="Arial"/>
                <a:cs typeface="Arial"/>
              </a:rPr>
              <a:t>:</a:t>
            </a:r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63,1% obětí neutíkalo,</a:t>
            </a:r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18,9% utíkalo pěšky,</a:t>
            </a:r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15,1% utíkalo autem.</a:t>
            </a:r>
          </a:p>
          <a:p>
            <a:pPr marL="170815" indent="-170815">
              <a:lnSpc>
                <a:spcPct val="90000"/>
              </a:lnSpc>
            </a:pPr>
            <a:r>
              <a:rPr lang="cs-CZ" sz="1400" dirty="0">
                <a:latin typeface="Arial"/>
                <a:cs typeface="Arial"/>
              </a:rPr>
              <a:t>Interpretace: </a:t>
            </a:r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osoby utíkající autem jsou statisticky významně častěji neozbrojené,</a:t>
            </a:r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policejní honičky končí fatálně i u neozbrojených osob.</a:t>
            </a:r>
          </a:p>
          <a:p>
            <a:pPr marL="170815" indent="-170815">
              <a:lnSpc>
                <a:spcPct val="90000"/>
              </a:lnSpc>
            </a:pPr>
            <a:r>
              <a:rPr lang="cs-CZ" sz="1400" dirty="0">
                <a:latin typeface="Arial"/>
                <a:cs typeface="Arial"/>
              </a:rPr>
              <a:t>Praktická aplikace:</a:t>
            </a:r>
            <a:endParaRPr lang="cs-CZ" sz="1400" b="1" dirty="0">
              <a:latin typeface="Arial"/>
              <a:cs typeface="Arial"/>
            </a:endParaRPr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r>
              <a:rPr lang="cs-CZ" sz="1400" dirty="0">
                <a:latin typeface="Arial"/>
                <a:cs typeface="Arial"/>
              </a:rPr>
              <a:t>revize protokolů pro </a:t>
            </a:r>
            <a:r>
              <a:rPr lang="cs-CZ" sz="1400" dirty="0" err="1">
                <a:latin typeface="Arial"/>
                <a:cs typeface="Arial"/>
              </a:rPr>
              <a:t>pursuit</a:t>
            </a:r>
            <a:r>
              <a:rPr lang="cs-CZ" sz="1400" dirty="0">
                <a:latin typeface="Arial"/>
                <a:cs typeface="Arial"/>
              </a:rPr>
              <a:t> </a:t>
            </a:r>
            <a:r>
              <a:rPr lang="cs-CZ" sz="1400" dirty="0" err="1">
                <a:latin typeface="Arial"/>
                <a:cs typeface="Arial"/>
              </a:rPr>
              <a:t>situations</a:t>
            </a:r>
            <a:r>
              <a:rPr lang="cs-CZ" sz="1400" dirty="0">
                <a:latin typeface="Arial"/>
                <a:cs typeface="Arial"/>
              </a:rPr>
              <a:t>.</a:t>
            </a:r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endParaRPr lang="cs-CZ" sz="1300"/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endParaRPr lang="cs-CZ" sz="1300"/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endParaRPr lang="cs-CZ" sz="1300"/>
          </a:p>
          <a:p>
            <a:pPr marL="513715" lvl="1" indent="-170815">
              <a:lnSpc>
                <a:spcPct val="90000"/>
              </a:lnSpc>
              <a:buFont typeface="Courier New" panose="020B0604020202020204" pitchFamily="34" charset="0"/>
              <a:buChar char="o"/>
            </a:pPr>
            <a:endParaRPr lang="cs-CZ" sz="1300"/>
          </a:p>
        </p:txBody>
      </p:sp>
      <p:pic>
        <p:nvPicPr>
          <p:cNvPr id="5" name="Obrázek 4" descr="Obsah obrázku text, snímek obrazovky, Písmo, číslo&#10;&#10;Obsah generovaný pomocí AI může být nesprávný.">
            <a:extLst>
              <a:ext uri="{FF2B5EF4-FFF2-40B4-BE49-F238E27FC236}">
                <a16:creationId xmlns:a16="http://schemas.microsoft.com/office/drawing/2014/main" id="{63C25362-D9AA-9640-78AB-D6B932589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866" y="2592842"/>
            <a:ext cx="4472668" cy="3375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795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>
            <a:extLst>
              <a:ext uri="{FF2B5EF4-FFF2-40B4-BE49-F238E27FC236}">
                <a16:creationId xmlns:a16="http://schemas.microsoft.com/office/drawing/2014/main" id="{FB7216AC-D64E-46AC-BDC6-EF293D050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/>
              <a:t>Závěr 1/3 – Shrnutí výsledků</a:t>
            </a:r>
          </a:p>
        </p:txBody>
      </p:sp>
      <p:sp>
        <p:nvSpPr>
          <p:cNvPr id="7" name="Zástupný obsah 6">
            <a:extLst>
              <a:ext uri="{FF2B5EF4-FFF2-40B4-BE49-F238E27FC236}">
                <a16:creationId xmlns:a16="http://schemas.microsoft.com/office/drawing/2014/main" id="{CA25D872-FF83-4EB5-88DF-5211304DB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170815" indent="-170815"/>
            <a:r>
              <a:rPr lang="cs-CZ" sz="2400" dirty="0">
                <a:latin typeface="Arial"/>
                <a:cs typeface="Arial"/>
              </a:rPr>
              <a:t>Všechny klíčové požadavky implementovány.</a:t>
            </a:r>
            <a:endParaRPr lang="cs-CZ" dirty="0"/>
          </a:p>
          <a:p>
            <a:pPr marL="342900" lvl="1" indent="0">
              <a:lnSpc>
                <a:spcPct val="120000"/>
              </a:lnSpc>
              <a:buNone/>
            </a:pPr>
            <a:endParaRPr lang="cs-CZ" sz="2000" dirty="0">
              <a:latin typeface="Arial"/>
              <a:cs typeface="Arial"/>
            </a:endParaRPr>
          </a:p>
          <a:p>
            <a:pPr marL="170815" indent="-170815"/>
            <a:r>
              <a:rPr lang="cs-CZ" sz="2400" dirty="0">
                <a:latin typeface="Arial"/>
                <a:cs typeface="Arial"/>
              </a:rPr>
              <a:t>Cíl práce byl naplněn.</a:t>
            </a:r>
            <a:endParaRPr lang="en-US" sz="2400" dirty="0"/>
          </a:p>
          <a:p>
            <a:pPr marL="285750" indent="-285750">
              <a:lnSpc>
                <a:spcPct val="120000"/>
              </a:lnSpc>
              <a:buFont typeface="Courier New" panose="02070309020205020404" pitchFamily="49" charset="0"/>
              <a:buChar char="o"/>
            </a:pPr>
            <a:endParaRPr lang="cs-CZ" sz="2600" b="1"/>
          </a:p>
        </p:txBody>
      </p:sp>
    </p:spTree>
    <p:extLst>
      <p:ext uri="{BB962C8B-B14F-4D97-AF65-F5344CB8AC3E}">
        <p14:creationId xmlns:p14="http://schemas.microsoft.com/office/powerpoint/2010/main" val="1986417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>
            <a:extLst>
              <a:ext uri="{FF2B5EF4-FFF2-40B4-BE49-F238E27FC236}">
                <a16:creationId xmlns:a16="http://schemas.microsoft.com/office/drawing/2014/main" id="{FB7216AC-D64E-46AC-BDC6-EF293D050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Závěr 2/3 – Hodnocení dosažených výsledků a identifikace neúspěchů</a:t>
            </a:r>
            <a:endParaRPr lang="cs-CZ" dirty="0"/>
          </a:p>
        </p:txBody>
      </p:sp>
      <p:sp>
        <p:nvSpPr>
          <p:cNvPr id="7" name="Zástupný obsah 6">
            <a:extLst>
              <a:ext uri="{FF2B5EF4-FFF2-40B4-BE49-F238E27FC236}">
                <a16:creationId xmlns:a16="http://schemas.microsoft.com/office/drawing/2014/main" id="{CA25D872-FF83-4EB5-88DF-5211304DB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170815" indent="-170815"/>
            <a:r>
              <a:rPr lang="cs-CZ" sz="2400" dirty="0">
                <a:latin typeface="Arial"/>
                <a:cs typeface="Arial"/>
              </a:rPr>
              <a:t>Funkční ETL </a:t>
            </a:r>
            <a:r>
              <a:rPr lang="cs-CZ" sz="2400" dirty="0" err="1">
                <a:latin typeface="Arial"/>
                <a:cs typeface="Arial"/>
              </a:rPr>
              <a:t>pipeline</a:t>
            </a:r>
            <a:r>
              <a:rPr lang="cs-CZ" sz="2400" dirty="0">
                <a:latin typeface="Arial"/>
                <a:cs typeface="Arial"/>
              </a:rPr>
              <a:t> v </a:t>
            </a:r>
            <a:r>
              <a:rPr lang="cs-CZ" sz="2400" dirty="0" err="1">
                <a:latin typeface="Arial"/>
                <a:cs typeface="Arial"/>
              </a:rPr>
              <a:t>BigQuery</a:t>
            </a:r>
            <a:r>
              <a:rPr lang="cs-CZ" sz="2400" dirty="0">
                <a:latin typeface="Arial"/>
                <a:cs typeface="Arial"/>
              </a:rPr>
              <a:t> (9 SQL transformací),</a:t>
            </a:r>
            <a:endParaRPr lang="cs-CZ" dirty="0"/>
          </a:p>
          <a:p>
            <a:pPr marL="170815" indent="-170815"/>
            <a:r>
              <a:rPr lang="cs-CZ" sz="2400" dirty="0">
                <a:latin typeface="Arial"/>
                <a:cs typeface="Arial"/>
              </a:rPr>
              <a:t>odhalení paradoxu policejního rozpočtu (r = 0,29),</a:t>
            </a:r>
            <a:endParaRPr lang="cs-CZ" sz="2400" dirty="0"/>
          </a:p>
          <a:p>
            <a:pPr marL="170815" indent="-170815"/>
            <a:r>
              <a:rPr lang="cs-CZ" sz="2400" dirty="0">
                <a:latin typeface="Arial"/>
                <a:cs typeface="Arial"/>
              </a:rPr>
              <a:t>identifikace rizikových skupin (senioři, rasové disparity).</a:t>
            </a:r>
            <a:endParaRPr lang="cs-CZ" dirty="0"/>
          </a:p>
          <a:p>
            <a:pPr marL="170815" indent="-170815"/>
            <a:endParaRPr lang="cs-CZ" sz="2400"/>
          </a:p>
          <a:p>
            <a:pPr marL="170815" indent="-170815"/>
            <a:r>
              <a:rPr lang="cs-CZ" sz="2400" dirty="0">
                <a:latin typeface="Arial"/>
                <a:cs typeface="Arial"/>
              </a:rPr>
              <a:t>Limity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100" dirty="0">
                <a:latin typeface="Arial"/>
                <a:cs typeface="Arial"/>
              </a:rPr>
              <a:t> propojeno pouze 174 ze 218 měst (79,8% </a:t>
            </a:r>
            <a:r>
              <a:rPr lang="cs-CZ" sz="2100" dirty="0" err="1">
                <a:latin typeface="Arial"/>
                <a:cs typeface="Arial"/>
              </a:rPr>
              <a:t>coverage</a:t>
            </a:r>
            <a:r>
              <a:rPr lang="cs-CZ" sz="2100" dirty="0">
                <a:latin typeface="Arial"/>
                <a:cs typeface="Arial"/>
              </a:rPr>
              <a:t>),</a:t>
            </a:r>
            <a:endParaRPr lang="cs-CZ" sz="21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cs-CZ" sz="2100" dirty="0">
                <a:latin typeface="Arial"/>
                <a:cs typeface="Arial"/>
              </a:rPr>
              <a:t> chybějící data o socioekonomických faktorech (chudoba, nezaměstnanost).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/>
          </a:p>
          <a:p>
            <a:pPr marL="170815" indent="-170815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260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>
            <a:extLst>
              <a:ext uri="{FF2B5EF4-FFF2-40B4-BE49-F238E27FC236}">
                <a16:creationId xmlns:a16="http://schemas.microsoft.com/office/drawing/2014/main" id="{FB7216AC-D64E-46AC-BDC6-EF293D050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/>
              <a:t>Závěr 3/3 - Návrhy pro pokračování výzkumu</a:t>
            </a:r>
          </a:p>
        </p:txBody>
      </p:sp>
      <p:sp>
        <p:nvSpPr>
          <p:cNvPr id="7" name="Zástupný obsah 6">
            <a:extLst>
              <a:ext uri="{FF2B5EF4-FFF2-40B4-BE49-F238E27FC236}">
                <a16:creationId xmlns:a16="http://schemas.microsoft.com/office/drawing/2014/main" id="{CA25D872-FF83-4EB5-88DF-5211304DB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126030"/>
            <a:ext cx="7779544" cy="4291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70815" indent="-170815"/>
            <a:r>
              <a:rPr lang="cs-CZ" sz="2400" dirty="0">
                <a:latin typeface="Arial"/>
                <a:cs typeface="Arial"/>
              </a:rPr>
              <a:t>Integrace socioekonomických dat (příjem, nezaměstnanost, kriminalita),</a:t>
            </a:r>
            <a:endParaRPr lang="cs-CZ" sz="2100" dirty="0"/>
          </a:p>
          <a:p>
            <a:pPr marL="170815" indent="-170815"/>
            <a:endParaRPr lang="cs-CZ" sz="2400">
              <a:latin typeface="Arial"/>
              <a:cs typeface="Arial"/>
            </a:endParaRPr>
          </a:p>
          <a:p>
            <a:pPr marL="170815" indent="-170815"/>
            <a:r>
              <a:rPr lang="cs-CZ" sz="2400" dirty="0">
                <a:latin typeface="Arial"/>
                <a:cs typeface="Arial"/>
              </a:rPr>
              <a:t>trendy vývoje střeleb v čase (2015-2024).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32603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189036C-68F1-2208-6922-3C37B8772AB4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>
                <a:latin typeface="Arial"/>
                <a:cs typeface="Arial"/>
              </a:rPr>
              <a:t>Josef Gajda</a:t>
            </a:r>
            <a:endParaRPr lang="cs-CZ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0AE53F0-E10B-2153-CF02-4D8F6223E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>
                <a:latin typeface="Arial"/>
                <a:cs typeface="Arial"/>
              </a:rPr>
              <a:t>Otázky oponentury</a:t>
            </a:r>
            <a:endParaRPr lang="cs-CZ" dirty="0"/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BB32C666-AF5C-6331-95FF-031498091A4B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Program studia: Informační management</a:t>
            </a:r>
          </a:p>
        </p:txBody>
      </p:sp>
    </p:spTree>
    <p:extLst>
      <p:ext uri="{BB962C8B-B14F-4D97-AF65-F5344CB8AC3E}">
        <p14:creationId xmlns:p14="http://schemas.microsoft.com/office/powerpoint/2010/main" val="3939120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Úvodní sníme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_CZ_4_3.potx" id="{83264117-D02B-4AB3-9535-F55BD4626F0A}" vid="{EFCF83D5-7C28-494A-9D09-A3FDE4EA5435}"/>
    </a:ext>
  </a:extLst>
</a:theme>
</file>

<file path=ppt/theme/theme2.xml><?xml version="1.0" encoding="utf-8"?>
<a:theme xmlns:a="http://schemas.openxmlformats.org/drawingml/2006/main" name="Mezititulek / Závě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_CZ_4_3.potx" id="{83264117-D02B-4AB3-9535-F55BD4626F0A}" vid="{0719A898-E866-4DE1-A0C7-6673E2DE6ACC}"/>
    </a:ext>
  </a:extLst>
</a:theme>
</file>

<file path=ppt/theme/theme3.xml><?xml version="1.0" encoding="utf-8"?>
<a:theme xmlns:a="http://schemas.openxmlformats.org/drawingml/2006/main" name="Běžné stránk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_CZ_4_3.potx" id="{83264117-D02B-4AB3-9535-F55BD4626F0A}" vid="{5F4265E7-B574-4FDE-A297-F52502856981}"/>
    </a:ext>
  </a:extLst>
</a:theme>
</file>

<file path=ppt/theme/theme4.xml><?xml version="1.0" encoding="utf-8"?>
<a:theme xmlns:a="http://schemas.openxmlformats.org/drawingml/2006/main" name="Mezititulek / Závě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_CZ_4_3.potx" id="{83264117-D02B-4AB3-9535-F55BD4626F0A}" vid="{0719A898-E866-4DE1-A0C7-6673E2DE6ACC}"/>
    </a:ext>
  </a:extLst>
</a:theme>
</file>

<file path=ppt/theme/theme5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5EAD61CDED85140BF5B934B48DD3484" ma:contentTypeVersion="15" ma:contentTypeDescription="Vytvoří nový dokument" ma:contentTypeScope="" ma:versionID="57c7acc678d4da0b8ba39acd8e916ed2">
  <xsd:schema xmlns:xsd="http://www.w3.org/2001/XMLSchema" xmlns:xs="http://www.w3.org/2001/XMLSchema" xmlns:p="http://schemas.microsoft.com/office/2006/metadata/properties" xmlns:ns2="7fe71cfb-81ed-4b9d-9a1f-cae1a72b62ba" xmlns:ns3="184be059-f9c1-47a1-baeb-6b78fb5c2cd7" targetNamespace="http://schemas.microsoft.com/office/2006/metadata/properties" ma:root="true" ma:fieldsID="00b82b4a7cf6d93894e416bb4502bf8f" ns2:_="" ns3:_="">
    <xsd:import namespace="7fe71cfb-81ed-4b9d-9a1f-cae1a72b62ba"/>
    <xsd:import namespace="184be059-f9c1-47a1-baeb-6b78fb5c2c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e71cfb-81ed-4b9d-9a1f-cae1a72b62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Značky obrázků" ma:readOnly="false" ma:fieldId="{5cf76f15-5ced-4ddc-b409-7134ff3c332f}" ma:taxonomyMulti="true" ma:sspId="babb5542-b20f-476f-b885-dfe2db7716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4be059-f9c1-47a1-baeb-6b78fb5c2cd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5e9b24e3-0751-412a-b275-2d618e008197}" ma:internalName="TaxCatchAll" ma:showField="CatchAllData" ma:web="184be059-f9c1-47a1-baeb-6b78fb5c2c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fe71cfb-81ed-4b9d-9a1f-cae1a72b62ba">
      <Terms xmlns="http://schemas.microsoft.com/office/infopath/2007/PartnerControls"/>
    </lcf76f155ced4ddcb4097134ff3c332f>
    <TaxCatchAll xmlns="184be059-f9c1-47a1-baeb-6b78fb5c2cd7" xsi:nil="true"/>
  </documentManagement>
</p:properties>
</file>

<file path=customXml/itemProps1.xml><?xml version="1.0" encoding="utf-8"?>
<ds:datastoreItem xmlns:ds="http://schemas.openxmlformats.org/officeDocument/2006/customXml" ds:itemID="{632259C9-B307-4FF4-B7D2-DAD5D3FFF0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8CD9D9D-7B9F-4443-A564-98662DD489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e71cfb-81ed-4b9d-9a1f-cae1a72b62ba"/>
    <ds:schemaRef ds:uri="184be059-f9c1-47a1-baeb-6b78fb5c2c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0DE5107-EA5C-49BC-849B-82F30D30C53B}">
  <ds:schemaRefs>
    <ds:schemaRef ds:uri="http://purl.org/dc/terms/"/>
    <ds:schemaRef ds:uri="184be059-f9c1-47a1-baeb-6b78fb5c2cd7"/>
    <ds:schemaRef ds:uri="http://schemas.microsoft.com/office/2006/documentManagement/types"/>
    <ds:schemaRef ds:uri="http://purl.org/dc/elements/1.1/"/>
    <ds:schemaRef ds:uri="7fe71cfb-81ed-4b9d-9a1f-cae1a72b62ba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AI a IMES_obhajoba_new</Template>
  <TotalTime>799</TotalTime>
  <Words>984</Words>
  <Application>Microsoft Office PowerPoint</Application>
  <PresentationFormat>Předvádění na obrazovce (4:3)</PresentationFormat>
  <Paragraphs>130</Paragraphs>
  <Slides>14</Slides>
  <Notes>14</Notes>
  <HiddenSlides>0</HiddenSlides>
  <MMClips>0</MMClips>
  <ScaleCrop>false</ScaleCrop>
  <HeadingPairs>
    <vt:vector size="4" baseType="variant">
      <vt:variant>
        <vt:lpstr>Motiv</vt:lpstr>
      </vt:variant>
      <vt:variant>
        <vt:i4>4</vt:i4>
      </vt:variant>
      <vt:variant>
        <vt:lpstr>Nadpisy snímků</vt:lpstr>
      </vt:variant>
      <vt:variant>
        <vt:i4>14</vt:i4>
      </vt:variant>
    </vt:vector>
  </HeadingPairs>
  <TitlesOfParts>
    <vt:vector size="18" baseType="lpstr">
      <vt:lpstr>Úvodní snímek</vt:lpstr>
      <vt:lpstr>Mezititulek / Závěr</vt:lpstr>
      <vt:lpstr>Běžné stránky</vt:lpstr>
      <vt:lpstr>Mezititulek / Závěr</vt:lpstr>
      <vt:lpstr>Analýza vztahu mezi policejními rozpočty a mírou policejních střeleb v USA</vt:lpstr>
      <vt:lpstr>Popis řešené oblasti</vt:lpstr>
      <vt:lpstr>Cíle analýzy</vt:lpstr>
      <vt:lpstr>Způsob řešení otázek pro data science - 1/2 </vt:lpstr>
      <vt:lpstr>Způsob řešení otázek pro data science - 2/2 </vt:lpstr>
      <vt:lpstr>Klíčové nálezy 1 - Paradox policejního rozpočtu</vt:lpstr>
      <vt:lpstr>Klíčové nálezy 2 - Geografické vzorce a velikost města</vt:lpstr>
      <vt:lpstr>Klíčové nálezy 3 - Rasové disparity u neozbrojených obětí</vt:lpstr>
      <vt:lpstr>Klíčové nálezy 4 - Věk, rasa a duševní onemocnění</vt:lpstr>
      <vt:lpstr>Klíčový nález 5 - Flee behavior a ozbrojenost obětí</vt:lpstr>
      <vt:lpstr>Závěr 1/3 – Shrnutí výsledků</vt:lpstr>
      <vt:lpstr>Závěr 2/3 – Hodnocení dosažených výsledků a identifikace neúspěchů</vt:lpstr>
      <vt:lpstr>Závěr 3/3 - Návrhy pro pokračování výzkumu</vt:lpstr>
      <vt:lpstr>Otázky oponentury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 dolor sit amet, consectetuer adipiscing elit. Etiam commodo dui eget wisi.</dc:title>
  <dc:creator>Martina Jandová</dc:creator>
  <cp:lastModifiedBy>Josef Gajda</cp:lastModifiedBy>
  <cp:revision>2707</cp:revision>
  <dcterms:created xsi:type="dcterms:W3CDTF">2021-03-30T17:50:31Z</dcterms:created>
  <dcterms:modified xsi:type="dcterms:W3CDTF">2026-01-30T01:11:26Z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0x010100A5EAD61CDED85140BF5B934B48DD3484</vt:lpwstr>
  </property>
</Properties>
</file>